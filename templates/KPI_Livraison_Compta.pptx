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75" r:id="rId3"/>
    <p:sldId id="261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588A7-DD43-45B7-B375-B6CC0BEAB3B4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5AC90-8885-42E7-851E-E8AF80FB9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235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FDDB9-BC32-2933-AF1E-786A4FB1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66CBA-4DE4-42AE-78EC-51FA3C535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77D09-6DD4-9DD0-0A8D-2DB2B29E7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EB8A2-78DD-DD73-2FAC-A70F86438B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41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03749-FF07-1F02-21D5-DDB23D007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027784-8D61-0720-B3B0-75AA1B19A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2CA174-01F0-FC3A-EBD2-26DE9C08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7D67B9-86DC-E492-CD1B-C0813F0B9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BE0410-863B-4A25-478E-1DBBC9303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347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C03BF3-6FC8-EAB5-2C44-05B0CC513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084EFB-CB13-781C-BF8F-958A163A6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F3D4DC-8C31-5280-63D0-ACCCE555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BE357B-FACF-F0C1-CB90-DF32B5BF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E5BC19-9273-FE4A-A85D-D0EF35DD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415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03C4F6-6E8B-A776-5C3A-2AC62BB0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EFF0EC-EBBE-2579-87AB-30C14D997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047B00-3E42-BECD-88EA-F66D3772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3ED4CE-620A-ABC8-5102-FF49212B6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5046C2-D2AE-3FDA-07D6-055B5ABE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7342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3C527-C550-CC34-DA0A-40A6EF98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B0C798-A174-87F9-EEBB-3565D484E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F24A38-2355-7373-8132-7CD3425D8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D272E6-299F-73AF-263E-4F5CBCF9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942736-23FB-95A3-2D56-3A61436B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108BA0-28BF-ED20-D64D-61A9B150B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189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40EA79-41A3-CC95-A1F9-A7C6F71C5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D36D80-7F1D-A315-1385-ACFC968B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59C99C-F384-8344-08A1-B4B4626C9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9123B7-8E52-A50A-C892-9FFB6ACB7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0044B07-F551-E391-B345-937434C01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461573-4EB6-907B-4036-D3730E08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3E2106-A47B-58DD-FC31-C1BFD50A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B58823A-A4B2-7746-3D20-D25DE010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34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55C3A-D0D5-9204-0DA7-3A516809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9D788A6-DA68-FC96-D616-2ADA5BED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846111-DDAF-CD40-63F1-D3FD6042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858BEF-EA0D-EA5C-6C16-33EF39B51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42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A076F45-1EA6-CEBF-3494-B134AB37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AE6E828-3986-7AD3-67B3-B3D6AC55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3A3C0F-2CE2-26C2-D333-1D8096EA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738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7C0BA-B416-DD6A-7288-18B94658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AFF71E-F0F1-EAF8-9EA5-6AAFA73D0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8A94C9-8C49-9A21-06FD-B4CE5369C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2B816B-1EC2-2E7F-FBAD-2A19F8EB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9D0D53-53A1-1543-C60C-65808FD3E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D56A81-166F-7384-0606-F2EE6C6A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929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EDC16-8C4E-ED03-4A27-DF64B6857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65D2749-8560-023D-75E4-C11DC13F9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18CEB4-3A3D-EF5C-DD20-72256259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797845-86A1-6809-8054-19C5E98EC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C4185A-7DF4-9BAA-1409-60FE9E1C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44CCBB-769E-D60A-B990-A3212930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86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AC88C5-F709-A01C-3ADA-A9A4EDAC4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6ED2FA4-AADC-3A89-E49F-B8B5E2C1C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D62382-CCB8-695F-7EFC-714B1DDE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DA054D-811C-3294-944C-20B4D7ED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9F164B-DEFC-F18C-F412-9F1F4BBB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501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8459708-E888-22AC-2F50-260ABBAE6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480CD66-CF05-0F45-5966-F2A71093F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FE1E03-EC2E-A379-8D03-FA80DCB24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A115B7-357C-B1F5-B842-43BB13D4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67E79F-99E1-9D95-132A-A631BB40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432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3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51967D6-2F66-8D28-7566-20FC4E66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AF9B3-19A3-DFAE-7AC5-D21AD89C9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F0637F-074B-685B-CC62-5DDDF2B76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56091-EE6E-465A-9046-2A2EAB629F6D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5AC57D-A075-6111-D059-65875288A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E01B91-7B47-D255-FD14-2ECD81C8C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2B76F-4E0C-4819-838F-4DA8CEB7E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59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11">
            <a:extLst>
              <a:ext uri="{FF2B5EF4-FFF2-40B4-BE49-F238E27FC236}">
                <a16:creationId xmlns:a16="http://schemas.microsoft.com/office/drawing/2014/main" id="{E7A4D68B-6926-5368-5B82-45744622C478}"/>
              </a:ext>
            </a:extLst>
          </p:cNvPr>
          <p:cNvSpPr/>
          <p:nvPr/>
        </p:nvSpPr>
        <p:spPr>
          <a:xfrm>
            <a:off x="7116821" y="5515629"/>
            <a:ext cx="1977136" cy="1100005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Livraison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489960" cy="2263140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7" name="Shape 5"/>
          <p:cNvSpPr/>
          <p:nvPr/>
        </p:nvSpPr>
        <p:spPr>
          <a:xfrm>
            <a:off x="731520" y="1773936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" name="Text 6"/>
          <p:cNvSpPr/>
          <p:nvPr/>
        </p:nvSpPr>
        <p:spPr>
          <a:xfrm>
            <a:off x="960120" y="1673352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livré par camion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212132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 k€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57272" y="2168906"/>
            <a:ext cx="120700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1" name="Text 9"/>
          <p:cNvSpPr/>
          <p:nvPr/>
        </p:nvSpPr>
        <p:spPr>
          <a:xfrm>
            <a:off x="2557272" y="2168906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429 k€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−45 %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5112" y="4100224"/>
            <a:ext cx="3489960" cy="2521505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0" name="Shape 18"/>
          <p:cNvSpPr/>
          <p:nvPr/>
        </p:nvSpPr>
        <p:spPr>
          <a:xfrm>
            <a:off x="743712" y="4365401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21" name="Text 19"/>
          <p:cNvSpPr/>
          <p:nvPr/>
        </p:nvSpPr>
        <p:spPr>
          <a:xfrm>
            <a:off x="972312" y="4264817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 camion)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3712" y="4703729"/>
            <a:ext cx="1825752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10,6 BLA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569464" y="4794026"/>
            <a:ext cx="120700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4" name="Text 22"/>
          <p:cNvSpPr/>
          <p:nvPr/>
        </p:nvSpPr>
        <p:spPr>
          <a:xfrm>
            <a:off x="2569464" y="4794026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12,8 BLA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0392B"/>
                </a:solidFill>
              </a:rPr>
              <a:t>▼ −16,9 %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3712" y="5363875"/>
            <a:ext cx="1825752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7,8 Fact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569464" y="5454172"/>
            <a:ext cx="120700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7" name="Text 25"/>
          <p:cNvSpPr/>
          <p:nvPr/>
        </p:nvSpPr>
        <p:spPr>
          <a:xfrm>
            <a:off x="2569464" y="5454172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8,6 Fact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0392B"/>
                </a:solidFill>
              </a:rPr>
              <a:t>▼ −9 %</a:t>
            </a:r>
            <a:endParaRPr lang="en-US" sz="105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CE75B54A-C20F-2F84-3884-C116615FF04A}"/>
              </a:ext>
            </a:extLst>
          </p:cNvPr>
          <p:cNvSpPr/>
          <p:nvPr/>
        </p:nvSpPr>
        <p:spPr>
          <a:xfrm>
            <a:off x="4330700" y="4143156"/>
            <a:ext cx="2434336" cy="1103416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47" name="Shape 12">
            <a:extLst>
              <a:ext uri="{FF2B5EF4-FFF2-40B4-BE49-F238E27FC236}">
                <a16:creationId xmlns:a16="http://schemas.microsoft.com/office/drawing/2014/main" id="{79560960-D1CF-289E-013F-DB360098A462}"/>
              </a:ext>
            </a:extLst>
          </p:cNvPr>
          <p:cNvSpPr/>
          <p:nvPr/>
        </p:nvSpPr>
        <p:spPr>
          <a:xfrm>
            <a:off x="4559300" y="4278706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CDF77B83-6C75-0949-C747-943E7B43977F}"/>
              </a:ext>
            </a:extLst>
          </p:cNvPr>
          <p:cNvSpPr/>
          <p:nvPr/>
        </p:nvSpPr>
        <p:spPr>
          <a:xfrm>
            <a:off x="4787900" y="4143156"/>
            <a:ext cx="1755140" cy="419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Enlèvements clients (327+0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A5A3CCB0-FAF5-C555-6549-3EE7C7041EBD}"/>
              </a:ext>
            </a:extLst>
          </p:cNvPr>
          <p:cNvSpPr/>
          <p:nvPr/>
        </p:nvSpPr>
        <p:spPr>
          <a:xfrm>
            <a:off x="4559300" y="4617034"/>
            <a:ext cx="1277112" cy="4190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51</a:t>
            </a:r>
            <a:endParaRPr lang="en-US" sz="2200" dirty="0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C55D7C2A-680A-8BA3-6A42-AFB8A058D068}"/>
              </a:ext>
            </a:extLst>
          </p:cNvPr>
          <p:cNvSpPr txBox="1"/>
          <p:nvPr/>
        </p:nvSpPr>
        <p:spPr>
          <a:xfrm>
            <a:off x="633984" y="6050436"/>
            <a:ext cx="33710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050" i="1" dirty="0"/>
              <a:t> 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4443690-DE40-30F5-1CF1-B2EDF310F7F6}"/>
              </a:ext>
            </a:extLst>
          </p:cNvPr>
          <p:cNvSpPr/>
          <p:nvPr/>
        </p:nvSpPr>
        <p:spPr>
          <a:xfrm>
            <a:off x="693256" y="3120342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Total HT</a:t>
            </a: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E59B3366-0FF0-7562-5FE9-2C269293DFC3}"/>
              </a:ext>
            </a:extLst>
          </p:cNvPr>
          <p:cNvSpPr/>
          <p:nvPr/>
        </p:nvSpPr>
        <p:spPr>
          <a:xfrm>
            <a:off x="743712" y="6045965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camion interne </a:t>
            </a:r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3023A68B-300B-AE6E-F01B-E51DB82A8A26}"/>
              </a:ext>
            </a:extLst>
          </p:cNvPr>
          <p:cNvSpPr/>
          <p:nvPr/>
        </p:nvSpPr>
        <p:spPr>
          <a:xfrm>
            <a:off x="4318000" y="5515629"/>
            <a:ext cx="2434336" cy="1103416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66" name="Shape 12">
            <a:extLst>
              <a:ext uri="{FF2B5EF4-FFF2-40B4-BE49-F238E27FC236}">
                <a16:creationId xmlns:a16="http://schemas.microsoft.com/office/drawing/2014/main" id="{F4D1A5EE-1DE3-4C36-BADA-568B9FA8E9DE}"/>
              </a:ext>
            </a:extLst>
          </p:cNvPr>
          <p:cNvSpPr/>
          <p:nvPr/>
        </p:nvSpPr>
        <p:spPr>
          <a:xfrm>
            <a:off x="4546600" y="5651179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392CFCDC-D67B-B7B6-17B2-B41EF1CC1DF6}"/>
              </a:ext>
            </a:extLst>
          </p:cNvPr>
          <p:cNvSpPr/>
          <p:nvPr/>
        </p:nvSpPr>
        <p:spPr>
          <a:xfrm>
            <a:off x="4775200" y="5581841"/>
            <a:ext cx="1977136" cy="35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commerciaux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(100+0transp) </a:t>
            </a:r>
            <a:endParaRPr lang="en-US" sz="1300" dirty="0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110815D2-E8B4-4006-02CF-4BFDECE21F6B}"/>
              </a:ext>
            </a:extLst>
          </p:cNvPr>
          <p:cNvSpPr/>
          <p:nvPr/>
        </p:nvSpPr>
        <p:spPr>
          <a:xfrm>
            <a:off x="4546600" y="5989507"/>
            <a:ext cx="1078992" cy="4190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142</a:t>
            </a:r>
            <a:endParaRPr lang="en-US" sz="2200" dirty="0"/>
          </a:p>
        </p:txBody>
      </p:sp>
      <p:sp>
        <p:nvSpPr>
          <p:cNvPr id="77" name="Shape 15">
            <a:extLst>
              <a:ext uri="{FF2B5EF4-FFF2-40B4-BE49-F238E27FC236}">
                <a16:creationId xmlns:a16="http://schemas.microsoft.com/office/drawing/2014/main" id="{CAA9B024-B84A-41DD-3B4D-758FA25CD5B9}"/>
              </a:ext>
            </a:extLst>
          </p:cNvPr>
          <p:cNvSpPr/>
          <p:nvPr/>
        </p:nvSpPr>
        <p:spPr>
          <a:xfrm>
            <a:off x="5625592" y="5941564"/>
            <a:ext cx="777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81" name="Shape 11">
            <a:extLst>
              <a:ext uri="{FF2B5EF4-FFF2-40B4-BE49-F238E27FC236}">
                <a16:creationId xmlns:a16="http://schemas.microsoft.com/office/drawing/2014/main" id="{57319441-17B1-0D02-E555-F7C7378C80E6}"/>
              </a:ext>
            </a:extLst>
          </p:cNvPr>
          <p:cNvSpPr/>
          <p:nvPr/>
        </p:nvSpPr>
        <p:spPr>
          <a:xfrm>
            <a:off x="7130795" y="4130210"/>
            <a:ext cx="1977137" cy="1100005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83" name="Shape 12">
            <a:extLst>
              <a:ext uri="{FF2B5EF4-FFF2-40B4-BE49-F238E27FC236}">
                <a16:creationId xmlns:a16="http://schemas.microsoft.com/office/drawing/2014/main" id="{997B7382-67AF-76D9-962A-179AAEEA384B}"/>
              </a:ext>
            </a:extLst>
          </p:cNvPr>
          <p:cNvSpPr/>
          <p:nvPr/>
        </p:nvSpPr>
        <p:spPr>
          <a:xfrm>
            <a:off x="7319643" y="5842991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DA16F094-70E3-208B-6CD7-9416AEA3F262}"/>
              </a:ext>
            </a:extLst>
          </p:cNvPr>
          <p:cNvSpPr/>
          <p:nvPr/>
        </p:nvSpPr>
        <p:spPr>
          <a:xfrm>
            <a:off x="7548243" y="5742407"/>
            <a:ext cx="1277620" cy="34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traitances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externes</a:t>
            </a:r>
            <a:endParaRPr lang="en-US" sz="1300" dirty="0"/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7D82297C-5C14-4DB9-D193-E848DB6D22FF}"/>
              </a:ext>
            </a:extLst>
          </p:cNvPr>
          <p:cNvSpPr/>
          <p:nvPr/>
        </p:nvSpPr>
        <p:spPr>
          <a:xfrm>
            <a:off x="6958838" y="6140822"/>
            <a:ext cx="1452880" cy="4190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2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7222B43D-8893-1D38-3403-624A1B2C3371}"/>
              </a:ext>
            </a:extLst>
          </p:cNvPr>
          <p:cNvSpPr/>
          <p:nvPr/>
        </p:nvSpPr>
        <p:spPr>
          <a:xfrm>
            <a:off x="3881120" y="165150"/>
            <a:ext cx="8124272" cy="541249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L’objectif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d’avoir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nbre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d’arret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camion /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livreur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équivaut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aux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nbre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code client =&gt; info non exploitable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l’état</a:t>
            </a:r>
            <a:r>
              <a:rPr lang="en-US" sz="10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73967C1D-7806-2E64-6168-B1B72C925E8D}"/>
              </a:ext>
            </a:extLst>
          </p:cNvPr>
          <p:cNvSpPr/>
          <p:nvPr/>
        </p:nvSpPr>
        <p:spPr>
          <a:xfrm>
            <a:off x="7326377" y="443307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4702765E-C508-F111-1056-EFA01BDC1498}"/>
              </a:ext>
            </a:extLst>
          </p:cNvPr>
          <p:cNvSpPr/>
          <p:nvPr/>
        </p:nvSpPr>
        <p:spPr>
          <a:xfrm>
            <a:off x="7554977" y="4332494"/>
            <a:ext cx="1277620" cy="34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microstor</a:t>
            </a:r>
            <a:endParaRPr lang="en-US" sz="1300" dirty="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239A2AE8-50BE-D0B0-E5AA-8B1FDE21D1EF}"/>
              </a:ext>
            </a:extLst>
          </p:cNvPr>
          <p:cNvSpPr/>
          <p:nvPr/>
        </p:nvSpPr>
        <p:spPr>
          <a:xfrm>
            <a:off x="6938061" y="4745467"/>
            <a:ext cx="1452880" cy="4190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22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1D1E73B7-BFF5-15A5-3EBD-843E7319D3E1}"/>
              </a:ext>
            </a:extLst>
          </p:cNvPr>
          <p:cNvSpPr/>
          <p:nvPr/>
        </p:nvSpPr>
        <p:spPr>
          <a:xfrm>
            <a:off x="4318000" y="1524737"/>
            <a:ext cx="3489960" cy="1081174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60947AB6-C390-3B61-7497-81CADF520EA0}"/>
              </a:ext>
            </a:extLst>
          </p:cNvPr>
          <p:cNvSpPr/>
          <p:nvPr/>
        </p:nvSpPr>
        <p:spPr>
          <a:xfrm>
            <a:off x="4546600" y="1789913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5AF3DA60-9FB2-A4C4-DBEE-95714BBFD6E0}"/>
              </a:ext>
            </a:extLst>
          </p:cNvPr>
          <p:cNvSpPr/>
          <p:nvPr/>
        </p:nvSpPr>
        <p:spPr>
          <a:xfrm>
            <a:off x="4775200" y="1689329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d’arrêts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moyen  (par jour par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CA78E6FC-B219-5181-CD06-F10BEF293733}"/>
              </a:ext>
            </a:extLst>
          </p:cNvPr>
          <p:cNvSpPr/>
          <p:nvPr/>
        </p:nvSpPr>
        <p:spPr>
          <a:xfrm>
            <a:off x="4985004" y="2021522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8" name="Shape 4">
            <a:extLst>
              <a:ext uri="{FF2B5EF4-FFF2-40B4-BE49-F238E27FC236}">
                <a16:creationId xmlns:a16="http://schemas.microsoft.com/office/drawing/2014/main" id="{AEAD3453-EC61-79AA-4D8D-4030B37EDA05}"/>
              </a:ext>
            </a:extLst>
          </p:cNvPr>
          <p:cNvSpPr/>
          <p:nvPr/>
        </p:nvSpPr>
        <p:spPr>
          <a:xfrm>
            <a:off x="4318000" y="2695729"/>
            <a:ext cx="3489960" cy="1007661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76" name="Text 6">
            <a:extLst>
              <a:ext uri="{FF2B5EF4-FFF2-40B4-BE49-F238E27FC236}">
                <a16:creationId xmlns:a16="http://schemas.microsoft.com/office/drawing/2014/main" id="{EA3B6B7F-C746-EF76-0A90-1DA94A191F58}"/>
              </a:ext>
            </a:extLst>
          </p:cNvPr>
          <p:cNvSpPr/>
          <p:nvPr/>
        </p:nvSpPr>
        <p:spPr>
          <a:xfrm>
            <a:off x="4775200" y="2860321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Moyenne (par jour par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C7F04FCE-8D51-1278-1FED-76351CAB8878}"/>
              </a:ext>
            </a:extLst>
          </p:cNvPr>
          <p:cNvSpPr/>
          <p:nvPr/>
        </p:nvSpPr>
        <p:spPr>
          <a:xfrm>
            <a:off x="4806020" y="2019487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11,6</a:t>
            </a:r>
            <a:endParaRPr lang="en-US" sz="2200" dirty="0"/>
          </a:p>
        </p:txBody>
      </p:sp>
      <p:sp>
        <p:nvSpPr>
          <p:cNvPr id="84" name="Shape 5">
            <a:extLst>
              <a:ext uri="{FF2B5EF4-FFF2-40B4-BE49-F238E27FC236}">
                <a16:creationId xmlns:a16="http://schemas.microsoft.com/office/drawing/2014/main" id="{4CDEB923-E5AF-E064-D296-F8043F592DE0}"/>
              </a:ext>
            </a:extLst>
          </p:cNvPr>
          <p:cNvSpPr/>
          <p:nvPr/>
        </p:nvSpPr>
        <p:spPr>
          <a:xfrm>
            <a:off x="4457949" y="2960905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graphicFrame>
        <p:nvGraphicFramePr>
          <p:cNvPr id="88" name="Tableau 87">
            <a:extLst>
              <a:ext uri="{FF2B5EF4-FFF2-40B4-BE49-F238E27FC236}">
                <a16:creationId xmlns:a16="http://schemas.microsoft.com/office/drawing/2014/main" id="{3B19B61B-1850-9101-23AB-03679BFCDFA6}"/>
              </a:ext>
            </a:extLst>
          </p:cNvPr>
          <p:cNvGraphicFramePr>
            <a:graphicFrameLocks noGrp="1"/>
          </p:cNvGraphicFramePr>
          <p:nvPr/>
        </p:nvGraphicFramePr>
        <p:xfrm>
          <a:off x="8127868" y="1536191"/>
          <a:ext cx="3877524" cy="2362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86929">
                  <a:extLst>
                    <a:ext uri="{9D8B030D-6E8A-4147-A177-3AD203B41FA5}">
                      <a16:colId xmlns:a16="http://schemas.microsoft.com/office/drawing/2014/main" val="1133638466"/>
                    </a:ext>
                  </a:extLst>
                </a:gridCol>
                <a:gridCol w="851833">
                  <a:extLst>
                    <a:ext uri="{9D8B030D-6E8A-4147-A177-3AD203B41FA5}">
                      <a16:colId xmlns:a16="http://schemas.microsoft.com/office/drawing/2014/main" val="3432311620"/>
                    </a:ext>
                  </a:extLst>
                </a:gridCol>
                <a:gridCol w="1021054">
                  <a:extLst>
                    <a:ext uri="{9D8B030D-6E8A-4147-A177-3AD203B41FA5}">
                      <a16:colId xmlns:a16="http://schemas.microsoft.com/office/drawing/2014/main" val="2815364155"/>
                    </a:ext>
                  </a:extLst>
                </a:gridCol>
                <a:gridCol w="917708">
                  <a:extLst>
                    <a:ext uri="{9D8B030D-6E8A-4147-A177-3AD203B41FA5}">
                      <a16:colId xmlns:a16="http://schemas.microsoft.com/office/drawing/2014/main" val="1952280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Nb Arrêts </a:t>
                      </a:r>
                      <a:r>
                        <a:rPr lang="fr-FR" sz="1400" dirty="0" err="1"/>
                        <a:t>Moy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Distance </a:t>
                      </a:r>
                      <a:r>
                        <a:rPr lang="fr-FR" sz="1400" dirty="0" err="1"/>
                        <a:t>Moy</a:t>
                      </a:r>
                      <a:r>
                        <a:rPr lang="fr-FR" sz="1400" dirty="0"/>
                        <a:t> (kms)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Nb de jours travail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852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25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Patrick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54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/>
                        <a:t>Alain (cellule)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918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 err="1"/>
                        <a:t>Moy</a:t>
                      </a:r>
                      <a:r>
                        <a:rPr lang="fr-FR" sz="1400" dirty="0"/>
                        <a:t> pond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465360"/>
                  </a:ext>
                </a:extLst>
              </a:tr>
            </a:tbl>
          </a:graphicData>
        </a:graphic>
      </p:graphicFrame>
      <p:sp>
        <p:nvSpPr>
          <p:cNvPr id="16" name="Text 22">
            <a:extLst>
              <a:ext uri="{FF2B5EF4-FFF2-40B4-BE49-F238E27FC236}">
                <a16:creationId xmlns:a16="http://schemas.microsoft.com/office/drawing/2014/main" id="{1F51F74B-A06C-C23A-C933-2CBD09C2EE8C}"/>
              </a:ext>
            </a:extLst>
          </p:cNvPr>
          <p:cNvSpPr/>
          <p:nvPr/>
        </p:nvSpPr>
        <p:spPr>
          <a:xfrm>
            <a:off x="5434390" y="5948486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1050" dirty="0">
                <a:solidFill>
                  <a:srgbClr val="8A9BA3"/>
                </a:solidFill>
              </a:rPr>
              <a:t>N-1 : 99 </a:t>
            </a:r>
            <a:br>
              <a:rPr lang="en-US" sz="1050" dirty="0">
                <a:solidFill>
                  <a:srgbClr val="8A9BA3"/>
                </a:solidFill>
              </a:rPr>
            </a:br>
            <a:r>
              <a:rPr lang="en-US" sz="1600" b="1" dirty="0">
                <a:solidFill>
                  <a:srgbClr val="2E7D32"/>
                </a:solidFill>
              </a:rPr>
              <a:t>▲ +43 %</a:t>
            </a:r>
            <a:endParaRPr lang="en-US" sz="1050" dirty="0"/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1CA91C66-1DF4-ED39-12CC-A0D22A7C4DF4}"/>
              </a:ext>
            </a:extLst>
          </p:cNvPr>
          <p:cNvGrpSpPr/>
          <p:nvPr/>
        </p:nvGrpSpPr>
        <p:grpSpPr>
          <a:xfrm>
            <a:off x="5629910" y="4547286"/>
            <a:ext cx="1207008" cy="521670"/>
            <a:chOff x="5629910" y="4547286"/>
            <a:chExt cx="1207008" cy="521670"/>
          </a:xfrm>
        </p:grpSpPr>
        <p:sp>
          <p:nvSpPr>
            <p:cNvPr id="53" name="Shape 15">
              <a:extLst>
                <a:ext uri="{FF2B5EF4-FFF2-40B4-BE49-F238E27FC236}">
                  <a16:creationId xmlns:a16="http://schemas.microsoft.com/office/drawing/2014/main" id="{725C3B4A-0F09-0D7F-463E-7B4C522F72A5}"/>
                </a:ext>
              </a:extLst>
            </p:cNvPr>
            <p:cNvSpPr/>
            <p:nvPr/>
          </p:nvSpPr>
          <p:spPr>
            <a:xfrm>
              <a:off x="5836412" y="4556892"/>
              <a:ext cx="77724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18" name="Text 22">
              <a:extLst>
                <a:ext uri="{FF2B5EF4-FFF2-40B4-BE49-F238E27FC236}">
                  <a16:creationId xmlns:a16="http://schemas.microsoft.com/office/drawing/2014/main" id="{240E84B7-F41E-6260-4703-A386272568B9}"/>
                </a:ext>
              </a:extLst>
            </p:cNvPr>
            <p:cNvSpPr/>
            <p:nvPr/>
          </p:nvSpPr>
          <p:spPr>
            <a:xfrm>
              <a:off x="5629910" y="4547286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050" dirty="0">
                  <a:solidFill>
                    <a:srgbClr val="8A9BA3"/>
                  </a:solidFill>
                </a:rPr>
                <a:t>N-1 : 29 </a:t>
              </a:r>
              <a:br>
                <a:rPr lang="en-US" sz="1050" dirty="0">
                  <a:solidFill>
                    <a:srgbClr val="8A9BA3"/>
                  </a:solidFill>
                </a:rPr>
              </a:br>
              <a:r>
                <a:rPr lang="en-US" sz="1600" b="1" dirty="0">
                  <a:solidFill>
                    <a:srgbClr val="2E7D32"/>
                  </a:solidFill>
                </a:rPr>
                <a:t>▲ +76 %</a:t>
              </a:r>
              <a:endParaRPr lang="en-US" sz="1050" dirty="0"/>
            </a:p>
          </p:txBody>
        </p: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5B551D12-0DCB-B8EE-CA4B-5FD3DB3F7A99}"/>
              </a:ext>
            </a:extLst>
          </p:cNvPr>
          <p:cNvSpPr txBox="1"/>
          <p:nvPr/>
        </p:nvSpPr>
        <p:spPr>
          <a:xfrm>
            <a:off x="1083617" y="6330140"/>
            <a:ext cx="3374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Nb adresse diff /!\ P adresse principale mais attention à client </a:t>
            </a:r>
            <a:r>
              <a:rPr lang="fr-RE" sz="1200" i="1" dirty="0" err="1">
                <a:solidFill>
                  <a:srgbClr val="7030A0"/>
                </a:solidFill>
                <a:highlight>
                  <a:srgbClr val="FFFF00"/>
                </a:highlight>
              </a:rPr>
              <a:t>same</a:t>
            </a:r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ou pas </a:t>
            </a:r>
            <a:endParaRPr lang="fr-RE" sz="1200" i="1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A4F19C9-86FC-8C00-0792-686B3744F829}"/>
              </a:ext>
            </a:extLst>
          </p:cNvPr>
          <p:cNvSpPr txBox="1"/>
          <p:nvPr/>
        </p:nvSpPr>
        <p:spPr>
          <a:xfrm>
            <a:off x="4155422" y="5087070"/>
            <a:ext cx="3374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Voir cas particuliers pour plus de 0 mal qualifiées</a:t>
            </a:r>
            <a:endParaRPr lang="fr-RE" sz="1200" i="1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4F57391C-E81A-D17B-E231-97DC4D45F73A}"/>
              </a:ext>
            </a:extLst>
          </p:cNvPr>
          <p:cNvSpPr/>
          <p:nvPr/>
        </p:nvSpPr>
        <p:spPr>
          <a:xfrm>
            <a:off x="104909" y="2588438"/>
            <a:ext cx="22146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0E7C86"/>
                </a:solidFill>
              </a:rPr>
              <a:t>66% du CA</a:t>
            </a: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4216AC64-BB4A-7E05-3F09-F4DDCB78FB20}"/>
              </a:ext>
            </a:extLst>
          </p:cNvPr>
          <p:cNvSpPr/>
          <p:nvPr/>
        </p:nvSpPr>
        <p:spPr>
          <a:xfrm>
            <a:off x="4618833" y="3152123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133 kms</a:t>
            </a:r>
            <a:endParaRPr lang="en-US" sz="2200" dirty="0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9285A306-F436-249A-4C4A-84A06C601B1E}"/>
              </a:ext>
            </a:extLst>
          </p:cNvPr>
          <p:cNvGrpSpPr/>
          <p:nvPr/>
        </p:nvGrpSpPr>
        <p:grpSpPr>
          <a:xfrm>
            <a:off x="6470571" y="1962937"/>
            <a:ext cx="1207008" cy="521670"/>
            <a:chOff x="5629910" y="4547286"/>
            <a:chExt cx="1207008" cy="521670"/>
          </a:xfrm>
        </p:grpSpPr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30DF36FF-552C-EA95-BFCD-F31B7F99D6EE}"/>
                </a:ext>
              </a:extLst>
            </p:cNvPr>
            <p:cNvSpPr/>
            <p:nvPr/>
          </p:nvSpPr>
          <p:spPr>
            <a:xfrm>
              <a:off x="5836412" y="4556892"/>
              <a:ext cx="877904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3059B6D6-6ECD-55F4-5CDE-1D8F8AF50183}"/>
                </a:ext>
              </a:extLst>
            </p:cNvPr>
            <p:cNvSpPr/>
            <p:nvPr/>
          </p:nvSpPr>
          <p:spPr>
            <a:xfrm>
              <a:off x="5629910" y="4547286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050" dirty="0">
                  <a:solidFill>
                    <a:srgbClr val="8A9BA3"/>
                  </a:solidFill>
                </a:rPr>
                <a:t>Mois-1 : 9,5  </a:t>
              </a:r>
              <a:br>
                <a:rPr lang="en-US" sz="1050" dirty="0">
                  <a:solidFill>
                    <a:srgbClr val="8A9BA3"/>
                  </a:solidFill>
                </a:rPr>
              </a:br>
              <a:r>
                <a:rPr lang="en-US" sz="1600" b="1" dirty="0">
                  <a:solidFill>
                    <a:srgbClr val="2E7D32"/>
                  </a:solidFill>
                </a:rPr>
                <a:t>▲ +22%</a:t>
              </a:r>
              <a:endParaRPr lang="en-US" sz="1050" dirty="0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A694AF44-E039-370B-CC72-3828AA84E1C1}"/>
              </a:ext>
            </a:extLst>
          </p:cNvPr>
          <p:cNvGrpSpPr/>
          <p:nvPr/>
        </p:nvGrpSpPr>
        <p:grpSpPr>
          <a:xfrm>
            <a:off x="6463623" y="3143056"/>
            <a:ext cx="1207008" cy="521670"/>
            <a:chOff x="5629910" y="4547286"/>
            <a:chExt cx="1207008" cy="521670"/>
          </a:xfrm>
        </p:grpSpPr>
        <p:sp>
          <p:nvSpPr>
            <p:cNvPr id="42" name="Shape 15">
              <a:extLst>
                <a:ext uri="{FF2B5EF4-FFF2-40B4-BE49-F238E27FC236}">
                  <a16:creationId xmlns:a16="http://schemas.microsoft.com/office/drawing/2014/main" id="{915AFC41-448D-7484-CABF-7EE149D64419}"/>
                </a:ext>
              </a:extLst>
            </p:cNvPr>
            <p:cNvSpPr/>
            <p:nvPr/>
          </p:nvSpPr>
          <p:spPr>
            <a:xfrm>
              <a:off x="5636858" y="4556892"/>
              <a:ext cx="120006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44" name="Text 22">
              <a:extLst>
                <a:ext uri="{FF2B5EF4-FFF2-40B4-BE49-F238E27FC236}">
                  <a16:creationId xmlns:a16="http://schemas.microsoft.com/office/drawing/2014/main" id="{4A282478-4089-C2CF-70FC-F1FED98C9C6A}"/>
                </a:ext>
              </a:extLst>
            </p:cNvPr>
            <p:cNvSpPr/>
            <p:nvPr/>
          </p:nvSpPr>
          <p:spPr>
            <a:xfrm>
              <a:off x="5629910" y="4547286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050" dirty="0">
                  <a:solidFill>
                    <a:srgbClr val="8A9BA3"/>
                  </a:solidFill>
                </a:rPr>
                <a:t>Mois-1 : 128 kms  </a:t>
              </a:r>
              <a:br>
                <a:rPr lang="en-US" sz="1050" dirty="0">
                  <a:solidFill>
                    <a:srgbClr val="8A9BA3"/>
                  </a:solidFill>
                </a:rPr>
              </a:br>
              <a:r>
                <a:rPr lang="en-US" sz="1600" b="1" dirty="0">
                  <a:solidFill>
                    <a:srgbClr val="2E7D32"/>
                  </a:solidFill>
                </a:rPr>
                <a:t>▲ +4%</a:t>
              </a:r>
              <a:endParaRPr lang="en-US" sz="1050" dirty="0"/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CDAB995D-3969-ED8D-05D2-2DC25D79D252}"/>
              </a:ext>
            </a:extLst>
          </p:cNvPr>
          <p:cNvGrpSpPr/>
          <p:nvPr/>
        </p:nvGrpSpPr>
        <p:grpSpPr>
          <a:xfrm>
            <a:off x="7939822" y="4664092"/>
            <a:ext cx="1207008" cy="521670"/>
            <a:chOff x="5629910" y="4547286"/>
            <a:chExt cx="1207008" cy="521670"/>
          </a:xfrm>
        </p:grpSpPr>
        <p:sp>
          <p:nvSpPr>
            <p:cNvPr id="46" name="Shape 15">
              <a:extLst>
                <a:ext uri="{FF2B5EF4-FFF2-40B4-BE49-F238E27FC236}">
                  <a16:creationId xmlns:a16="http://schemas.microsoft.com/office/drawing/2014/main" id="{0394606C-1631-F916-6FDE-62F3DA3965CC}"/>
                </a:ext>
              </a:extLst>
            </p:cNvPr>
            <p:cNvSpPr/>
            <p:nvPr/>
          </p:nvSpPr>
          <p:spPr>
            <a:xfrm>
              <a:off x="5836412" y="4556892"/>
              <a:ext cx="877904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54" name="Text 22">
              <a:extLst>
                <a:ext uri="{FF2B5EF4-FFF2-40B4-BE49-F238E27FC236}">
                  <a16:creationId xmlns:a16="http://schemas.microsoft.com/office/drawing/2014/main" id="{0B5EAFEB-1BAD-8AD1-BEC1-EA1D695D286A}"/>
                </a:ext>
              </a:extLst>
            </p:cNvPr>
            <p:cNvSpPr/>
            <p:nvPr/>
          </p:nvSpPr>
          <p:spPr>
            <a:xfrm>
              <a:off x="5629910" y="4547286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050" dirty="0">
                  <a:solidFill>
                    <a:srgbClr val="8A9BA3"/>
                  </a:solidFill>
                </a:rPr>
                <a:t>Mois-1 : 0  </a:t>
              </a:r>
              <a:endParaRPr lang="en-US" sz="1050" dirty="0"/>
            </a:p>
          </p:txBody>
        </p: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F30C28D2-4A03-208D-6CD9-E4A83910AA59}"/>
              </a:ext>
            </a:extLst>
          </p:cNvPr>
          <p:cNvGrpSpPr/>
          <p:nvPr/>
        </p:nvGrpSpPr>
        <p:grpSpPr>
          <a:xfrm>
            <a:off x="7969245" y="6036130"/>
            <a:ext cx="1207008" cy="521670"/>
            <a:chOff x="5629910" y="4547286"/>
            <a:chExt cx="1207008" cy="521670"/>
          </a:xfrm>
        </p:grpSpPr>
        <p:sp>
          <p:nvSpPr>
            <p:cNvPr id="56" name="Shape 15">
              <a:extLst>
                <a:ext uri="{FF2B5EF4-FFF2-40B4-BE49-F238E27FC236}">
                  <a16:creationId xmlns:a16="http://schemas.microsoft.com/office/drawing/2014/main" id="{11D3481C-1471-F8B2-0201-40794D4FA0E9}"/>
                </a:ext>
              </a:extLst>
            </p:cNvPr>
            <p:cNvSpPr/>
            <p:nvPr/>
          </p:nvSpPr>
          <p:spPr>
            <a:xfrm>
              <a:off x="5836412" y="4556892"/>
              <a:ext cx="877904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B9C09CF8-113D-E655-FE8E-98063ABDE93B}"/>
                </a:ext>
              </a:extLst>
            </p:cNvPr>
            <p:cNvSpPr/>
            <p:nvPr/>
          </p:nvSpPr>
          <p:spPr>
            <a:xfrm>
              <a:off x="5629910" y="4547286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050" dirty="0">
                  <a:solidFill>
                    <a:srgbClr val="8A9BA3"/>
                  </a:solidFill>
                </a:rPr>
                <a:t>Mois-1 : 0  </a:t>
              </a:r>
              <a:endParaRPr lang="en-US" sz="1050" dirty="0"/>
            </a:p>
          </p:txBody>
        </p:sp>
      </p:grpSp>
      <p:sp>
        <p:nvSpPr>
          <p:cNvPr id="58" name="Text 10">
            <a:extLst>
              <a:ext uri="{FF2B5EF4-FFF2-40B4-BE49-F238E27FC236}">
                <a16:creationId xmlns:a16="http://schemas.microsoft.com/office/drawing/2014/main" id="{679FBFAE-AB56-2B02-B3B3-107C45A9B614}"/>
              </a:ext>
            </a:extLst>
          </p:cNvPr>
          <p:cNvSpPr/>
          <p:nvPr/>
        </p:nvSpPr>
        <p:spPr>
          <a:xfrm>
            <a:off x="4664628" y="2669604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sur Données GPS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D96961A4-4CD6-8732-FA7F-AA6F8A07F7AA}"/>
              </a:ext>
            </a:extLst>
          </p:cNvPr>
          <p:cNvSpPr txBox="1"/>
          <p:nvPr/>
        </p:nvSpPr>
        <p:spPr>
          <a:xfrm>
            <a:off x="4045975" y="781918"/>
            <a:ext cx="7523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/>
              <a:t>Alerte ou pas sur CA livré mais nous manque volume total à livrer ou livraisons en attente ?</a:t>
            </a:r>
            <a:br>
              <a:rPr lang="fr-RE" sz="1200" i="1" dirty="0"/>
            </a:br>
            <a:r>
              <a:rPr lang="fr-RE" sz="1200" i="1" dirty="0"/>
              <a:t>Boom sur les enlèvements commerciaux (17% des </a:t>
            </a:r>
            <a:r>
              <a:rPr lang="fr-RE" sz="1200" i="1" dirty="0" err="1"/>
              <a:t>cdes</a:t>
            </a:r>
            <a:r>
              <a:rPr lang="fr-RE" sz="1200" i="1" dirty="0"/>
              <a:t> </a:t>
            </a:r>
            <a:r>
              <a:rPr lang="fr-RE" sz="1200" i="1" dirty="0" err="1"/>
              <a:t>tot</a:t>
            </a:r>
            <a:r>
              <a:rPr lang="fr-RE" sz="1200" i="1" dirty="0"/>
              <a:t> </a:t>
            </a:r>
            <a:r>
              <a:rPr lang="fr-RE" sz="1200" i="1" dirty="0" err="1"/>
              <a:t>prép</a:t>
            </a:r>
            <a:r>
              <a:rPr lang="fr-RE" sz="1200" i="1" dirty="0"/>
              <a:t> vs 7% en juillet) et enlèvements clients = </a:t>
            </a:r>
            <a:r>
              <a:rPr lang="fr-RE" sz="1200" i="1" dirty="0" err="1"/>
              <a:t>Aleerte</a:t>
            </a:r>
            <a:r>
              <a:rPr lang="fr-RE" sz="1200" i="1" dirty="0"/>
              <a:t>?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5EBC50A-CCA6-662D-C037-2484EF88B85F}"/>
              </a:ext>
            </a:extLst>
          </p:cNvPr>
          <p:cNvSpPr/>
          <p:nvPr/>
        </p:nvSpPr>
        <p:spPr>
          <a:xfrm>
            <a:off x="4560488" y="2353800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sur Données GPS</a:t>
            </a: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CD0F307-F8E7-39A1-925A-9538A74BB954}"/>
              </a:ext>
            </a:extLst>
          </p:cNvPr>
          <p:cNvSpPr/>
          <p:nvPr/>
        </p:nvSpPr>
        <p:spPr>
          <a:xfrm>
            <a:off x="4494671" y="4866473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BC9E5F46-439C-8082-957B-CD5AF95F50F0}"/>
              </a:ext>
            </a:extLst>
          </p:cNvPr>
          <p:cNvSpPr/>
          <p:nvPr/>
        </p:nvSpPr>
        <p:spPr>
          <a:xfrm>
            <a:off x="4457949" y="6322903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220E2-0557-1CE4-7A00-F2629A89A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C325E1-7159-4AF4-6A6B-F0CCB6B119F1}"/>
              </a:ext>
            </a:extLst>
          </p:cNvPr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FE331C-4657-1950-E7A5-6929AB4DF834}"/>
              </a:ext>
            </a:extLst>
          </p:cNvPr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C66A84-1595-E876-1FC9-02A1639B81C8}"/>
              </a:ext>
            </a:extLst>
          </p:cNvPr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Livraison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26F281-2085-93D7-2F51-23C1281BC5BE}"/>
              </a:ext>
            </a:extLst>
          </p:cNvPr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DBAB17F-0F1E-651B-B87C-73D063B5DA55}"/>
              </a:ext>
            </a:extLst>
          </p:cNvPr>
          <p:cNvSpPr/>
          <p:nvPr/>
        </p:nvSpPr>
        <p:spPr>
          <a:xfrm>
            <a:off x="502920" y="1508760"/>
            <a:ext cx="3489960" cy="2263140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C4F189A-2C61-B1D2-89AB-A88169192B67}"/>
              </a:ext>
            </a:extLst>
          </p:cNvPr>
          <p:cNvSpPr/>
          <p:nvPr/>
        </p:nvSpPr>
        <p:spPr>
          <a:xfrm>
            <a:off x="731520" y="1773936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F42A314-0D92-6577-5C23-973FF275D70B}"/>
              </a:ext>
            </a:extLst>
          </p:cNvPr>
          <p:cNvSpPr/>
          <p:nvPr/>
        </p:nvSpPr>
        <p:spPr>
          <a:xfrm>
            <a:off x="960120" y="1673352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livraison total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4AB461D-00D7-A217-5759-85B99B0BA161}"/>
              </a:ext>
            </a:extLst>
          </p:cNvPr>
          <p:cNvSpPr/>
          <p:nvPr/>
        </p:nvSpPr>
        <p:spPr>
          <a:xfrm>
            <a:off x="731520" y="2212132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3,6 </a:t>
            </a:r>
            <a:r>
              <a:rPr lang="en-US" sz="22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jours</a:t>
            </a:r>
            <a:endParaRPr lang="en-US" sz="2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DC27F29-4447-87BF-9443-DD63BAC35514}"/>
              </a:ext>
            </a:extLst>
          </p:cNvPr>
          <p:cNvSpPr/>
          <p:nvPr/>
        </p:nvSpPr>
        <p:spPr>
          <a:xfrm>
            <a:off x="2557272" y="2168906"/>
            <a:ext cx="120700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37E16F1-C9AA-0A6F-3834-914C97B2C132}"/>
              </a:ext>
            </a:extLst>
          </p:cNvPr>
          <p:cNvSpPr/>
          <p:nvPr/>
        </p:nvSpPr>
        <p:spPr>
          <a:xfrm>
            <a:off x="2557272" y="2168906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3,0 </a:t>
            </a:r>
            <a:r>
              <a:rPr lang="en-US" sz="1050" dirty="0" err="1">
                <a:solidFill>
                  <a:srgbClr val="8A9BA3"/>
                </a:solidFill>
              </a:rPr>
              <a:t>jours</a:t>
            </a:r>
            <a:endParaRPr lang="en-US" sz="1050" dirty="0">
              <a:solidFill>
                <a:srgbClr val="8A9BA3"/>
              </a:solidFill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0392B"/>
                </a:solidFill>
              </a:rPr>
              <a:t>▼ +20%</a:t>
            </a:r>
            <a:endParaRPr lang="en-US" sz="10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004A604-6620-C3FB-D759-73D5E91273D1}"/>
              </a:ext>
            </a:extLst>
          </p:cNvPr>
          <p:cNvSpPr/>
          <p:nvPr/>
        </p:nvSpPr>
        <p:spPr>
          <a:xfrm>
            <a:off x="693256" y="3275615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Livraion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camion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les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maximum 14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EE9CEC-B88F-970D-9416-40C328B6CC5F}"/>
              </a:ext>
            </a:extLst>
          </p:cNvPr>
          <p:cNvSpPr txBox="1"/>
          <p:nvPr/>
        </p:nvSpPr>
        <p:spPr>
          <a:xfrm>
            <a:off x="8231632" y="309118"/>
            <a:ext cx="5317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 err="1">
                <a:solidFill>
                  <a:srgbClr val="7030A0"/>
                </a:solidFill>
                <a:highlight>
                  <a:srgbClr val="FFFF00"/>
                </a:highlight>
              </a:rPr>
              <a:t>Anti-datage</a:t>
            </a:r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des commandes qui sont passées après 16h30.</a:t>
            </a:r>
          </a:p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</a:t>
            </a:r>
            <a:endParaRPr lang="fr-RE" sz="1200" i="1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89F9C51F-474B-E200-3B3D-2028647605DA}"/>
              </a:ext>
            </a:extLst>
          </p:cNvPr>
          <p:cNvSpPr/>
          <p:nvPr/>
        </p:nvSpPr>
        <p:spPr>
          <a:xfrm>
            <a:off x="4816126" y="1508760"/>
            <a:ext cx="6122168" cy="2907354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77CB80FD-22B2-94C2-4519-42BCA2F95603}"/>
              </a:ext>
            </a:extLst>
          </p:cNvPr>
          <p:cNvSpPr/>
          <p:nvPr/>
        </p:nvSpPr>
        <p:spPr>
          <a:xfrm>
            <a:off x="5044727" y="171959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E328BE16-221B-AD6A-41F7-0414A1A92F21}"/>
              </a:ext>
            </a:extLst>
          </p:cNvPr>
          <p:cNvSpPr/>
          <p:nvPr/>
        </p:nvSpPr>
        <p:spPr>
          <a:xfrm>
            <a:off x="5273327" y="1619008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Livraisons</a:t>
            </a:r>
            <a:endParaRPr lang="en-US" sz="1300" dirty="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A4FF6ACE-FC16-63B6-1C03-A43C1D50699C}"/>
              </a:ext>
            </a:extLst>
          </p:cNvPr>
          <p:cNvSpPr/>
          <p:nvPr/>
        </p:nvSpPr>
        <p:spPr>
          <a:xfrm>
            <a:off x="6575611" y="2204808"/>
            <a:ext cx="120700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A73BF1FB-120B-B18B-0D95-2BFB0A0194CF}"/>
              </a:ext>
            </a:extLst>
          </p:cNvPr>
          <p:cNvSpPr/>
          <p:nvPr/>
        </p:nvSpPr>
        <p:spPr>
          <a:xfrm>
            <a:off x="6641879" y="2153307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91%</a:t>
            </a:r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-4%</a:t>
            </a:r>
            <a:endParaRPr lang="en-US" sz="105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18438323-66A9-9C94-E20B-92734813FD64}"/>
              </a:ext>
            </a:extLst>
          </p:cNvPr>
          <p:cNvSpPr/>
          <p:nvPr/>
        </p:nvSpPr>
        <p:spPr>
          <a:xfrm>
            <a:off x="4897293" y="3995469"/>
            <a:ext cx="3071024" cy="28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en-US"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Archivées 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Livraison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souhaitées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sauf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et 524 &gt;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commerciaux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Nb Bls</a:t>
            </a:r>
          </a:p>
        </p:txBody>
      </p:sp>
      <p:graphicFrame>
        <p:nvGraphicFramePr>
          <p:cNvPr id="54" name="Tableau 53">
            <a:extLst>
              <a:ext uri="{FF2B5EF4-FFF2-40B4-BE49-F238E27FC236}">
                <a16:creationId xmlns:a16="http://schemas.microsoft.com/office/drawing/2014/main" id="{8D0C521C-972F-6B8A-8566-FB92A9571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725490"/>
              </p:ext>
            </p:extLst>
          </p:nvPr>
        </p:nvGraphicFramePr>
        <p:xfrm>
          <a:off x="8130650" y="1619348"/>
          <a:ext cx="2432697" cy="264831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115673">
                  <a:extLst>
                    <a:ext uri="{9D8B030D-6E8A-4147-A177-3AD203B41FA5}">
                      <a16:colId xmlns:a16="http://schemas.microsoft.com/office/drawing/2014/main" val="1003669027"/>
                    </a:ext>
                  </a:extLst>
                </a:gridCol>
                <a:gridCol w="705678">
                  <a:extLst>
                    <a:ext uri="{9D8B030D-6E8A-4147-A177-3AD203B41FA5}">
                      <a16:colId xmlns:a16="http://schemas.microsoft.com/office/drawing/2014/main" val="189703816"/>
                    </a:ext>
                  </a:extLst>
                </a:gridCol>
                <a:gridCol w="611346">
                  <a:extLst>
                    <a:ext uri="{9D8B030D-6E8A-4147-A177-3AD203B41FA5}">
                      <a16:colId xmlns:a16="http://schemas.microsoft.com/office/drawing/2014/main" val="4007200962"/>
                    </a:ext>
                  </a:extLst>
                </a:gridCol>
              </a:tblGrid>
              <a:tr h="290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Nb </a:t>
                      </a:r>
                      <a:r>
                        <a:rPr lang="fr-FR" sz="1400" b="1" i="0" u="none" strike="noStrike" dirty="0" err="1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BLs</a:t>
                      </a: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/ cde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Nb </a:t>
                      </a:r>
                      <a:br>
                        <a:rPr lang="fr-FR" sz="1400" b="1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fr-FR" sz="1400" b="1" u="none" strike="noStrike" dirty="0" err="1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Cdes</a:t>
                      </a:r>
                      <a:endParaRPr lang="fr-FR" sz="1400" b="1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Part (%)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367888"/>
                  </a:ext>
                </a:extLst>
              </a:tr>
              <a:tr h="544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3605778"/>
                  </a:ext>
                </a:extLst>
              </a:tr>
              <a:tr h="544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692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87%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6300375"/>
                  </a:ext>
                </a:extLst>
              </a:tr>
              <a:tr h="544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fr-FR" sz="1400" b="0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9%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7391207"/>
                  </a:ext>
                </a:extLst>
              </a:tr>
              <a:tr h="290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fr-FR" sz="1400" b="0" i="0" u="none" strike="noStrike" dirty="0">
                        <a:solidFill>
                          <a:srgbClr val="065A82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0,6%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839779"/>
                  </a:ext>
                </a:extLst>
              </a:tr>
              <a:tr h="290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65A82"/>
                          </a:solidFill>
                          <a:effectLst/>
                          <a:latin typeface="Aptos Narrow" panose="020B0004020202020204" pitchFamily="34" charset="0"/>
                        </a:rPr>
                        <a:t>0,1%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0713898"/>
                  </a:ext>
                </a:extLst>
              </a:tr>
            </a:tbl>
          </a:graphicData>
        </a:graphic>
      </p:graphicFrame>
      <p:sp>
        <p:nvSpPr>
          <p:cNvPr id="57" name="Text 7">
            <a:extLst>
              <a:ext uri="{FF2B5EF4-FFF2-40B4-BE49-F238E27FC236}">
                <a16:creationId xmlns:a16="http://schemas.microsoft.com/office/drawing/2014/main" id="{D6CB4B8C-FFA7-C8B1-CF0E-423A6EC44945}"/>
              </a:ext>
            </a:extLst>
          </p:cNvPr>
          <p:cNvSpPr/>
          <p:nvPr/>
        </p:nvSpPr>
        <p:spPr>
          <a:xfrm>
            <a:off x="4816127" y="2483415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</a:t>
            </a:r>
            <a:endParaRPr lang="en-US" sz="22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DCFDFB24-A934-DC81-F56B-4972BAEEB17D}"/>
              </a:ext>
            </a:extLst>
          </p:cNvPr>
          <p:cNvSpPr/>
          <p:nvPr/>
        </p:nvSpPr>
        <p:spPr>
          <a:xfrm>
            <a:off x="4816125" y="2266361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87 %</a:t>
            </a:r>
            <a:endParaRPr lang="en-US" sz="2200" dirty="0"/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DCB29D0C-B7F8-18CE-F5D4-0753383656FA}"/>
              </a:ext>
            </a:extLst>
          </p:cNvPr>
          <p:cNvSpPr txBox="1"/>
          <p:nvPr/>
        </p:nvSpPr>
        <p:spPr>
          <a:xfrm>
            <a:off x="4883957" y="2721508"/>
            <a:ext cx="21048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65A82"/>
                </a:solidFill>
              </a:rPr>
              <a:t>Des </a:t>
            </a:r>
            <a:r>
              <a:rPr lang="en-US" sz="1400" dirty="0" err="1">
                <a:solidFill>
                  <a:srgbClr val="065A82"/>
                </a:solidFill>
              </a:rPr>
              <a:t>cdes</a:t>
            </a:r>
            <a:r>
              <a:rPr lang="en-US" sz="1400" dirty="0">
                <a:solidFill>
                  <a:srgbClr val="065A82"/>
                </a:solidFill>
              </a:rPr>
              <a:t> </a:t>
            </a:r>
            <a:r>
              <a:rPr lang="en-US" sz="1400" dirty="0" err="1">
                <a:solidFill>
                  <a:srgbClr val="065A82"/>
                </a:solidFill>
              </a:rPr>
              <a:t>livrées</a:t>
            </a:r>
            <a:r>
              <a:rPr lang="en-US" sz="1400" dirty="0">
                <a:solidFill>
                  <a:srgbClr val="065A82"/>
                </a:solidFill>
              </a:rPr>
              <a:t> </a:t>
            </a:r>
            <a:r>
              <a:rPr lang="en-US" sz="1400" dirty="0" err="1">
                <a:solidFill>
                  <a:srgbClr val="065A82"/>
                </a:solidFill>
              </a:rPr>
              <a:t>en</a:t>
            </a:r>
            <a:r>
              <a:rPr lang="en-US" sz="1400" dirty="0">
                <a:solidFill>
                  <a:srgbClr val="065A82"/>
                </a:solidFill>
              </a:rPr>
              <a:t> 1 </a:t>
            </a:r>
            <a:r>
              <a:rPr lang="en-US" sz="1400" dirty="0" err="1">
                <a:solidFill>
                  <a:srgbClr val="065A82"/>
                </a:solidFill>
              </a:rPr>
              <a:t>fois</a:t>
            </a:r>
            <a:endParaRPr lang="en-US" sz="1400" dirty="0">
              <a:solidFill>
                <a:srgbClr val="065A82"/>
              </a:solidFill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D4921C6E-2E2B-0BFD-6985-B785658A2B3C}"/>
              </a:ext>
            </a:extLst>
          </p:cNvPr>
          <p:cNvSpPr txBox="1"/>
          <p:nvPr/>
        </p:nvSpPr>
        <p:spPr>
          <a:xfrm>
            <a:off x="4998761" y="3240833"/>
            <a:ext cx="2736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Que archivées</a:t>
            </a:r>
          </a:p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</a:t>
            </a:r>
            <a:endParaRPr lang="fr-RE" sz="1200" i="1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A9B269C-1C48-E6E4-FCF2-E1F90F5BA72C}"/>
              </a:ext>
            </a:extLst>
          </p:cNvPr>
          <p:cNvSpPr txBox="1"/>
          <p:nvPr/>
        </p:nvSpPr>
        <p:spPr>
          <a:xfrm>
            <a:off x="2675570" y="6627167"/>
            <a:ext cx="414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Rajouter total </a:t>
            </a:r>
            <a:r>
              <a:rPr lang="fr-RE" sz="1200" i="1" dirty="0" err="1">
                <a:solidFill>
                  <a:srgbClr val="7030A0"/>
                </a:solidFill>
                <a:highlight>
                  <a:srgbClr val="FFFF00"/>
                </a:highlight>
              </a:rPr>
              <a:t>àlivrer</a:t>
            </a:r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+ archivées (dont xx partiellement livrés)</a:t>
            </a:r>
          </a:p>
          <a:p>
            <a:r>
              <a:rPr lang="fr-RE" sz="1200" i="1" dirty="0">
                <a:solidFill>
                  <a:srgbClr val="7030A0"/>
                </a:solidFill>
                <a:highlight>
                  <a:srgbClr val="FFFF00"/>
                </a:highlight>
              </a:rPr>
              <a:t> </a:t>
            </a:r>
            <a:endParaRPr lang="fr-RE" sz="1200" i="1" dirty="0"/>
          </a:p>
        </p:txBody>
      </p:sp>
    </p:spTree>
    <p:extLst>
      <p:ext uri="{BB962C8B-B14F-4D97-AF65-F5344CB8AC3E}">
        <p14:creationId xmlns:p14="http://schemas.microsoft.com/office/powerpoint/2010/main" val="90647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44168" y="385601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57530"/>
            <a:ext cx="5394960" cy="2263140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7" name="Shape 5"/>
          <p:cNvSpPr/>
          <p:nvPr/>
        </p:nvSpPr>
        <p:spPr>
          <a:xfrm>
            <a:off x="731520" y="1773936"/>
            <a:ext cx="146304" cy="146304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" name="Text 6"/>
          <p:cNvSpPr/>
          <p:nvPr/>
        </p:nvSpPr>
        <p:spPr>
          <a:xfrm>
            <a:off x="960120" y="1673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704" y="2129950"/>
            <a:ext cx="3456432" cy="483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089765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601829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47384" y="3989431"/>
            <a:ext cx="5394960" cy="2482968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14" name="Shape 12"/>
          <p:cNvSpPr/>
          <p:nvPr/>
        </p:nvSpPr>
        <p:spPr>
          <a:xfrm>
            <a:off x="6475984" y="4254607"/>
            <a:ext cx="146304" cy="146304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15" name="Text 13"/>
          <p:cNvSpPr/>
          <p:nvPr/>
        </p:nvSpPr>
        <p:spPr>
          <a:xfrm>
            <a:off x="6704584" y="4154023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impayées (&gt; 60 jrs)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81036" y="5034641"/>
            <a:ext cx="13575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42144" y="4619097"/>
            <a:ext cx="1371600" cy="512064"/>
          </a:xfrm>
          <a:prstGeom prst="roundRect">
            <a:avLst>
              <a:gd name="adj" fmla="val 8929"/>
            </a:avLst>
          </a:prstGeom>
          <a:noFill/>
          <a:ln/>
        </p:spPr>
        <p:txBody>
          <a:bodyPr wrap="square" lIns="0" tIns="0" rIns="0" bIns="0" rtlCol="0" anchor="ctr"/>
          <a:lstStyle/>
          <a:p>
            <a:endParaRPr lang="fr-RE" sz="2400" b="1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4604" y="4538071"/>
            <a:ext cx="1627546" cy="48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02609" y="6085340"/>
            <a:ext cx="4619420" cy="264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 / Compta / Factures dues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dû · échéance &gt; 60 j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7384" y="1508760"/>
            <a:ext cx="5394960" cy="2263140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21" name="Shape 19"/>
          <p:cNvSpPr/>
          <p:nvPr/>
        </p:nvSpPr>
        <p:spPr>
          <a:xfrm>
            <a:off x="6475984" y="1773936"/>
            <a:ext cx="146304" cy="146304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22" name="Text 20"/>
          <p:cNvSpPr/>
          <p:nvPr/>
        </p:nvSpPr>
        <p:spPr>
          <a:xfrm>
            <a:off x="6704584" y="1673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Impayées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</a:t>
            </a:r>
          </a:p>
        </p:txBody>
      </p:sp>
      <p:sp>
        <p:nvSpPr>
          <p:cNvPr id="23" name="Text 21"/>
          <p:cNvSpPr/>
          <p:nvPr/>
        </p:nvSpPr>
        <p:spPr>
          <a:xfrm>
            <a:off x="6905752" y="2861082"/>
            <a:ext cx="1474254" cy="449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B26F1EA0-6D2A-CAFF-3532-3AE089C673BD}"/>
              </a:ext>
            </a:extLst>
          </p:cNvPr>
          <p:cNvSpPr/>
          <p:nvPr/>
        </p:nvSpPr>
        <p:spPr>
          <a:xfrm>
            <a:off x="8533298" y="5340112"/>
            <a:ext cx="85970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2677DD66-D21F-C441-34F1-76AE3321C496}"/>
              </a:ext>
            </a:extLst>
          </p:cNvPr>
          <p:cNvSpPr/>
          <p:nvPr/>
        </p:nvSpPr>
        <p:spPr>
          <a:xfrm>
            <a:off x="2436920" y="2101195"/>
            <a:ext cx="780734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ED54D255-64B9-87D5-278E-D4CC8554B745}"/>
              </a:ext>
            </a:extLst>
          </p:cNvPr>
          <p:cNvSpPr/>
          <p:nvPr/>
        </p:nvSpPr>
        <p:spPr>
          <a:xfrm>
            <a:off x="708704" y="3205333"/>
            <a:ext cx="51069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&gt; Qualification : Client Public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ND Cover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ND cover refuse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Sans assurance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</a:t>
            </a:r>
            <a:endParaRPr lang="en-US" sz="1050" i="1" dirty="0">
              <a:solidFill>
                <a:srgbClr val="8A9BA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62C7D541-2BB6-8BDE-E43F-F19F7208D8E6}"/>
              </a:ext>
            </a:extLst>
          </p:cNvPr>
          <p:cNvSpPr/>
          <p:nvPr/>
        </p:nvSpPr>
        <p:spPr>
          <a:xfrm>
            <a:off x="6905752" y="2208156"/>
            <a:ext cx="1436643" cy="449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B4401B96-A65D-D51D-0092-FC6AD5125F25}"/>
              </a:ext>
            </a:extLst>
          </p:cNvPr>
          <p:cNvSpPr/>
          <p:nvPr/>
        </p:nvSpPr>
        <p:spPr>
          <a:xfrm>
            <a:off x="9723933" y="214368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7EC6F57C-0039-4947-7CDE-D69F838F9114}"/>
              </a:ext>
            </a:extLst>
          </p:cNvPr>
          <p:cNvSpPr/>
          <p:nvPr/>
        </p:nvSpPr>
        <p:spPr>
          <a:xfrm>
            <a:off x="9689364" y="2781927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6C556623-865C-8654-5987-5825DF6F3455}"/>
              </a:ext>
            </a:extLst>
          </p:cNvPr>
          <p:cNvSpPr/>
          <p:nvPr/>
        </p:nvSpPr>
        <p:spPr>
          <a:xfrm>
            <a:off x="7440719" y="513380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i="1" dirty="0">
              <a:solidFill>
                <a:srgbClr val="0E7C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E437CFF9-3BC3-AC04-922B-21B3A0420253}"/>
              </a:ext>
            </a:extLst>
          </p:cNvPr>
          <p:cNvSpPr/>
          <p:nvPr/>
        </p:nvSpPr>
        <p:spPr>
          <a:xfrm>
            <a:off x="8096801" y="457860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i="1" dirty="0">
              <a:solidFill>
                <a:srgbClr val="0E7C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3A169652-F03E-68AD-CC5E-B1A775813AEF}"/>
              </a:ext>
            </a:extLst>
          </p:cNvPr>
          <p:cNvSpPr/>
          <p:nvPr/>
        </p:nvSpPr>
        <p:spPr>
          <a:xfrm>
            <a:off x="9813544" y="4557374"/>
            <a:ext cx="1436643" cy="449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E1DBDDFE-84E8-699B-01DD-845B316856A2}"/>
              </a:ext>
            </a:extLst>
          </p:cNvPr>
          <p:cNvSpPr/>
          <p:nvPr/>
        </p:nvSpPr>
        <p:spPr>
          <a:xfrm>
            <a:off x="502921" y="3997594"/>
            <a:ext cx="5385432" cy="2403205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F867D715-520C-2367-1D6B-743CD3CE74ED}"/>
              </a:ext>
            </a:extLst>
          </p:cNvPr>
          <p:cNvSpPr/>
          <p:nvPr/>
        </p:nvSpPr>
        <p:spPr>
          <a:xfrm>
            <a:off x="796460" y="4254607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AD40F08E-9AEB-D614-B74C-564A05532A71}"/>
              </a:ext>
            </a:extLst>
          </p:cNvPr>
          <p:cNvSpPr/>
          <p:nvPr/>
        </p:nvSpPr>
        <p:spPr>
          <a:xfrm>
            <a:off x="1025060" y="4154023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Livraison à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(Moyenne)</a:t>
            </a:r>
            <a:endParaRPr lang="en-US" sz="130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A0AF14CA-0EF5-9914-EFB0-D3166D3CC5D6}"/>
              </a:ext>
            </a:extLst>
          </p:cNvPr>
          <p:cNvSpPr/>
          <p:nvPr/>
        </p:nvSpPr>
        <p:spPr>
          <a:xfrm>
            <a:off x="3874940" y="5044618"/>
            <a:ext cx="1582481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2A83AE70-6FB6-4021-93CA-C47AED2F9491}"/>
              </a:ext>
            </a:extLst>
          </p:cNvPr>
          <p:cNvSpPr/>
          <p:nvPr/>
        </p:nvSpPr>
        <p:spPr>
          <a:xfrm>
            <a:off x="3874940" y="5044618"/>
            <a:ext cx="158248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Mois-1 : 2,9j</a:t>
            </a:r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0000"/>
                </a:solidFill>
              </a:rPr>
              <a:t>▲</a:t>
            </a:r>
            <a:r>
              <a:rPr lang="en-US" sz="1600" b="1" dirty="0">
                <a:solidFill>
                  <a:srgbClr val="C0392B"/>
                </a:solidFill>
              </a:rPr>
              <a:t> -%</a:t>
            </a:r>
            <a:endParaRPr lang="en-US" sz="105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9736722E-BCD3-48C6-827A-7D0D23D91E95}"/>
              </a:ext>
            </a:extLst>
          </p:cNvPr>
          <p:cNvSpPr/>
          <p:nvPr/>
        </p:nvSpPr>
        <p:spPr>
          <a:xfrm>
            <a:off x="708704" y="5741439"/>
            <a:ext cx="51069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&gt; Exploitation locale + TCD &gt; Date de facture – Date Livraison 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DC67B17-D869-2144-94C0-4B1975AF1CCB}"/>
              </a:ext>
            </a:extLst>
          </p:cNvPr>
          <p:cNvSpPr txBox="1"/>
          <p:nvPr/>
        </p:nvSpPr>
        <p:spPr>
          <a:xfrm>
            <a:off x="2676658" y="4447073"/>
            <a:ext cx="32934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rgbClr val="7030A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!!! 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Première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les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cdes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“au plus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+ à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mieux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code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1100" i="1" dirty="0">
              <a:solidFill>
                <a:srgbClr val="7030A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EA0DE997-0130-6CEF-637E-B9AE3EA0739A}"/>
              </a:ext>
            </a:extLst>
          </p:cNvPr>
          <p:cNvSpPr/>
          <p:nvPr/>
        </p:nvSpPr>
        <p:spPr>
          <a:xfrm>
            <a:off x="6785859" y="4945540"/>
            <a:ext cx="1627546" cy="48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27,0 k€</a:t>
            </a: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39C7A401-62A9-A9FC-725B-4A4E00025F26}"/>
              </a:ext>
            </a:extLst>
          </p:cNvPr>
          <p:cNvSpPr/>
          <p:nvPr/>
        </p:nvSpPr>
        <p:spPr>
          <a:xfrm>
            <a:off x="6763162" y="5398422"/>
            <a:ext cx="2729357" cy="564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50 clients </a:t>
            </a:r>
            <a:r>
              <a:rPr lang="en-US" sz="2400" b="1" dirty="0" err="1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distincts</a:t>
            </a:r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505973A1-6819-C134-269D-ECAE70E0256A}"/>
              </a:ext>
            </a:extLst>
          </p:cNvPr>
          <p:cNvSpPr/>
          <p:nvPr/>
        </p:nvSpPr>
        <p:spPr>
          <a:xfrm>
            <a:off x="6757170" y="4497972"/>
            <a:ext cx="1627546" cy="48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77 fact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6D81ACE-BEC3-A162-4C12-CCF2FC8E26A3}"/>
              </a:ext>
            </a:extLst>
          </p:cNvPr>
          <p:cNvSpPr txBox="1"/>
          <p:nvPr/>
        </p:nvSpPr>
        <p:spPr>
          <a:xfrm>
            <a:off x="8684062" y="4045651"/>
            <a:ext cx="32934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rgbClr val="7030A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!!! 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retranche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les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négaatif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!</a:t>
            </a: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3A95D18A-04F2-3760-44E8-C9DCBCC50EEA}"/>
              </a:ext>
            </a:extLst>
          </p:cNvPr>
          <p:cNvGrpSpPr/>
          <p:nvPr/>
        </p:nvGrpSpPr>
        <p:grpSpPr>
          <a:xfrm>
            <a:off x="9948800" y="5577212"/>
            <a:ext cx="1582481" cy="528922"/>
            <a:chOff x="10060292" y="5685415"/>
            <a:chExt cx="1582481" cy="528922"/>
          </a:xfrm>
        </p:grpSpPr>
        <p:sp>
          <p:nvSpPr>
            <p:cNvPr id="59" name="Shape 15">
              <a:extLst>
                <a:ext uri="{FF2B5EF4-FFF2-40B4-BE49-F238E27FC236}">
                  <a16:creationId xmlns:a16="http://schemas.microsoft.com/office/drawing/2014/main" id="{23C70ECA-95C7-8975-DC3D-957E63E874B9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61" name="Text 9">
              <a:extLst>
                <a:ext uri="{FF2B5EF4-FFF2-40B4-BE49-F238E27FC236}">
                  <a16:creationId xmlns:a16="http://schemas.microsoft.com/office/drawing/2014/main" id="{6D9E3B50-90B4-13A5-62F0-70D953AD399F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51 clients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-2%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D7866545-F8E6-B7E8-654D-B0494222B492}"/>
              </a:ext>
            </a:extLst>
          </p:cNvPr>
          <p:cNvGrpSpPr/>
          <p:nvPr/>
        </p:nvGrpSpPr>
        <p:grpSpPr>
          <a:xfrm>
            <a:off x="9944959" y="4393209"/>
            <a:ext cx="1582481" cy="528922"/>
            <a:chOff x="10060292" y="5685415"/>
            <a:chExt cx="1582481" cy="528922"/>
          </a:xfrm>
        </p:grpSpPr>
        <p:sp>
          <p:nvSpPr>
            <p:cNvPr id="64" name="Shape 15">
              <a:extLst>
                <a:ext uri="{FF2B5EF4-FFF2-40B4-BE49-F238E27FC236}">
                  <a16:creationId xmlns:a16="http://schemas.microsoft.com/office/drawing/2014/main" id="{6CE2979D-7148-809E-387A-DBCCE12D8C12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65" name="Text 9">
              <a:extLst>
                <a:ext uri="{FF2B5EF4-FFF2-40B4-BE49-F238E27FC236}">
                  <a16:creationId xmlns:a16="http://schemas.microsoft.com/office/drawing/2014/main" id="{4A2F0847-B12A-DC1B-F400-B254D9E47051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83 fact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-7%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96455516-5769-D3B5-CEB6-821049538443}"/>
              </a:ext>
            </a:extLst>
          </p:cNvPr>
          <p:cNvGrpSpPr/>
          <p:nvPr/>
        </p:nvGrpSpPr>
        <p:grpSpPr>
          <a:xfrm>
            <a:off x="9944959" y="4987776"/>
            <a:ext cx="1582481" cy="528922"/>
            <a:chOff x="10060292" y="5685415"/>
            <a:chExt cx="1582481" cy="528922"/>
          </a:xfrm>
        </p:grpSpPr>
        <p:sp>
          <p:nvSpPr>
            <p:cNvPr id="67" name="Shape 15">
              <a:extLst>
                <a:ext uri="{FF2B5EF4-FFF2-40B4-BE49-F238E27FC236}">
                  <a16:creationId xmlns:a16="http://schemas.microsoft.com/office/drawing/2014/main" id="{6FA9CBB8-974B-CDCD-003F-92DF97CC4AA5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68" name="Text 9">
              <a:extLst>
                <a:ext uri="{FF2B5EF4-FFF2-40B4-BE49-F238E27FC236}">
                  <a16:creationId xmlns:a16="http://schemas.microsoft.com/office/drawing/2014/main" id="{47CFA950-D2FB-0840-9533-9CE037243FF2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39 k€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-31%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sp>
        <p:nvSpPr>
          <p:cNvPr id="70" name="Text 17">
            <a:extLst>
              <a:ext uri="{FF2B5EF4-FFF2-40B4-BE49-F238E27FC236}">
                <a16:creationId xmlns:a16="http://schemas.microsoft.com/office/drawing/2014/main" id="{F6A59BB5-1346-A0FA-ADA7-97FC489F263E}"/>
              </a:ext>
            </a:extLst>
          </p:cNvPr>
          <p:cNvSpPr/>
          <p:nvPr/>
        </p:nvSpPr>
        <p:spPr>
          <a:xfrm>
            <a:off x="6476113" y="3461819"/>
            <a:ext cx="4619420" cy="264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 / Compta / Factures dues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NbJEch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0</a:t>
            </a:r>
            <a:endParaRPr lang="en-US" sz="1050" dirty="0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7114798E-57E0-C0D5-FF73-BA959123A79E}"/>
              </a:ext>
            </a:extLst>
          </p:cNvPr>
          <p:cNvSpPr/>
          <p:nvPr/>
        </p:nvSpPr>
        <p:spPr>
          <a:xfrm>
            <a:off x="6631264" y="2131983"/>
            <a:ext cx="2214620" cy="48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403 fact</a:t>
            </a:r>
          </a:p>
        </p:txBody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595EDDB2-F970-C160-435A-266440CB2945}"/>
              </a:ext>
            </a:extLst>
          </p:cNvPr>
          <p:cNvSpPr/>
          <p:nvPr/>
        </p:nvSpPr>
        <p:spPr>
          <a:xfrm>
            <a:off x="6631264" y="2677639"/>
            <a:ext cx="1627546" cy="48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210,7 k€</a:t>
            </a:r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D673AAC5-BEAB-F786-575A-3C15A37DD2E2}"/>
              </a:ext>
            </a:extLst>
          </p:cNvPr>
          <p:cNvSpPr/>
          <p:nvPr/>
        </p:nvSpPr>
        <p:spPr>
          <a:xfrm>
            <a:off x="8238576" y="178537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Fact 2026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ACF94C8F-322C-F9CE-C5DE-58F161DF211D}"/>
              </a:ext>
            </a:extLst>
          </p:cNvPr>
          <p:cNvSpPr/>
          <p:nvPr/>
        </p:nvSpPr>
        <p:spPr>
          <a:xfrm>
            <a:off x="8160084" y="21627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95,5%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CFE11370-AA89-3A4F-22B9-4CB59C7588A7}"/>
              </a:ext>
            </a:extLst>
          </p:cNvPr>
          <p:cNvSpPr/>
          <p:nvPr/>
        </p:nvSpPr>
        <p:spPr>
          <a:xfrm>
            <a:off x="8155327" y="26674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96,8%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DFE1B21E-4F00-8607-EAF5-07E27157C883}"/>
              </a:ext>
            </a:extLst>
          </p:cNvPr>
          <p:cNvSpPr/>
          <p:nvPr/>
        </p:nvSpPr>
        <p:spPr>
          <a:xfrm>
            <a:off x="8129982" y="4616683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19,1%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84" name="Text 16">
            <a:extLst>
              <a:ext uri="{FF2B5EF4-FFF2-40B4-BE49-F238E27FC236}">
                <a16:creationId xmlns:a16="http://schemas.microsoft.com/office/drawing/2014/main" id="{3C91B80C-5BF3-4180-624F-5A7D7B13839D}"/>
              </a:ext>
            </a:extLst>
          </p:cNvPr>
          <p:cNvSpPr/>
          <p:nvPr/>
        </p:nvSpPr>
        <p:spPr>
          <a:xfrm>
            <a:off x="8120919" y="492898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12,8%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86" name="Text 16">
            <a:extLst>
              <a:ext uri="{FF2B5EF4-FFF2-40B4-BE49-F238E27FC236}">
                <a16:creationId xmlns:a16="http://schemas.microsoft.com/office/drawing/2014/main" id="{78AF27C5-1DF3-07E1-3667-E0D3FE4E2A94}"/>
              </a:ext>
            </a:extLst>
          </p:cNvPr>
          <p:cNvSpPr/>
          <p:nvPr/>
        </p:nvSpPr>
        <p:spPr>
          <a:xfrm>
            <a:off x="8212959" y="431276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du tot</a:t>
            </a:r>
            <a:endParaRPr lang="en-US" sz="1200" dirty="0">
              <a:solidFill>
                <a:srgbClr val="0E7C86"/>
              </a:solidFill>
            </a:endParaRPr>
          </a:p>
        </p:txBody>
      </p: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99CAE86F-FC22-DE5E-2349-17B78457F773}"/>
              </a:ext>
            </a:extLst>
          </p:cNvPr>
          <p:cNvGrpSpPr/>
          <p:nvPr/>
        </p:nvGrpSpPr>
        <p:grpSpPr>
          <a:xfrm>
            <a:off x="9791016" y="2173700"/>
            <a:ext cx="1582481" cy="528922"/>
            <a:chOff x="10060292" y="5685415"/>
            <a:chExt cx="1582481" cy="528922"/>
          </a:xfrm>
        </p:grpSpPr>
        <p:sp>
          <p:nvSpPr>
            <p:cNvPr id="88" name="Shape 15">
              <a:extLst>
                <a:ext uri="{FF2B5EF4-FFF2-40B4-BE49-F238E27FC236}">
                  <a16:creationId xmlns:a16="http://schemas.microsoft.com/office/drawing/2014/main" id="{8456FD73-E943-B809-2DE2-177F946707E7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89" name="Text 9">
              <a:extLst>
                <a:ext uri="{FF2B5EF4-FFF2-40B4-BE49-F238E27FC236}">
                  <a16:creationId xmlns:a16="http://schemas.microsoft.com/office/drawing/2014/main" id="{08855188-2803-D180-5895-17FA8A9262B6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416 fact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-3,1%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7DB596E9-EBF6-E36A-339E-00D4AB987639}"/>
              </a:ext>
            </a:extLst>
          </p:cNvPr>
          <p:cNvGrpSpPr/>
          <p:nvPr/>
        </p:nvGrpSpPr>
        <p:grpSpPr>
          <a:xfrm>
            <a:off x="9769173" y="2903295"/>
            <a:ext cx="1582481" cy="528922"/>
            <a:chOff x="10060292" y="5685415"/>
            <a:chExt cx="1582481" cy="528922"/>
          </a:xfrm>
        </p:grpSpPr>
        <p:sp>
          <p:nvSpPr>
            <p:cNvPr id="91" name="Shape 15">
              <a:extLst>
                <a:ext uri="{FF2B5EF4-FFF2-40B4-BE49-F238E27FC236}">
                  <a16:creationId xmlns:a16="http://schemas.microsoft.com/office/drawing/2014/main" id="{D16CA62A-25E5-7B51-C3F6-60DC93B1FD04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92" name="Text 9">
              <a:extLst>
                <a:ext uri="{FF2B5EF4-FFF2-40B4-BE49-F238E27FC236}">
                  <a16:creationId xmlns:a16="http://schemas.microsoft.com/office/drawing/2014/main" id="{915AD33B-B3BE-BC94-4C86-311F7C158D0D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228,0 k€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-7,6%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sp>
        <p:nvSpPr>
          <p:cNvPr id="94" name="Text 16">
            <a:extLst>
              <a:ext uri="{FF2B5EF4-FFF2-40B4-BE49-F238E27FC236}">
                <a16:creationId xmlns:a16="http://schemas.microsoft.com/office/drawing/2014/main" id="{2D449154-117D-2805-FF3E-72A24CCCD0A5}"/>
              </a:ext>
            </a:extLst>
          </p:cNvPr>
          <p:cNvSpPr/>
          <p:nvPr/>
        </p:nvSpPr>
        <p:spPr>
          <a:xfrm>
            <a:off x="832104" y="2172938"/>
            <a:ext cx="2214620" cy="48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141 clients</a:t>
            </a:r>
          </a:p>
        </p:txBody>
      </p:sp>
      <p:sp>
        <p:nvSpPr>
          <p:cNvPr id="96" name="Text 16">
            <a:extLst>
              <a:ext uri="{FF2B5EF4-FFF2-40B4-BE49-F238E27FC236}">
                <a16:creationId xmlns:a16="http://schemas.microsoft.com/office/drawing/2014/main" id="{C3AC2D68-5F4A-72E7-EE9B-65BEA36764B6}"/>
              </a:ext>
            </a:extLst>
          </p:cNvPr>
          <p:cNvSpPr/>
          <p:nvPr/>
        </p:nvSpPr>
        <p:spPr>
          <a:xfrm>
            <a:off x="640102" y="2592979"/>
            <a:ext cx="22146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66 </a:t>
            </a:r>
            <a:r>
              <a:rPr lang="en-US" sz="1200" i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</a:t>
            </a: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0DA3CA18-AF66-C684-9335-D3A212B48D42}"/>
              </a:ext>
            </a:extLst>
          </p:cNvPr>
          <p:cNvSpPr/>
          <p:nvPr/>
        </p:nvSpPr>
        <p:spPr>
          <a:xfrm>
            <a:off x="2538871" y="2153773"/>
            <a:ext cx="22146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 2026</a:t>
            </a:r>
            <a:b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230,2 k€</a:t>
            </a: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3E2F2D8D-5403-12E2-9EB8-826F5895A200}"/>
              </a:ext>
            </a:extLst>
          </p:cNvPr>
          <p:cNvSpPr/>
          <p:nvPr/>
        </p:nvSpPr>
        <p:spPr>
          <a:xfrm>
            <a:off x="2540275" y="2699838"/>
            <a:ext cx="22146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0E7C86"/>
              </a:solidFill>
            </a:endParaRPr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2D592A58-3210-DC43-15B5-CA70FE97DB90}"/>
              </a:ext>
            </a:extLst>
          </p:cNvPr>
          <p:cNvSpPr/>
          <p:nvPr/>
        </p:nvSpPr>
        <p:spPr>
          <a:xfrm>
            <a:off x="2510908" y="2608997"/>
            <a:ext cx="22146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</a:t>
            </a: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</a:t>
            </a:r>
            <a:b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62,1 k€</a:t>
            </a:r>
            <a:endParaRPr lang="en-US" sz="1200" dirty="0">
              <a:solidFill>
                <a:srgbClr val="0E7C86"/>
              </a:solidFill>
            </a:endParaRP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D4168EA2-AF1E-CE9B-2BC5-2C7369BFFF58}"/>
              </a:ext>
            </a:extLst>
          </p:cNvPr>
          <p:cNvGrpSpPr/>
          <p:nvPr/>
        </p:nvGrpSpPr>
        <p:grpSpPr>
          <a:xfrm>
            <a:off x="4182194" y="2248381"/>
            <a:ext cx="1582481" cy="528922"/>
            <a:chOff x="10060292" y="5685415"/>
            <a:chExt cx="1582481" cy="528922"/>
          </a:xfrm>
        </p:grpSpPr>
        <p:sp>
          <p:nvSpPr>
            <p:cNvPr id="106" name="Shape 15">
              <a:extLst>
                <a:ext uri="{FF2B5EF4-FFF2-40B4-BE49-F238E27FC236}">
                  <a16:creationId xmlns:a16="http://schemas.microsoft.com/office/drawing/2014/main" id="{8AC279A4-E9D9-DE8C-9510-714FDA17B0CC}"/>
                </a:ext>
              </a:extLst>
            </p:cNvPr>
            <p:cNvSpPr/>
            <p:nvPr/>
          </p:nvSpPr>
          <p:spPr>
            <a:xfrm>
              <a:off x="10204811" y="5685415"/>
              <a:ext cx="137160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>
                <a:solidFill>
                  <a:srgbClr val="0E7C86"/>
                </a:solidFill>
              </a:endParaRPr>
            </a:p>
          </p:txBody>
        </p:sp>
        <p:sp>
          <p:nvSpPr>
            <p:cNvPr id="107" name="Text 9">
              <a:extLst>
                <a:ext uri="{FF2B5EF4-FFF2-40B4-BE49-F238E27FC236}">
                  <a16:creationId xmlns:a16="http://schemas.microsoft.com/office/drawing/2014/main" id="{8F73EF1F-38A4-4F9D-F6E8-6401B2352B78}"/>
                </a:ext>
              </a:extLst>
            </p:cNvPr>
            <p:cNvSpPr/>
            <p:nvPr/>
          </p:nvSpPr>
          <p:spPr>
            <a:xfrm>
              <a:off x="10060292" y="5702273"/>
              <a:ext cx="1582481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148 clients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50"/>
                  </a:solidFill>
                </a:rPr>
                <a:t>▼</a:t>
              </a:r>
              <a:r>
                <a:rPr lang="en-US" sz="1600" b="1" dirty="0">
                  <a:solidFill>
                    <a:srgbClr val="C0392B"/>
                  </a:solidFill>
                </a:rPr>
                <a:t> </a:t>
              </a:r>
              <a:r>
                <a:rPr lang="en-US" sz="1600" b="1" dirty="0">
                  <a:solidFill>
                    <a:srgbClr val="00B050"/>
                  </a:solidFill>
                </a:rPr>
                <a:t>-4,7%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sp>
        <p:nvSpPr>
          <p:cNvPr id="24" name="Text 16">
            <a:extLst>
              <a:ext uri="{FF2B5EF4-FFF2-40B4-BE49-F238E27FC236}">
                <a16:creationId xmlns:a16="http://schemas.microsoft.com/office/drawing/2014/main" id="{856020ED-6D02-DBB2-4B51-9411B9DEB64A}"/>
              </a:ext>
            </a:extLst>
          </p:cNvPr>
          <p:cNvSpPr/>
          <p:nvPr/>
        </p:nvSpPr>
        <p:spPr>
          <a:xfrm>
            <a:off x="1432965" y="4991079"/>
            <a:ext cx="2214620" cy="48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2,5 </a:t>
            </a:r>
            <a:r>
              <a:rPr lang="en-US" sz="2400" b="1" dirty="0" err="1">
                <a:solidFill>
                  <a:srgbClr val="0E7C86"/>
                </a:solidFill>
                <a:latin typeface="Cambria" pitchFamily="34" charset="0"/>
                <a:ea typeface="Calibri" pitchFamily="34" charset="-122"/>
                <a:cs typeface="Calibri" pitchFamily="34" charset="-120"/>
              </a:rPr>
              <a:t>jours</a:t>
            </a:r>
            <a:endParaRPr lang="en-US" sz="2400" b="1" dirty="0">
              <a:solidFill>
                <a:srgbClr val="0E7C86"/>
              </a:solidFill>
              <a:latin typeface="Cambria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Grand écran</PresentationFormat>
  <Paragraphs>149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Calibri</vt:lpstr>
      <vt:lpstr>Cambria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Bourricat</dc:creator>
  <cp:lastModifiedBy>Antoine Bourricat</cp:lastModifiedBy>
  <cp:revision>8</cp:revision>
  <dcterms:created xsi:type="dcterms:W3CDTF">2026-09-21T10:53:12Z</dcterms:created>
  <dcterms:modified xsi:type="dcterms:W3CDTF">2026-09-21T12:56:37Z</dcterms:modified>
</cp:coreProperties>
</file>