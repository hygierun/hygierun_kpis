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2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588A7-DD43-45B7-B375-B6CC0BEAB3B4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5AC90-8885-42E7-851E-E8AF80FB9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23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03749-FF07-1F02-21D5-DDB23D007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027784-8D61-0720-B3B0-75AA1B19A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2CA174-01F0-FC3A-EBD2-26DE9C08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7D67B9-86DC-E492-CD1B-C0813F0B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BE0410-863B-4A25-478E-1DBBC930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47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03BF3-6FC8-EAB5-2C44-05B0CC51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084EFB-CB13-781C-BF8F-958A163A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F3D4DC-8C31-5280-63D0-ACCCE555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BE357B-FACF-F0C1-CB90-DF32B5BF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E5BC19-9273-FE4A-A85D-D0EF35DD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15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03C4F6-6E8B-A776-5C3A-2AC62BB0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EFF0EC-EBBE-2579-87AB-30C14D997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047B00-3E42-BECD-88EA-F66D3772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3ED4CE-620A-ABC8-5102-FF49212B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046C2-D2AE-3FDA-07D6-055B5ABE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34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3C527-C550-CC34-DA0A-40A6EF98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B0C798-A174-87F9-EEBB-3565D484E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F24A38-2355-7373-8132-7CD3425D8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D272E6-299F-73AF-263E-4F5CBCF9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942736-23FB-95A3-2D56-3A61436B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108BA0-28BF-ED20-D64D-61A9B150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89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40EA79-41A3-CC95-A1F9-A7C6F71C5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D36D80-7F1D-A315-1385-ACFC968B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59C99C-F384-8344-08A1-B4B4626C9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9123B7-8E52-A50A-C892-9FFB6ACB7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0044B07-F551-E391-B345-937434C01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461573-4EB6-907B-4036-D3730E08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3E2106-A47B-58DD-FC31-C1BFD50A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58823A-A4B2-7746-3D20-D25DE010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34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55C3A-D0D5-9204-0DA7-3A516809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9D788A6-DA68-FC96-D616-2ADA5BED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846111-DDAF-CD40-63F1-D3FD6042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858BEF-EA0D-EA5C-6C16-33EF39B5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42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076F45-1EA6-CEBF-3494-B134AB37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E6E828-3986-7AD3-67B3-B3D6AC55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3A3C0F-2CE2-26C2-D333-1D8096EA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38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7C0BA-B416-DD6A-7288-18B94658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AFF71E-F0F1-EAF8-9EA5-6AAFA73D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8A94C9-8C49-9A21-06FD-B4CE5369C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2B816B-1EC2-2E7F-FBAD-2A19F8EB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9D0D53-53A1-1543-C60C-65808FD3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D56A81-166F-7384-0606-F2EE6C6A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92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EDC16-8C4E-ED03-4A27-DF64B6857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5D2749-8560-023D-75E4-C11DC13F9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18CEB4-3A3D-EF5C-DD20-72256259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797845-86A1-6809-8054-19C5E98E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C4185A-7DF4-9BAA-1409-60FE9E1C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44CCBB-769E-D60A-B990-A3212930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86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C88C5-F709-A01C-3ADA-A9A4EDAC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ED2FA4-AADC-3A89-E49F-B8B5E2C1C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D62382-CCB8-695F-7EFC-714B1DDE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DA054D-811C-3294-944C-20B4D7ED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9F164B-DEFC-F18C-F412-9F1F4BBB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50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8459708-E888-22AC-2F50-260ABBAE6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80CD66-CF05-0F45-5966-F2A71093F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FE1E03-EC2E-A379-8D03-FA80DCB2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A115B7-357C-B1F5-B842-43BB13D4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67E79F-99E1-9D95-132A-A631BB4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432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54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51967D6-2F66-8D28-7566-20FC4E66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AF9B3-19A3-DFAE-7AC5-D21AD89C9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F0637F-074B-685B-CC62-5DDDF2B76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56091-EE6E-465A-9046-2A2EAB629F6D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5AC57D-A075-6111-D059-65875288A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E01B91-7B47-D255-FD14-2ECD81C8C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59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267FC0D3-6C28-FB4F-27AF-42DCF14E7052}"/>
              </a:ext>
            </a:extLst>
          </p:cNvPr>
          <p:cNvSpPr/>
          <p:nvPr/>
        </p:nvSpPr>
        <p:spPr>
          <a:xfrm>
            <a:off x="5602507" y="418536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960007CB-9D10-A600-0A00-C1A4FA606540}"/>
              </a:ext>
            </a:extLst>
          </p:cNvPr>
          <p:cNvSpPr txBox="1"/>
          <p:nvPr/>
        </p:nvSpPr>
        <p:spPr>
          <a:xfrm>
            <a:off x="4035439" y="3057315"/>
            <a:ext cx="2990088" cy="22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endParaRPr lang="fr-FR" dirty="0"/>
          </a:p>
        </p:txBody>
      </p:sp>
      <p:sp>
        <p:nvSpPr>
          <p:cNvPr id="124" name="Shape 19">
            <a:extLst>
              <a:ext uri="{FF2B5EF4-FFF2-40B4-BE49-F238E27FC236}">
                <a16:creationId xmlns:a16="http://schemas.microsoft.com/office/drawing/2014/main" id="{C0080AF5-0053-46AC-2A57-E87784D809C0}"/>
              </a:ext>
            </a:extLst>
          </p:cNvPr>
          <p:cNvSpPr/>
          <p:nvPr/>
        </p:nvSpPr>
        <p:spPr>
          <a:xfrm>
            <a:off x="3982325" y="2629730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26" name="Shape 20">
            <a:extLst>
              <a:ext uri="{FF2B5EF4-FFF2-40B4-BE49-F238E27FC236}">
                <a16:creationId xmlns:a16="http://schemas.microsoft.com/office/drawing/2014/main" id="{7532F9CE-EF33-38C9-4C12-20F26FAD3F3B}"/>
              </a:ext>
            </a:extLst>
          </p:cNvPr>
          <p:cNvSpPr/>
          <p:nvPr/>
        </p:nvSpPr>
        <p:spPr>
          <a:xfrm>
            <a:off x="4210925" y="286434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28" name="Text 21">
            <a:extLst>
              <a:ext uri="{FF2B5EF4-FFF2-40B4-BE49-F238E27FC236}">
                <a16:creationId xmlns:a16="http://schemas.microsoft.com/office/drawing/2014/main" id="{5A3653CA-6583-FEA1-48ED-40D77427641A}"/>
              </a:ext>
            </a:extLst>
          </p:cNvPr>
          <p:cNvSpPr/>
          <p:nvPr/>
        </p:nvSpPr>
        <p:spPr>
          <a:xfrm>
            <a:off x="4439525" y="2763764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(Neo)</a:t>
            </a:r>
            <a:endParaRPr lang="en-US" sz="1300" dirty="0"/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45522933-911B-28CA-3841-D4E4D289F3CB}"/>
              </a:ext>
            </a:extLst>
          </p:cNvPr>
          <p:cNvSpPr/>
          <p:nvPr/>
        </p:nvSpPr>
        <p:spPr>
          <a:xfrm>
            <a:off x="4148550" y="3061858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157 u</a:t>
            </a:r>
            <a:endParaRPr lang="en-US" sz="2400" dirty="0"/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DF1348C7-5283-C7CD-579D-DDDE06B16226}"/>
              </a:ext>
            </a:extLst>
          </p:cNvPr>
          <p:cNvSpPr txBox="1"/>
          <p:nvPr/>
        </p:nvSpPr>
        <p:spPr>
          <a:xfrm>
            <a:off x="4058525" y="4205419"/>
            <a:ext cx="3108960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KPI / SAV / TCD  / filtres article = 13045+13047+13049+13080 (SAV) et 40742 (EBC)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D8D99D53-0FB7-5407-EEFB-5CC4FD3DB705}"/>
              </a:ext>
            </a:extLst>
          </p:cNvPr>
          <p:cNvGrpSpPr/>
          <p:nvPr/>
        </p:nvGrpSpPr>
        <p:grpSpPr>
          <a:xfrm>
            <a:off x="5114172" y="3095534"/>
            <a:ext cx="1972542" cy="1001040"/>
            <a:chOff x="4981950" y="1993366"/>
            <a:chExt cx="1972542" cy="1001040"/>
          </a:xfrm>
        </p:grpSpPr>
        <p:sp>
          <p:nvSpPr>
            <p:cNvPr id="132" name="Shape 23">
              <a:extLst>
                <a:ext uri="{FF2B5EF4-FFF2-40B4-BE49-F238E27FC236}">
                  <a16:creationId xmlns:a16="http://schemas.microsoft.com/office/drawing/2014/main" id="{A7F36B56-2215-28BA-F40D-B6A900CA523F}"/>
                </a:ext>
              </a:extLst>
            </p:cNvPr>
            <p:cNvSpPr/>
            <p:nvPr/>
          </p:nvSpPr>
          <p:spPr>
            <a:xfrm>
              <a:off x="4981950" y="1993366"/>
              <a:ext cx="1972542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7692ED6C-85DA-FA4F-391A-E7387E6F0B43}"/>
                </a:ext>
              </a:extLst>
            </p:cNvPr>
            <p:cNvGrpSpPr/>
            <p:nvPr/>
          </p:nvGrpSpPr>
          <p:grpSpPr>
            <a:xfrm>
              <a:off x="5161821" y="1993366"/>
              <a:ext cx="1702469" cy="1001040"/>
              <a:chOff x="5161821" y="1993366"/>
              <a:chExt cx="1702469" cy="1001040"/>
            </a:xfrm>
          </p:grpSpPr>
          <p:sp>
            <p:nvSpPr>
              <p:cNvPr id="134" name="Text 24">
                <a:extLst>
                  <a:ext uri="{FF2B5EF4-FFF2-40B4-BE49-F238E27FC236}">
                    <a16:creationId xmlns:a16="http://schemas.microsoft.com/office/drawing/2014/main" id="{3494FA12-0C5D-01C9-A4B1-D6076D9C58F7}"/>
                  </a:ext>
                </a:extLst>
              </p:cNvPr>
              <p:cNvSpPr/>
              <p:nvPr/>
            </p:nvSpPr>
            <p:spPr>
              <a:xfrm>
                <a:off x="6010199" y="2392045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92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−30 %</a:t>
                </a:r>
                <a:endParaRPr lang="en-US" sz="800" dirty="0"/>
              </a:p>
            </p:txBody>
          </p:sp>
          <p:sp>
            <p:nvSpPr>
              <p:cNvPr id="138" name="Text 22">
                <a:extLst>
                  <a:ext uri="{FF2B5EF4-FFF2-40B4-BE49-F238E27FC236}">
                    <a16:creationId xmlns:a16="http://schemas.microsoft.com/office/drawing/2014/main" id="{2CF30576-33F7-5F82-EE8F-4E7FFB90F651}"/>
                  </a:ext>
                </a:extLst>
              </p:cNvPr>
              <p:cNvSpPr/>
              <p:nvPr/>
            </p:nvSpPr>
            <p:spPr>
              <a:xfrm>
                <a:off x="5210550" y="2014106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93 EBC</a:t>
                </a:r>
                <a:endParaRPr lang="en-US" sz="1400" dirty="0"/>
              </a:p>
            </p:txBody>
          </p:sp>
          <p:sp>
            <p:nvSpPr>
              <p:cNvPr id="140" name="Text 22">
                <a:extLst>
                  <a:ext uri="{FF2B5EF4-FFF2-40B4-BE49-F238E27FC236}">
                    <a16:creationId xmlns:a16="http://schemas.microsoft.com/office/drawing/2014/main" id="{3D83D43A-16A0-39A4-6AFC-97590A4221C3}"/>
                  </a:ext>
                </a:extLst>
              </p:cNvPr>
              <p:cNvSpPr/>
              <p:nvPr/>
            </p:nvSpPr>
            <p:spPr>
              <a:xfrm>
                <a:off x="5161821" y="2387513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64 SAV</a:t>
                </a:r>
                <a:endParaRPr lang="en-US" sz="1400" dirty="0"/>
              </a:p>
            </p:txBody>
          </p:sp>
          <p:sp>
            <p:nvSpPr>
              <p:cNvPr id="142" name="Text 24">
                <a:extLst>
                  <a:ext uri="{FF2B5EF4-FFF2-40B4-BE49-F238E27FC236}">
                    <a16:creationId xmlns:a16="http://schemas.microsoft.com/office/drawing/2014/main" id="{4F1E0741-4CF8-0284-1076-70253B73EA02}"/>
                  </a:ext>
                </a:extLst>
              </p:cNvPr>
              <p:cNvSpPr/>
              <p:nvPr/>
            </p:nvSpPr>
            <p:spPr>
              <a:xfrm>
                <a:off x="5999622" y="1993366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48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2E7D32"/>
                    </a:solidFill>
                  </a:rPr>
                  <a:t>▲ +94 %</a:t>
                </a:r>
                <a:endParaRPr lang="en-US" sz="800" dirty="0"/>
              </a:p>
            </p:txBody>
          </p:sp>
        </p:grpSp>
      </p:grpSp>
      <p:sp>
        <p:nvSpPr>
          <p:cNvPr id="144" name="Shape 23">
            <a:extLst>
              <a:ext uri="{FF2B5EF4-FFF2-40B4-BE49-F238E27FC236}">
                <a16:creationId xmlns:a16="http://schemas.microsoft.com/office/drawing/2014/main" id="{33EA8B37-571D-D7C8-A755-1E2F8438E369}"/>
              </a:ext>
            </a:extLst>
          </p:cNvPr>
          <p:cNvSpPr/>
          <p:nvPr/>
        </p:nvSpPr>
        <p:spPr>
          <a:xfrm>
            <a:off x="4101950" y="3538224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46" name="Text 24">
            <a:extLst>
              <a:ext uri="{FF2B5EF4-FFF2-40B4-BE49-F238E27FC236}">
                <a16:creationId xmlns:a16="http://schemas.microsoft.com/office/drawing/2014/main" id="{C53EB6A2-915F-0D53-CA60-5F39880627DC}"/>
              </a:ext>
            </a:extLst>
          </p:cNvPr>
          <p:cNvSpPr/>
          <p:nvPr/>
        </p:nvSpPr>
        <p:spPr>
          <a:xfrm>
            <a:off x="4101950" y="3486035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140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050" b="1" dirty="0">
                <a:solidFill>
                  <a:srgbClr val="2E7D32"/>
                </a:solidFill>
              </a:rPr>
              <a:t>▲ +12%</a:t>
            </a:r>
            <a:endParaRPr lang="en-US" sz="8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25523B4E-B6B9-C958-4850-D9C2E8EA4608}"/>
              </a:ext>
            </a:extLst>
          </p:cNvPr>
          <p:cNvSpPr/>
          <p:nvPr/>
        </p:nvSpPr>
        <p:spPr>
          <a:xfrm>
            <a:off x="7359253" y="1478382"/>
            <a:ext cx="4534233" cy="2629891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7031200-F51E-2C82-9DC2-2A065B3D91BB}"/>
              </a:ext>
            </a:extLst>
          </p:cNvPr>
          <p:cNvSpPr/>
          <p:nvPr/>
        </p:nvSpPr>
        <p:spPr>
          <a:xfrm>
            <a:off x="7815438" y="1466739"/>
            <a:ext cx="3956642" cy="39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(=Main d’oeuvre /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Fiches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d’inter</a:t>
            </a:r>
            <a:endParaRPr lang="en-US" sz="13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E4BD9F57-63E9-D092-05D8-B92E991C6820}"/>
              </a:ext>
            </a:extLst>
          </p:cNvPr>
          <p:cNvSpPr/>
          <p:nvPr/>
        </p:nvSpPr>
        <p:spPr>
          <a:xfrm>
            <a:off x="7471408" y="1611833"/>
            <a:ext cx="146304" cy="146304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4C8FCF6-64EB-082A-934F-3AC88D1F19AE}"/>
              </a:ext>
            </a:extLst>
          </p:cNvPr>
          <p:cNvSpPr txBox="1"/>
          <p:nvPr/>
        </p:nvSpPr>
        <p:spPr>
          <a:xfrm>
            <a:off x="7430939" y="6315386"/>
            <a:ext cx="44135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7030A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tarifaire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MO non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compte par Laetitia.. A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regarder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ds le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endParaRPr lang="en-US" sz="1100" i="1" dirty="0">
              <a:solidFill>
                <a:srgbClr val="7030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6B6D2BF3-BB2F-C3E0-E2B8-F4D8A44F184F}"/>
              </a:ext>
            </a:extLst>
          </p:cNvPr>
          <p:cNvGraphicFramePr>
            <a:graphicFrameLocks noGrp="1"/>
          </p:cNvGraphicFramePr>
          <p:nvPr/>
        </p:nvGraphicFramePr>
        <p:xfrm>
          <a:off x="7776365" y="1841467"/>
          <a:ext cx="3763987" cy="187242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52349">
                  <a:extLst>
                    <a:ext uri="{9D8B030D-6E8A-4147-A177-3AD203B41FA5}">
                      <a16:colId xmlns:a16="http://schemas.microsoft.com/office/drawing/2014/main" val="1003669027"/>
                    </a:ext>
                  </a:extLst>
                </a:gridCol>
                <a:gridCol w="649512">
                  <a:extLst>
                    <a:ext uri="{9D8B030D-6E8A-4147-A177-3AD203B41FA5}">
                      <a16:colId xmlns:a16="http://schemas.microsoft.com/office/drawing/2014/main" val="189703816"/>
                    </a:ext>
                  </a:extLst>
                </a:gridCol>
                <a:gridCol w="813970">
                  <a:extLst>
                    <a:ext uri="{9D8B030D-6E8A-4147-A177-3AD203B41FA5}">
                      <a16:colId xmlns:a16="http://schemas.microsoft.com/office/drawing/2014/main" val="2090279100"/>
                    </a:ext>
                  </a:extLst>
                </a:gridCol>
                <a:gridCol w="748156">
                  <a:extLst>
                    <a:ext uri="{9D8B030D-6E8A-4147-A177-3AD203B41FA5}">
                      <a16:colId xmlns:a16="http://schemas.microsoft.com/office/drawing/2014/main" val="1425829101"/>
                    </a:ext>
                  </a:extLst>
                </a:gridCol>
              </a:tblGrid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EBC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SAV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367888"/>
                  </a:ext>
                </a:extLst>
              </a:tr>
              <a:tr h="6105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heures travaillées </a:t>
                      </a:r>
                      <a:r>
                        <a:rPr lang="fr-FR" sz="1400" b="1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280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287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567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6300375"/>
                  </a:ext>
                </a:extLst>
              </a:tr>
              <a:tr h="6105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heures interventions </a:t>
                      </a:r>
                      <a:r>
                        <a:rPr lang="fr-FR" sz="1400" b="1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81,5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230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391207"/>
                  </a:ext>
                </a:extLst>
              </a:tr>
              <a:tr h="3256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Productivité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2A6F4E"/>
                          </a:solidFill>
                          <a:effectLst/>
                          <a:latin typeface="Aptos Narrow" panose="020B0004020202020204" pitchFamily="34" charset="0"/>
                        </a:rPr>
                        <a:t>53%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28%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41%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839779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5B76C26F-C214-BA41-294A-237B83758C29}"/>
              </a:ext>
            </a:extLst>
          </p:cNvPr>
          <p:cNvSpPr txBox="1"/>
          <p:nvPr/>
        </p:nvSpPr>
        <p:spPr>
          <a:xfrm>
            <a:off x="7617712" y="3768394"/>
            <a:ext cx="3956643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/ Fiches d’interventions Claude + TCD</a:t>
            </a:r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9408C056-B7E3-4FEB-1AF3-301953E71396}"/>
              </a:ext>
            </a:extLst>
          </p:cNvPr>
          <p:cNvSpPr/>
          <p:nvPr/>
        </p:nvSpPr>
        <p:spPr>
          <a:xfrm>
            <a:off x="5585657" y="4815329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1D56E7BB-4C42-24B7-449E-BC7FB701BDBC}"/>
              </a:ext>
            </a:extLst>
          </p:cNvPr>
          <p:cNvSpPr txBox="1"/>
          <p:nvPr/>
        </p:nvSpPr>
        <p:spPr>
          <a:xfrm>
            <a:off x="4083067" y="4582617"/>
            <a:ext cx="2990088" cy="226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endParaRPr lang="fr-FR" dirty="0"/>
          </a:p>
        </p:txBody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B0F0C9A9-8EC6-3530-F314-D3AB7D1A667A}"/>
              </a:ext>
            </a:extLst>
          </p:cNvPr>
          <p:cNvSpPr/>
          <p:nvPr/>
        </p:nvSpPr>
        <p:spPr>
          <a:xfrm>
            <a:off x="3987425" y="4709941"/>
            <a:ext cx="3276600" cy="192778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69" name="Shape 20">
            <a:extLst>
              <a:ext uri="{FF2B5EF4-FFF2-40B4-BE49-F238E27FC236}">
                <a16:creationId xmlns:a16="http://schemas.microsoft.com/office/drawing/2014/main" id="{44952A5B-E2DF-D344-629A-8E2B08F84A4E}"/>
              </a:ext>
            </a:extLst>
          </p:cNvPr>
          <p:cNvSpPr/>
          <p:nvPr/>
        </p:nvSpPr>
        <p:spPr>
          <a:xfrm>
            <a:off x="4194866" y="493683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DC291384-EFEA-D8BF-D2B7-5D0B2E27E453}"/>
              </a:ext>
            </a:extLst>
          </p:cNvPr>
          <p:cNvSpPr/>
          <p:nvPr/>
        </p:nvSpPr>
        <p:spPr>
          <a:xfrm>
            <a:off x="4444625" y="4843975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d’oeuvre (Neo)</a:t>
            </a:r>
            <a:endParaRPr lang="en-US" sz="1300" dirty="0"/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52598924-879B-96BF-5D89-DC5863E31172}"/>
              </a:ext>
            </a:extLst>
          </p:cNvPr>
          <p:cNvSpPr/>
          <p:nvPr/>
        </p:nvSpPr>
        <p:spPr>
          <a:xfrm>
            <a:off x="4153650" y="5142069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251,5h</a:t>
            </a:r>
            <a:endParaRPr lang="en-US" sz="2400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447AB24A-02E4-ACB3-95E2-2A6B877F8F3C}"/>
              </a:ext>
            </a:extLst>
          </p:cNvPr>
          <p:cNvSpPr txBox="1"/>
          <p:nvPr/>
        </p:nvSpPr>
        <p:spPr>
          <a:xfrm>
            <a:off x="4063625" y="6285630"/>
            <a:ext cx="3108960" cy="2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KPI / SAV / TCD  / filtres article = 13045+13047+13049+13080 (SAV) et 40742 (EBC)</a:t>
            </a:r>
          </a:p>
        </p:txBody>
      </p: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BFE17345-B79B-220F-4B36-7E15FEA87C56}"/>
              </a:ext>
            </a:extLst>
          </p:cNvPr>
          <p:cNvGrpSpPr/>
          <p:nvPr/>
        </p:nvGrpSpPr>
        <p:grpSpPr>
          <a:xfrm>
            <a:off x="5119272" y="5175745"/>
            <a:ext cx="1972542" cy="1001040"/>
            <a:chOff x="4981950" y="1993366"/>
            <a:chExt cx="1972542" cy="1001040"/>
          </a:xfrm>
        </p:grpSpPr>
        <p:sp>
          <p:nvSpPr>
            <p:cNvPr id="75" name="Shape 23">
              <a:extLst>
                <a:ext uri="{FF2B5EF4-FFF2-40B4-BE49-F238E27FC236}">
                  <a16:creationId xmlns:a16="http://schemas.microsoft.com/office/drawing/2014/main" id="{9FF6A94F-A158-6AED-41F1-146FF725DFCF}"/>
                </a:ext>
              </a:extLst>
            </p:cNvPr>
            <p:cNvSpPr/>
            <p:nvPr/>
          </p:nvSpPr>
          <p:spPr>
            <a:xfrm>
              <a:off x="4981950" y="1993366"/>
              <a:ext cx="1972542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447A2EA8-61C2-3EE7-8A9A-6BDCFA2EE58D}"/>
                </a:ext>
              </a:extLst>
            </p:cNvPr>
            <p:cNvGrpSpPr/>
            <p:nvPr/>
          </p:nvGrpSpPr>
          <p:grpSpPr>
            <a:xfrm>
              <a:off x="5161821" y="1993366"/>
              <a:ext cx="1702469" cy="1001040"/>
              <a:chOff x="5161821" y="1993366"/>
              <a:chExt cx="1702469" cy="1001040"/>
            </a:xfrm>
          </p:grpSpPr>
          <p:sp>
            <p:nvSpPr>
              <p:cNvPr id="77" name="Text 24">
                <a:extLst>
                  <a:ext uri="{FF2B5EF4-FFF2-40B4-BE49-F238E27FC236}">
                    <a16:creationId xmlns:a16="http://schemas.microsoft.com/office/drawing/2014/main" id="{9CFCCA8F-226B-7E8B-47A9-D5BC5D1D3707}"/>
                  </a:ext>
                </a:extLst>
              </p:cNvPr>
              <p:cNvSpPr/>
              <p:nvPr/>
            </p:nvSpPr>
            <p:spPr>
              <a:xfrm>
                <a:off x="6010199" y="2392045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129,5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−12 %</a:t>
                </a:r>
                <a:endParaRPr lang="en-US" sz="800" dirty="0"/>
              </a:p>
            </p:txBody>
          </p:sp>
          <p:sp>
            <p:nvSpPr>
              <p:cNvPr id="78" name="Text 22">
                <a:extLst>
                  <a:ext uri="{FF2B5EF4-FFF2-40B4-BE49-F238E27FC236}">
                    <a16:creationId xmlns:a16="http://schemas.microsoft.com/office/drawing/2014/main" id="{902C385D-30A5-B537-8FD1-5C7B1F7B5FD0}"/>
                  </a:ext>
                </a:extLst>
              </p:cNvPr>
              <p:cNvSpPr/>
              <p:nvPr/>
            </p:nvSpPr>
            <p:spPr>
              <a:xfrm>
                <a:off x="5210550" y="2014106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144 EBC</a:t>
                </a:r>
                <a:endParaRPr lang="en-US" sz="1400" dirty="0"/>
              </a:p>
            </p:txBody>
          </p:sp>
          <p:sp>
            <p:nvSpPr>
              <p:cNvPr id="79" name="Text 22">
                <a:extLst>
                  <a:ext uri="{FF2B5EF4-FFF2-40B4-BE49-F238E27FC236}">
                    <a16:creationId xmlns:a16="http://schemas.microsoft.com/office/drawing/2014/main" id="{0ED0AC53-7502-216D-C1F9-48335917D9D3}"/>
                  </a:ext>
                </a:extLst>
              </p:cNvPr>
              <p:cNvSpPr/>
              <p:nvPr/>
            </p:nvSpPr>
            <p:spPr>
              <a:xfrm>
                <a:off x="5161821" y="2387513"/>
                <a:ext cx="903246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107,5 SAV</a:t>
                </a:r>
                <a:endParaRPr lang="en-US" sz="1400" dirty="0"/>
              </a:p>
            </p:txBody>
          </p:sp>
          <p:sp>
            <p:nvSpPr>
              <p:cNvPr id="80" name="Text 24">
                <a:extLst>
                  <a:ext uri="{FF2B5EF4-FFF2-40B4-BE49-F238E27FC236}">
                    <a16:creationId xmlns:a16="http://schemas.microsoft.com/office/drawing/2014/main" id="{30DE95ED-5D49-1E3B-C58A-7C0326A39FA5}"/>
                  </a:ext>
                </a:extLst>
              </p:cNvPr>
              <p:cNvSpPr/>
              <p:nvPr/>
            </p:nvSpPr>
            <p:spPr>
              <a:xfrm>
                <a:off x="5999622" y="1993366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164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−16 %</a:t>
                </a:r>
                <a:endParaRPr lang="en-US" sz="800" dirty="0"/>
              </a:p>
            </p:txBody>
          </p:sp>
        </p:grpSp>
      </p:grpSp>
      <p:sp>
        <p:nvSpPr>
          <p:cNvPr id="81" name="Shape 23">
            <a:extLst>
              <a:ext uri="{FF2B5EF4-FFF2-40B4-BE49-F238E27FC236}">
                <a16:creationId xmlns:a16="http://schemas.microsoft.com/office/drawing/2014/main" id="{0818CA49-BB31-3A8E-C447-587377127C56}"/>
              </a:ext>
            </a:extLst>
          </p:cNvPr>
          <p:cNvSpPr/>
          <p:nvPr/>
        </p:nvSpPr>
        <p:spPr>
          <a:xfrm>
            <a:off x="4134396" y="5625906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099D8CCD-07AC-7348-5123-C692853CE29C}"/>
              </a:ext>
            </a:extLst>
          </p:cNvPr>
          <p:cNvSpPr/>
          <p:nvPr/>
        </p:nvSpPr>
        <p:spPr>
          <a:xfrm>
            <a:off x="4107050" y="5566246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293,5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050" b="1" dirty="0">
                <a:solidFill>
                  <a:srgbClr val="C0392B"/>
                </a:solidFill>
              </a:rPr>
              <a:t>▼ −14 %</a:t>
            </a:r>
            <a:endParaRPr lang="en-US" sz="8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5572A70-BC71-6F4F-9DE8-2AE8C71B6BAF}"/>
              </a:ext>
            </a:extLst>
          </p:cNvPr>
          <p:cNvSpPr txBox="1"/>
          <p:nvPr/>
        </p:nvSpPr>
        <p:spPr>
          <a:xfrm>
            <a:off x="4045975" y="781918"/>
            <a:ext cx="752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Nb heures intervention Neo pas la même que via fiche inter pour SAV : 107,5 h vs 81,5</a:t>
            </a:r>
          </a:p>
        </p:txBody>
      </p:sp>
      <p:sp>
        <p:nvSpPr>
          <p:cNvPr id="12" name="Shape 4"/>
          <p:cNvSpPr/>
          <p:nvPr/>
        </p:nvSpPr>
        <p:spPr>
          <a:xfrm>
            <a:off x="4008177" y="1100109"/>
            <a:ext cx="3200299" cy="1473898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2" name="Shape 5"/>
          <p:cNvSpPr/>
          <p:nvPr/>
        </p:nvSpPr>
        <p:spPr>
          <a:xfrm>
            <a:off x="4086527" y="1264499"/>
            <a:ext cx="146304" cy="146304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5" name="Text 6"/>
          <p:cNvSpPr/>
          <p:nvPr/>
        </p:nvSpPr>
        <p:spPr>
          <a:xfrm>
            <a:off x="4315127" y="1145627"/>
            <a:ext cx="209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d'interventions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(fiches inter)</a:t>
            </a:r>
            <a:endParaRPr lang="en-US" sz="1300" dirty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9F61FEF0-AD87-318C-3B3C-B8A05F9F6E98}"/>
              </a:ext>
            </a:extLst>
          </p:cNvPr>
          <p:cNvGrpSpPr/>
          <p:nvPr/>
        </p:nvGrpSpPr>
        <p:grpSpPr>
          <a:xfrm>
            <a:off x="4203327" y="1863241"/>
            <a:ext cx="920142" cy="544328"/>
            <a:chOff x="2548416" y="5497637"/>
            <a:chExt cx="920142" cy="544328"/>
          </a:xfrm>
        </p:grpSpPr>
        <p:sp>
          <p:nvSpPr>
            <p:cNvPr id="27" name="Shape 8"/>
            <p:cNvSpPr/>
            <p:nvPr/>
          </p:nvSpPr>
          <p:spPr>
            <a:xfrm>
              <a:off x="2555258" y="5529901"/>
              <a:ext cx="9133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400"/>
            </a:p>
          </p:txBody>
        </p:sp>
        <p:sp>
          <p:nvSpPr>
            <p:cNvPr id="28" name="Text 9"/>
            <p:cNvSpPr/>
            <p:nvPr/>
          </p:nvSpPr>
          <p:spPr>
            <a:xfrm>
              <a:off x="2548416" y="5497637"/>
              <a:ext cx="88725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i="1" dirty="0" err="1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Mois</a:t>
              </a:r>
              <a: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-1 : 134</a:t>
              </a:r>
              <a:b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+7,5%</a:t>
              </a:r>
              <a:endParaRPr lang="en-US" sz="1600" dirty="0"/>
            </a:p>
          </p:txBody>
        </p:sp>
      </p:grpSp>
      <p:sp>
        <p:nvSpPr>
          <p:cNvPr id="34" name="Text 17">
            <a:extLst>
              <a:ext uri="{FF2B5EF4-FFF2-40B4-BE49-F238E27FC236}">
                <a16:creationId xmlns:a16="http://schemas.microsoft.com/office/drawing/2014/main" id="{308832F8-124C-A82C-3441-BA5E3F900214}"/>
              </a:ext>
            </a:extLst>
          </p:cNvPr>
          <p:cNvSpPr/>
          <p:nvPr/>
        </p:nvSpPr>
        <p:spPr>
          <a:xfrm>
            <a:off x="4126770" y="1427565"/>
            <a:ext cx="10305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</a:rPr>
              <a:t>144 inter</a:t>
            </a: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D1FE4552-1F2C-6012-1BD5-741EFB619253}"/>
              </a:ext>
            </a:extLst>
          </p:cNvPr>
          <p:cNvGrpSpPr/>
          <p:nvPr/>
        </p:nvGrpSpPr>
        <p:grpSpPr>
          <a:xfrm>
            <a:off x="5364825" y="1486290"/>
            <a:ext cx="1738184" cy="1001040"/>
            <a:chOff x="5216308" y="1993366"/>
            <a:chExt cx="1738184" cy="1001040"/>
          </a:xfrm>
        </p:grpSpPr>
        <p:sp>
          <p:nvSpPr>
            <p:cNvPr id="48" name="Shape 23">
              <a:extLst>
                <a:ext uri="{FF2B5EF4-FFF2-40B4-BE49-F238E27FC236}">
                  <a16:creationId xmlns:a16="http://schemas.microsoft.com/office/drawing/2014/main" id="{FB43277D-9959-594D-55FE-C7D5EDEFAA73}"/>
                </a:ext>
              </a:extLst>
            </p:cNvPr>
            <p:cNvSpPr/>
            <p:nvPr/>
          </p:nvSpPr>
          <p:spPr>
            <a:xfrm>
              <a:off x="5216308" y="1993366"/>
              <a:ext cx="1738184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8513F3DE-8A1D-1D92-5C3A-BC58A2AD8952}"/>
                </a:ext>
              </a:extLst>
            </p:cNvPr>
            <p:cNvGrpSpPr/>
            <p:nvPr/>
          </p:nvGrpSpPr>
          <p:grpSpPr>
            <a:xfrm>
              <a:off x="5394733" y="1993366"/>
              <a:ext cx="1469557" cy="1001040"/>
              <a:chOff x="5394733" y="1993366"/>
              <a:chExt cx="1469557" cy="1001040"/>
            </a:xfrm>
          </p:grpSpPr>
          <p:sp>
            <p:nvSpPr>
              <p:cNvPr id="50" name="Text 24">
                <a:extLst>
                  <a:ext uri="{FF2B5EF4-FFF2-40B4-BE49-F238E27FC236}">
                    <a16:creationId xmlns:a16="http://schemas.microsoft.com/office/drawing/2014/main" id="{D6802774-252F-1ABE-6972-234580A11672}"/>
                  </a:ext>
                </a:extLst>
              </p:cNvPr>
              <p:cNvSpPr/>
              <p:nvPr/>
            </p:nvSpPr>
            <p:spPr>
              <a:xfrm>
                <a:off x="6010199" y="2392045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Mois-1 : 72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C0392B"/>
                    </a:solidFill>
                  </a:rPr>
                  <a:t>▼ −19 %</a:t>
                </a:r>
                <a:endParaRPr lang="en-US" sz="800" dirty="0"/>
              </a:p>
            </p:txBody>
          </p:sp>
          <p:sp>
            <p:nvSpPr>
              <p:cNvPr id="51" name="Text 22">
                <a:extLst>
                  <a:ext uri="{FF2B5EF4-FFF2-40B4-BE49-F238E27FC236}">
                    <a16:creationId xmlns:a16="http://schemas.microsoft.com/office/drawing/2014/main" id="{4A855615-A234-F271-051D-72A489FEF644}"/>
                  </a:ext>
                </a:extLst>
              </p:cNvPr>
              <p:cNvSpPr/>
              <p:nvPr/>
            </p:nvSpPr>
            <p:spPr>
              <a:xfrm>
                <a:off x="5443462" y="2014106"/>
                <a:ext cx="719063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86 EBC</a:t>
                </a:r>
                <a:endParaRPr lang="en-US" sz="1400" dirty="0"/>
              </a:p>
            </p:txBody>
          </p:sp>
          <p:sp>
            <p:nvSpPr>
              <p:cNvPr id="53" name="Text 22">
                <a:extLst>
                  <a:ext uri="{FF2B5EF4-FFF2-40B4-BE49-F238E27FC236}">
                    <a16:creationId xmlns:a16="http://schemas.microsoft.com/office/drawing/2014/main" id="{5AC510C8-EB2B-057C-A461-BAA02CFF8BAD}"/>
                  </a:ext>
                </a:extLst>
              </p:cNvPr>
              <p:cNvSpPr/>
              <p:nvPr/>
            </p:nvSpPr>
            <p:spPr>
              <a:xfrm>
                <a:off x="5394733" y="2387513"/>
                <a:ext cx="719063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58 SAV</a:t>
                </a:r>
                <a:endParaRPr lang="en-US" sz="1400" dirty="0"/>
              </a:p>
            </p:txBody>
          </p:sp>
          <p:sp>
            <p:nvSpPr>
              <p:cNvPr id="55" name="Text 24">
                <a:extLst>
                  <a:ext uri="{FF2B5EF4-FFF2-40B4-BE49-F238E27FC236}">
                    <a16:creationId xmlns:a16="http://schemas.microsoft.com/office/drawing/2014/main" id="{D67EECEE-4C4B-0915-F074-0F07E986639C}"/>
                  </a:ext>
                </a:extLst>
              </p:cNvPr>
              <p:cNvSpPr/>
              <p:nvPr/>
            </p:nvSpPr>
            <p:spPr>
              <a:xfrm>
                <a:off x="5999622" y="1993366"/>
                <a:ext cx="854091" cy="6023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95000"/>
                  </a:lnSpc>
                  <a:buNone/>
                </a:pPr>
                <a:r>
                  <a:rPr lang="en-US" sz="1050" dirty="0">
                    <a:solidFill>
                      <a:srgbClr val="8A9BA3"/>
                    </a:solidFill>
                  </a:rPr>
                  <a:t>Mois-1 : 62</a:t>
                </a:r>
                <a:endParaRPr lang="en-US" sz="1050" dirty="0"/>
              </a:p>
              <a:p>
                <a:pPr algn="ctr">
                  <a:lnSpc>
                    <a:spcPct val="95000"/>
                  </a:lnSpc>
                </a:pPr>
                <a:r>
                  <a:rPr lang="en-US" sz="1050" b="1" dirty="0">
                    <a:solidFill>
                      <a:srgbClr val="2E7D32"/>
                    </a:solidFill>
                  </a:rPr>
                  <a:t>▲ +39 %</a:t>
                </a:r>
                <a:endParaRPr lang="en-US" sz="800" dirty="0"/>
              </a:p>
            </p:txBody>
          </p:sp>
        </p:grpSp>
      </p:grpSp>
      <p:sp>
        <p:nvSpPr>
          <p:cNvPr id="57" name="Shape 4">
            <a:extLst>
              <a:ext uri="{FF2B5EF4-FFF2-40B4-BE49-F238E27FC236}">
                <a16:creationId xmlns:a16="http://schemas.microsoft.com/office/drawing/2014/main" id="{F24C5CC7-7AD1-473F-7F25-95EC4E681F96}"/>
              </a:ext>
            </a:extLst>
          </p:cNvPr>
          <p:cNvSpPr/>
          <p:nvPr/>
        </p:nvSpPr>
        <p:spPr>
          <a:xfrm>
            <a:off x="478593" y="4867437"/>
            <a:ext cx="3200299" cy="1473898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BFDFA875-5B3D-FAF7-DA3B-E94350218C0B}"/>
              </a:ext>
            </a:extLst>
          </p:cNvPr>
          <p:cNvSpPr/>
          <p:nvPr/>
        </p:nvSpPr>
        <p:spPr>
          <a:xfrm>
            <a:off x="556943" y="5031827"/>
            <a:ext cx="146304" cy="146304"/>
          </a:xfrm>
          <a:prstGeom prst="ellipse">
            <a:avLst/>
          </a:prstGeom>
          <a:solidFill>
            <a:srgbClr val="C1666B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BBD63A90-D548-530B-6BA3-B1471184F1C6}"/>
              </a:ext>
            </a:extLst>
          </p:cNvPr>
          <p:cNvSpPr/>
          <p:nvPr/>
        </p:nvSpPr>
        <p:spPr>
          <a:xfrm>
            <a:off x="785543" y="4912955"/>
            <a:ext cx="209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</a:t>
            </a:r>
            <a:endParaRPr lang="en-US" sz="1300" dirty="0"/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2F71EE45-AF44-46F4-73EF-55A2A927C83F}"/>
              </a:ext>
            </a:extLst>
          </p:cNvPr>
          <p:cNvGrpSpPr/>
          <p:nvPr/>
        </p:nvGrpSpPr>
        <p:grpSpPr>
          <a:xfrm>
            <a:off x="2417418" y="5719789"/>
            <a:ext cx="920142" cy="544328"/>
            <a:chOff x="2548416" y="5497637"/>
            <a:chExt cx="920142" cy="544328"/>
          </a:xfrm>
        </p:grpSpPr>
        <p:sp>
          <p:nvSpPr>
            <p:cNvPr id="70" name="Shape 8">
              <a:extLst>
                <a:ext uri="{FF2B5EF4-FFF2-40B4-BE49-F238E27FC236}">
                  <a16:creationId xmlns:a16="http://schemas.microsoft.com/office/drawing/2014/main" id="{F0FF6B8D-5909-6AE4-1E14-C2A6B7EF713A}"/>
                </a:ext>
              </a:extLst>
            </p:cNvPr>
            <p:cNvSpPr/>
            <p:nvPr/>
          </p:nvSpPr>
          <p:spPr>
            <a:xfrm>
              <a:off x="2555258" y="5529901"/>
              <a:ext cx="9133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400"/>
            </a:p>
          </p:txBody>
        </p:sp>
        <p:sp>
          <p:nvSpPr>
            <p:cNvPr id="83" name="Text 9">
              <a:extLst>
                <a:ext uri="{FF2B5EF4-FFF2-40B4-BE49-F238E27FC236}">
                  <a16:creationId xmlns:a16="http://schemas.microsoft.com/office/drawing/2014/main" id="{8A68F7F3-AA6F-E3DF-7C6A-2021179956CB}"/>
                </a:ext>
              </a:extLst>
            </p:cNvPr>
            <p:cNvSpPr/>
            <p:nvPr/>
          </p:nvSpPr>
          <p:spPr>
            <a:xfrm>
              <a:off x="2548416" y="5497637"/>
              <a:ext cx="88725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50" i="1" dirty="0" err="1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Mois</a:t>
              </a:r>
              <a: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-1 : 1 devis</a:t>
              </a:r>
              <a:br>
                <a:rPr lang="en-US" sz="1050" i="1" dirty="0">
                  <a:solidFill>
                    <a:srgbClr val="8A9B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600" b="1" dirty="0">
                  <a:solidFill>
                    <a:srgbClr val="C0392B"/>
                  </a:solidFill>
                </a:rPr>
                <a:t>▼ −4 %</a:t>
              </a:r>
              <a:endParaRPr lang="en-US" sz="1600" dirty="0"/>
            </a:p>
          </p:txBody>
        </p:sp>
      </p:grpSp>
      <p:sp>
        <p:nvSpPr>
          <p:cNvPr id="84" name="Text 17">
            <a:extLst>
              <a:ext uri="{FF2B5EF4-FFF2-40B4-BE49-F238E27FC236}">
                <a16:creationId xmlns:a16="http://schemas.microsoft.com/office/drawing/2014/main" id="{6509E46C-A134-2994-686C-8DDE537BACA1}"/>
              </a:ext>
            </a:extLst>
          </p:cNvPr>
          <p:cNvSpPr/>
          <p:nvPr/>
        </p:nvSpPr>
        <p:spPr>
          <a:xfrm>
            <a:off x="597186" y="5194893"/>
            <a:ext cx="10305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2400" b="1" dirty="0">
              <a:solidFill>
                <a:srgbClr val="0E7C86"/>
              </a:solidFill>
            </a:endParaRPr>
          </a:p>
        </p:txBody>
      </p: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FF6D347D-2359-3FDD-2B11-08224D3CA0F3}"/>
              </a:ext>
            </a:extLst>
          </p:cNvPr>
          <p:cNvGrpSpPr/>
          <p:nvPr/>
        </p:nvGrpSpPr>
        <p:grpSpPr>
          <a:xfrm>
            <a:off x="2424260" y="5180378"/>
            <a:ext cx="894291" cy="512064"/>
            <a:chOff x="5122531" y="1993366"/>
            <a:chExt cx="1831961" cy="889075"/>
          </a:xfrm>
        </p:grpSpPr>
        <p:sp>
          <p:nvSpPr>
            <p:cNvPr id="87" name="Shape 23">
              <a:extLst>
                <a:ext uri="{FF2B5EF4-FFF2-40B4-BE49-F238E27FC236}">
                  <a16:creationId xmlns:a16="http://schemas.microsoft.com/office/drawing/2014/main" id="{BDA4BA74-6B3A-DA4A-31E7-A361AA6A373F}"/>
                </a:ext>
              </a:extLst>
            </p:cNvPr>
            <p:cNvSpPr/>
            <p:nvPr/>
          </p:nvSpPr>
          <p:spPr>
            <a:xfrm>
              <a:off x="5216308" y="1993366"/>
              <a:ext cx="1738184" cy="889075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19C230D8-70E3-1B64-C412-B5C31316249E}"/>
                </a:ext>
              </a:extLst>
            </p:cNvPr>
            <p:cNvGrpSpPr/>
            <p:nvPr/>
          </p:nvGrpSpPr>
          <p:grpSpPr>
            <a:xfrm>
              <a:off x="5122531" y="1993366"/>
              <a:ext cx="1731185" cy="745837"/>
              <a:chOff x="5122531" y="1993366"/>
              <a:chExt cx="1731185" cy="745837"/>
            </a:xfrm>
          </p:grpSpPr>
          <p:sp>
            <p:nvSpPr>
              <p:cNvPr id="91" name="Text 22">
                <a:extLst>
                  <a:ext uri="{FF2B5EF4-FFF2-40B4-BE49-F238E27FC236}">
                    <a16:creationId xmlns:a16="http://schemas.microsoft.com/office/drawing/2014/main" id="{2C10248A-C115-2EB1-A1A9-E2C569515956}"/>
                  </a:ext>
                </a:extLst>
              </p:cNvPr>
              <p:cNvSpPr/>
              <p:nvPr/>
            </p:nvSpPr>
            <p:spPr>
              <a:xfrm>
                <a:off x="5443462" y="2014106"/>
                <a:ext cx="719063" cy="5573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endParaRPr lang="en-US" sz="1400" dirty="0"/>
              </a:p>
            </p:txBody>
          </p:sp>
          <p:sp>
            <p:nvSpPr>
              <p:cNvPr id="93" name="Text 24">
                <a:extLst>
                  <a:ext uri="{FF2B5EF4-FFF2-40B4-BE49-F238E27FC236}">
                    <a16:creationId xmlns:a16="http://schemas.microsoft.com/office/drawing/2014/main" id="{D6791C23-55DB-ECB5-F4D6-0935EDA873FF}"/>
                  </a:ext>
                </a:extLst>
              </p:cNvPr>
              <p:cNvSpPr/>
              <p:nvPr/>
            </p:nvSpPr>
            <p:spPr>
              <a:xfrm>
                <a:off x="5122531" y="1993366"/>
                <a:ext cx="1731185" cy="7458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95000"/>
                  </a:lnSpc>
                </a:pPr>
                <a:r>
                  <a:rPr lang="en-US" sz="1050" dirty="0">
                    <a:solidFill>
                      <a:srgbClr val="8A9BA3"/>
                    </a:solidFill>
                  </a:rPr>
                  <a:t>N-1 : 35 devis </a:t>
                </a:r>
                <a:br>
                  <a:rPr lang="en-US" sz="1050" dirty="0">
                    <a:solidFill>
                      <a:srgbClr val="8A9BA3"/>
                    </a:solidFill>
                  </a:rPr>
                </a:br>
                <a:r>
                  <a:rPr lang="en-US" sz="1600" b="1" dirty="0">
                    <a:solidFill>
                      <a:srgbClr val="C0392B"/>
                    </a:solidFill>
                  </a:rPr>
                  <a:t>▼ −71 %</a:t>
                </a:r>
                <a:endParaRPr lang="en-US" sz="1600" dirty="0"/>
              </a:p>
            </p:txBody>
          </p:sp>
        </p:grpSp>
      </p:grpSp>
      <p:sp>
        <p:nvSpPr>
          <p:cNvPr id="100" name="Text 17">
            <a:extLst>
              <a:ext uri="{FF2B5EF4-FFF2-40B4-BE49-F238E27FC236}">
                <a16:creationId xmlns:a16="http://schemas.microsoft.com/office/drawing/2014/main" id="{14DA5336-8C4C-D5EF-5B62-2F5594A96AAD}"/>
              </a:ext>
            </a:extLst>
          </p:cNvPr>
          <p:cNvSpPr/>
          <p:nvPr/>
        </p:nvSpPr>
        <p:spPr>
          <a:xfrm>
            <a:off x="814713" y="5254329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devis</a:t>
            </a:r>
            <a:endParaRPr lang="en-US" sz="2400" dirty="0"/>
          </a:p>
        </p:txBody>
      </p:sp>
      <p:sp>
        <p:nvSpPr>
          <p:cNvPr id="102" name="Text 17">
            <a:extLst>
              <a:ext uri="{FF2B5EF4-FFF2-40B4-BE49-F238E27FC236}">
                <a16:creationId xmlns:a16="http://schemas.microsoft.com/office/drawing/2014/main" id="{FCF46941-0383-C6BB-F1DC-8E64FD06CBCB}"/>
              </a:ext>
            </a:extLst>
          </p:cNvPr>
          <p:cNvSpPr/>
          <p:nvPr/>
        </p:nvSpPr>
        <p:spPr>
          <a:xfrm>
            <a:off x="819191" y="5759311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 k€</a:t>
            </a:r>
            <a:endParaRPr lang="en-US" sz="2400" dirty="0"/>
          </a:p>
        </p:txBody>
      </p:sp>
      <p:sp>
        <p:nvSpPr>
          <p:cNvPr id="108" name="Shape 19">
            <a:extLst>
              <a:ext uri="{FF2B5EF4-FFF2-40B4-BE49-F238E27FC236}">
                <a16:creationId xmlns:a16="http://schemas.microsoft.com/office/drawing/2014/main" id="{C097354E-A910-F3FD-6302-E4E016CC3040}"/>
              </a:ext>
            </a:extLst>
          </p:cNvPr>
          <p:cNvSpPr/>
          <p:nvPr/>
        </p:nvSpPr>
        <p:spPr>
          <a:xfrm>
            <a:off x="149348" y="1288856"/>
            <a:ext cx="3651304" cy="333486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10" name="Text 21">
            <a:extLst>
              <a:ext uri="{FF2B5EF4-FFF2-40B4-BE49-F238E27FC236}">
                <a16:creationId xmlns:a16="http://schemas.microsoft.com/office/drawing/2014/main" id="{58C4C0ED-A6C1-3D72-526F-9A50BAA360EC}"/>
              </a:ext>
            </a:extLst>
          </p:cNvPr>
          <p:cNvSpPr/>
          <p:nvPr/>
        </p:nvSpPr>
        <p:spPr>
          <a:xfrm>
            <a:off x="727220" y="1422891"/>
            <a:ext cx="2534920" cy="35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Docs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(Neo)</a:t>
            </a:r>
            <a:endParaRPr lang="en-US" sz="1300" dirty="0"/>
          </a:p>
        </p:txBody>
      </p:sp>
      <p:sp>
        <p:nvSpPr>
          <p:cNvPr id="112" name="Text 22">
            <a:extLst>
              <a:ext uri="{FF2B5EF4-FFF2-40B4-BE49-F238E27FC236}">
                <a16:creationId xmlns:a16="http://schemas.microsoft.com/office/drawing/2014/main" id="{5A3A2B06-1C0C-03EB-5F82-7676714054E8}"/>
              </a:ext>
            </a:extLst>
          </p:cNvPr>
          <p:cNvSpPr/>
          <p:nvPr/>
        </p:nvSpPr>
        <p:spPr>
          <a:xfrm>
            <a:off x="289941" y="1720985"/>
            <a:ext cx="1177398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</a:rPr>
              <a:t>159 Fact</a:t>
            </a:r>
            <a:endParaRPr lang="en-US" sz="2400" dirty="0"/>
          </a:p>
        </p:txBody>
      </p:sp>
      <p:sp>
        <p:nvSpPr>
          <p:cNvPr id="114" name="Shape 23">
            <a:extLst>
              <a:ext uri="{FF2B5EF4-FFF2-40B4-BE49-F238E27FC236}">
                <a16:creationId xmlns:a16="http://schemas.microsoft.com/office/drawing/2014/main" id="{0E60DB97-1FB9-85B9-4436-FBB89A5E259A}"/>
              </a:ext>
            </a:extLst>
          </p:cNvPr>
          <p:cNvSpPr/>
          <p:nvPr/>
        </p:nvSpPr>
        <p:spPr>
          <a:xfrm>
            <a:off x="1523357" y="1890699"/>
            <a:ext cx="2240825" cy="889075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6" name="Text 24">
            <a:extLst>
              <a:ext uri="{FF2B5EF4-FFF2-40B4-BE49-F238E27FC236}">
                <a16:creationId xmlns:a16="http://schemas.microsoft.com/office/drawing/2014/main" id="{66872774-07C9-4A64-B875-752931F7DB3B}"/>
              </a:ext>
            </a:extLst>
          </p:cNvPr>
          <p:cNvSpPr/>
          <p:nvPr/>
        </p:nvSpPr>
        <p:spPr>
          <a:xfrm>
            <a:off x="2726732" y="2235914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106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−10 %</a:t>
            </a:r>
            <a:endParaRPr lang="en-US" sz="1100" dirty="0"/>
          </a:p>
        </p:txBody>
      </p:sp>
      <p:sp>
        <p:nvSpPr>
          <p:cNvPr id="118" name="Text 22">
            <a:extLst>
              <a:ext uri="{FF2B5EF4-FFF2-40B4-BE49-F238E27FC236}">
                <a16:creationId xmlns:a16="http://schemas.microsoft.com/office/drawing/2014/main" id="{892CF18D-F8CD-C4F5-7415-1B22A9F2B943}"/>
              </a:ext>
            </a:extLst>
          </p:cNvPr>
          <p:cNvSpPr/>
          <p:nvPr/>
        </p:nvSpPr>
        <p:spPr>
          <a:xfrm>
            <a:off x="1738242" y="1838097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DN</a:t>
            </a:r>
            <a:endParaRPr lang="en-US" sz="1400" dirty="0"/>
          </a:p>
        </p:txBody>
      </p:sp>
      <p:sp>
        <p:nvSpPr>
          <p:cNvPr id="120" name="Text 22">
            <a:extLst>
              <a:ext uri="{FF2B5EF4-FFF2-40B4-BE49-F238E27FC236}">
                <a16:creationId xmlns:a16="http://schemas.microsoft.com/office/drawing/2014/main" id="{A39CE323-F4C6-2AEF-073F-625EC44744A9}"/>
              </a:ext>
            </a:extLst>
          </p:cNvPr>
          <p:cNvSpPr/>
          <p:nvPr/>
        </p:nvSpPr>
        <p:spPr>
          <a:xfrm>
            <a:off x="1689513" y="2211504"/>
            <a:ext cx="903246" cy="5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non DN</a:t>
            </a:r>
            <a:endParaRPr lang="en-US" sz="1400" dirty="0"/>
          </a:p>
        </p:txBody>
      </p:sp>
      <p:sp>
        <p:nvSpPr>
          <p:cNvPr id="122" name="Text 24">
            <a:extLst>
              <a:ext uri="{FF2B5EF4-FFF2-40B4-BE49-F238E27FC236}">
                <a16:creationId xmlns:a16="http://schemas.microsoft.com/office/drawing/2014/main" id="{CC774884-1774-C7B6-FB5F-A424E542788E}"/>
              </a:ext>
            </a:extLst>
          </p:cNvPr>
          <p:cNvSpPr/>
          <p:nvPr/>
        </p:nvSpPr>
        <p:spPr>
          <a:xfrm>
            <a:off x="2716155" y="1837235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41 DN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+56%</a:t>
            </a:r>
            <a:endParaRPr lang="en-US" sz="1050" dirty="0"/>
          </a:p>
        </p:txBody>
      </p:sp>
      <p:sp>
        <p:nvSpPr>
          <p:cNvPr id="125" name="Shape 23">
            <a:extLst>
              <a:ext uri="{FF2B5EF4-FFF2-40B4-BE49-F238E27FC236}">
                <a16:creationId xmlns:a16="http://schemas.microsoft.com/office/drawing/2014/main" id="{D04F2806-4A51-6FEC-5CF6-16F74C9D638B}"/>
              </a:ext>
            </a:extLst>
          </p:cNvPr>
          <p:cNvSpPr/>
          <p:nvPr/>
        </p:nvSpPr>
        <p:spPr>
          <a:xfrm>
            <a:off x="412304" y="2197351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29" name="Text 24">
            <a:extLst>
              <a:ext uri="{FF2B5EF4-FFF2-40B4-BE49-F238E27FC236}">
                <a16:creationId xmlns:a16="http://schemas.microsoft.com/office/drawing/2014/main" id="{3BDD5163-17AE-1D28-F01C-ABDA8DC9EBB8}"/>
              </a:ext>
            </a:extLst>
          </p:cNvPr>
          <p:cNvSpPr/>
          <p:nvPr/>
        </p:nvSpPr>
        <p:spPr>
          <a:xfrm>
            <a:off x="402365" y="2145162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147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+8%</a:t>
            </a:r>
            <a:endParaRPr lang="en-US" sz="1050" dirty="0"/>
          </a:p>
        </p:txBody>
      </p:sp>
      <p:sp>
        <p:nvSpPr>
          <p:cNvPr id="133" name="Shape 20">
            <a:extLst>
              <a:ext uri="{FF2B5EF4-FFF2-40B4-BE49-F238E27FC236}">
                <a16:creationId xmlns:a16="http://schemas.microsoft.com/office/drawing/2014/main" id="{3C20E3B2-A725-01A6-C591-84054B297AEF}"/>
              </a:ext>
            </a:extLst>
          </p:cNvPr>
          <p:cNvSpPr/>
          <p:nvPr/>
        </p:nvSpPr>
        <p:spPr>
          <a:xfrm>
            <a:off x="508581" y="1548587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FF4E0661-10AC-9C86-1EF6-97C38553FB5B}"/>
              </a:ext>
            </a:extLst>
          </p:cNvPr>
          <p:cNvSpPr txBox="1"/>
          <p:nvPr/>
        </p:nvSpPr>
        <p:spPr>
          <a:xfrm>
            <a:off x="325192" y="3675713"/>
            <a:ext cx="3282972" cy="849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Factures &gt; TCD x2 DN et non DN &gt; Salarié Laetitia + Aimana &gt; Poste Etat DN et non &gt; Réf externe = BI + Numéros &gt; Type Doc Nul = Vide + Contrat + Full + Garantie + Livraison + Loc + Mise a dispo + </a:t>
            </a:r>
            <a:r>
              <a:rPr lang="fr-FR" dirty="0" err="1"/>
              <a:t>Prep</a:t>
            </a:r>
            <a:r>
              <a:rPr lang="fr-FR" dirty="0"/>
              <a:t> machine + Prêt Machine</a:t>
            </a:r>
          </a:p>
        </p:txBody>
      </p:sp>
      <p:sp>
        <p:nvSpPr>
          <p:cNvPr id="104" name="Text 17">
            <a:extLst>
              <a:ext uri="{FF2B5EF4-FFF2-40B4-BE49-F238E27FC236}">
                <a16:creationId xmlns:a16="http://schemas.microsoft.com/office/drawing/2014/main" id="{AEAA2EDB-DE9D-C1A9-E443-764229451B1F}"/>
              </a:ext>
            </a:extLst>
          </p:cNvPr>
          <p:cNvSpPr/>
          <p:nvPr/>
        </p:nvSpPr>
        <p:spPr>
          <a:xfrm>
            <a:off x="597186" y="2927716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59,2 k€</a:t>
            </a:r>
            <a:endParaRPr lang="en-US" sz="2400" dirty="0"/>
          </a:p>
        </p:txBody>
      </p:sp>
      <p:sp>
        <p:nvSpPr>
          <p:cNvPr id="141" name="Shape 23">
            <a:extLst>
              <a:ext uri="{FF2B5EF4-FFF2-40B4-BE49-F238E27FC236}">
                <a16:creationId xmlns:a16="http://schemas.microsoft.com/office/drawing/2014/main" id="{FF25738D-D0B1-6A2B-7E8D-5079CEEA960C}"/>
              </a:ext>
            </a:extLst>
          </p:cNvPr>
          <p:cNvSpPr/>
          <p:nvPr/>
        </p:nvSpPr>
        <p:spPr>
          <a:xfrm>
            <a:off x="2713687" y="3031554"/>
            <a:ext cx="1003172" cy="69644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0E6FEC9F-DBCB-23FB-0FEC-93153080EC43}"/>
              </a:ext>
            </a:extLst>
          </p:cNvPr>
          <p:cNvSpPr/>
          <p:nvPr/>
        </p:nvSpPr>
        <p:spPr>
          <a:xfrm>
            <a:off x="2481686" y="3054255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79,3 k€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−25 %</a:t>
            </a:r>
            <a:endParaRPr lang="en-US" sz="1050" dirty="0"/>
          </a:p>
        </p:txBody>
      </p:sp>
      <p:sp>
        <p:nvSpPr>
          <p:cNvPr id="145" name="Shape 23">
            <a:extLst>
              <a:ext uri="{FF2B5EF4-FFF2-40B4-BE49-F238E27FC236}">
                <a16:creationId xmlns:a16="http://schemas.microsoft.com/office/drawing/2014/main" id="{FB65CCFC-7982-FB8A-2438-0447DE5F6F08}"/>
              </a:ext>
            </a:extLst>
          </p:cNvPr>
          <p:cNvSpPr/>
          <p:nvPr/>
        </p:nvSpPr>
        <p:spPr>
          <a:xfrm>
            <a:off x="1763841" y="3096885"/>
            <a:ext cx="885996" cy="483039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48" name="Text 24">
            <a:extLst>
              <a:ext uri="{FF2B5EF4-FFF2-40B4-BE49-F238E27FC236}">
                <a16:creationId xmlns:a16="http://schemas.microsoft.com/office/drawing/2014/main" id="{F76AC052-B7BD-1CE1-E9D9-D0C8C171BA8C}"/>
              </a:ext>
            </a:extLst>
          </p:cNvPr>
          <p:cNvSpPr/>
          <p:nvPr/>
        </p:nvSpPr>
        <p:spPr>
          <a:xfrm>
            <a:off x="1770108" y="3065320"/>
            <a:ext cx="854091" cy="60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 / </a:t>
            </a:r>
            <a:r>
              <a:rPr lang="en-US" sz="3200" b="1" dirty="0" err="1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Juillet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Valorisation du stock (Par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12264"/>
            <a:ext cx="34564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2505456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/>
          </a:p>
        </p:txBody>
      </p:sp>
      <p:sp>
        <p:nvSpPr>
          <p:cNvPr id="11" name="Text 9"/>
          <p:cNvSpPr/>
          <p:nvPr/>
        </p:nvSpPr>
        <p:spPr>
          <a:xfrm>
            <a:off x="4297680" y="25054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vs N-1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4472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Depot + Showroom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Accessoires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Manuel +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+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Brosserie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Disque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d’entretien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Matériel Manuel + Papier +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4" name="Shape 12"/>
          <p:cNvSpPr/>
          <p:nvPr/>
        </p:nvSpPr>
        <p:spPr>
          <a:xfrm>
            <a:off x="6446520" y="1773936"/>
            <a:ext cx="146304" cy="146304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5" name="Text 13"/>
          <p:cNvSpPr/>
          <p:nvPr/>
        </p:nvSpPr>
        <p:spPr>
          <a:xfrm>
            <a:off x="6675120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112264"/>
            <a:ext cx="34564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collecter</a:t>
            </a:r>
            <a:endParaRPr lang="en-US" sz="15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EB98D277-67AA-F4E4-5FD0-7D449990ABC0}"/>
              </a:ext>
            </a:extLst>
          </p:cNvPr>
          <p:cNvSpPr/>
          <p:nvPr/>
        </p:nvSpPr>
        <p:spPr>
          <a:xfrm>
            <a:off x="502920" y="4151376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D44F991B-2587-77FA-3B61-78D835529A70}"/>
              </a:ext>
            </a:extLst>
          </p:cNvPr>
          <p:cNvSpPr/>
          <p:nvPr/>
        </p:nvSpPr>
        <p:spPr>
          <a:xfrm>
            <a:off x="731520" y="4416552"/>
            <a:ext cx="146304" cy="146304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E9A281F-6682-B130-8536-C8A5904BF425}"/>
              </a:ext>
            </a:extLst>
          </p:cNvPr>
          <p:cNvSpPr/>
          <p:nvPr/>
        </p:nvSpPr>
        <p:spPr>
          <a:xfrm>
            <a:off x="960120" y="43159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 stock</a:t>
            </a:r>
            <a:endParaRPr lang="en-US" sz="13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C63A95BE-8B1E-0F39-74D6-D4687D287FCA}"/>
              </a:ext>
            </a:extLst>
          </p:cNvPr>
          <p:cNvSpPr/>
          <p:nvPr/>
        </p:nvSpPr>
        <p:spPr>
          <a:xfrm>
            <a:off x="731520" y="4754880"/>
            <a:ext cx="34564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collecter</a:t>
            </a:r>
            <a:endParaRPr lang="en-US" sz="15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F86AC5A8-999E-6928-E92C-9EFB6FF3834C}"/>
              </a:ext>
            </a:extLst>
          </p:cNvPr>
          <p:cNvSpPr/>
          <p:nvPr/>
        </p:nvSpPr>
        <p:spPr>
          <a:xfrm>
            <a:off x="4297680" y="5148072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B630D70E-B6C0-32FC-D44E-6A57ACFEC787}"/>
              </a:ext>
            </a:extLst>
          </p:cNvPr>
          <p:cNvSpPr/>
          <p:nvPr/>
        </p:nvSpPr>
        <p:spPr>
          <a:xfrm>
            <a:off x="4297680" y="51480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vs N-1</a:t>
            </a:r>
            <a:endParaRPr lang="en-US" sz="95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CFB98F48-A4B4-CD1F-D271-EBD5B93E0B18}"/>
              </a:ext>
            </a:extLst>
          </p:cNvPr>
          <p:cNvSpPr/>
          <p:nvPr/>
        </p:nvSpPr>
        <p:spPr>
          <a:xfrm>
            <a:off x="749808" y="60899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catégorie</a:t>
            </a:r>
            <a:endParaRPr lang="en-US" sz="105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5B62FBC4-8E47-5578-86F4-333B710B61B0}"/>
              </a:ext>
            </a:extLst>
          </p:cNvPr>
          <p:cNvSpPr/>
          <p:nvPr/>
        </p:nvSpPr>
        <p:spPr>
          <a:xfrm>
            <a:off x="6217920" y="4151376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96BE284D-BA90-E34E-96FB-9F6FF63B195D}"/>
              </a:ext>
            </a:extLst>
          </p:cNvPr>
          <p:cNvSpPr/>
          <p:nvPr/>
        </p:nvSpPr>
        <p:spPr>
          <a:xfrm>
            <a:off x="6446520" y="4416552"/>
            <a:ext cx="146304" cy="146304"/>
          </a:xfrm>
          <a:prstGeom prst="ellipse">
            <a:avLst/>
          </a:prstGeom>
          <a:solidFill>
            <a:srgbClr val="2A6F4E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666DBC1C-6457-46D2-122B-518F4541E944}"/>
              </a:ext>
            </a:extLst>
          </p:cNvPr>
          <p:cNvSpPr/>
          <p:nvPr/>
        </p:nvSpPr>
        <p:spPr>
          <a:xfrm>
            <a:off x="6675120" y="43159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passées</a:t>
            </a:r>
            <a:endParaRPr lang="en-US" sz="13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18DCD80-8144-26DB-AB6C-4C04E88A088A}"/>
              </a:ext>
            </a:extLst>
          </p:cNvPr>
          <p:cNvSpPr/>
          <p:nvPr/>
        </p:nvSpPr>
        <p:spPr>
          <a:xfrm>
            <a:off x="6446520" y="4754880"/>
            <a:ext cx="34564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CE7C155D-90A5-4FF3-4412-D4A8F2D05356}"/>
              </a:ext>
            </a:extLst>
          </p:cNvPr>
          <p:cNvSpPr/>
          <p:nvPr/>
        </p:nvSpPr>
        <p:spPr>
          <a:xfrm>
            <a:off x="6435020" y="4723186"/>
            <a:ext cx="34564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collecter</a:t>
            </a:r>
            <a:endParaRPr lang="en-US" sz="15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59266B79-C43D-98A0-AAC4-CC53BA089B0A}"/>
              </a:ext>
            </a:extLst>
          </p:cNvPr>
          <p:cNvSpPr/>
          <p:nvPr/>
        </p:nvSpPr>
        <p:spPr>
          <a:xfrm>
            <a:off x="960120" y="2356392"/>
            <a:ext cx="12637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539 k€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Microsoft Office PowerPoint</Application>
  <PresentationFormat>Grand écran</PresentationFormat>
  <Paragraphs>90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Calibri</vt:lpstr>
      <vt:lpstr>Cambria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Bourricat</dc:creator>
  <cp:lastModifiedBy>Antoine Bourricat</cp:lastModifiedBy>
  <cp:revision>17</cp:revision>
  <dcterms:created xsi:type="dcterms:W3CDTF">2026-09-21T10:53:12Z</dcterms:created>
  <dcterms:modified xsi:type="dcterms:W3CDTF">2026-09-22T10:44:48Z</dcterms:modified>
</cp:coreProperties>
</file>