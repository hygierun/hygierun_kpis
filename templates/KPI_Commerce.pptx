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5"/>
  </p:notesMasterIdLst>
  <p:sldIdLst>
    <p:sldId id="264" r:id="rId2"/>
    <p:sldId id="271" r:id="rId3"/>
    <p:sldId id="266" r:id="rId4"/>
  </p:sldIdLst>
  <p:sldSz cx="12192000" cy="6858000"/>
  <p:notesSz cx="7104063" cy="10234613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65A82"/>
    <a:srgbClr val="2A6F4E"/>
    <a:srgbClr val="00A896"/>
    <a:srgbClr val="0E7C86"/>
    <a:srgbClr val="5F5F5F"/>
    <a:srgbClr val="DDDDD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yle moyen 2 - Accentuation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Aucun style, aucune grille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FD0F851-EC5A-4D38-B0AD-8093EC10F338}" styleName="Style léger 1 - Accentuation 5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3B4B98B0-60AC-42C2-AFA5-B58CD77FA1E5}" styleName="Style léger 1 - Accentuation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69012ECD-51FC-41F1-AA8D-1B2483CD663E}" styleName="Style léger 2 - Accentuation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F5AB1C69-6EDB-4FF4-983F-18BD219EF322}" styleName="Style moyen 2 - Accentuation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7DF18680-E054-41AD-8BC1-D1AEF772440D}" styleName="Style moyen 2 - Accentuation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9" d="100"/>
          <a:sy n="89" d="100"/>
        </p:scale>
        <p:origin x="437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81294291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7ED9F11-8211-B176-E170-CE7957E8F2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98D77F1-A283-8698-5FAC-3C9EC6F6882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58A1D2E-9C05-C4F9-643E-1D418BFCD00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30B52FC-D27C-6C08-0892-DD0D9B622B5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377074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2CA0603-F46A-40D0-9260-EFE48533A0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7563DA6-2EF6-735A-8400-84D80E62F76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FA85823-60B2-B21F-EEAF-0DA205FAC69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429B64C-E5F7-F883-82CB-4B0CCF795E9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903309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57200"/>
            <a:ext cx="658368" cy="658368"/>
          </a:xfrm>
          <a:prstGeom prst="ellipse">
            <a:avLst/>
          </a:prstGeom>
          <a:solidFill>
            <a:srgbClr val="0E7C86"/>
          </a:solidFill>
          <a:ln/>
        </p:spPr>
        <p:txBody>
          <a:bodyPr/>
          <a:lstStyle/>
          <a:p>
            <a:endParaRPr lang="fr-RE"/>
          </a:p>
        </p:txBody>
      </p:sp>
      <p:sp>
        <p:nvSpPr>
          <p:cNvPr id="3" name="Text 1"/>
          <p:cNvSpPr/>
          <p:nvPr/>
        </p:nvSpPr>
        <p:spPr>
          <a:xfrm>
            <a:off x="502920" y="457200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1325880" y="420624"/>
            <a:ext cx="9144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2B3A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Commerce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1344168" y="914400"/>
            <a:ext cx="82296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8A9B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Indicateurs — </a:t>
            </a:r>
            <a:r>
              <a:rPr lang="en-US" sz="1300" dirty="0" err="1">
                <a:solidFill>
                  <a:srgbClr val="8A9B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Aout</a:t>
            </a:r>
            <a:r>
              <a:rPr lang="en-US" sz="1300" dirty="0">
                <a:solidFill>
                  <a:srgbClr val="8A9B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2026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91160" y="1437639"/>
            <a:ext cx="3799573" cy="3818129"/>
          </a:xfrm>
          <a:prstGeom prst="roundRect">
            <a:avLst>
              <a:gd name="adj" fmla="val 3232"/>
            </a:avLst>
          </a:prstGeom>
          <a:solidFill>
            <a:srgbClr val="F2F7F8"/>
          </a:solidFill>
          <a:ln w="12700">
            <a:solidFill>
              <a:srgbClr val="DCE7E9"/>
            </a:solidFill>
            <a:prstDash val="solid"/>
          </a:ln>
          <a:effectLst>
            <a:outerShdw blurRad="76200" dist="38100" dir="5400000" algn="bl" rotWithShape="0">
              <a:srgbClr val="9AB2B6">
                <a:alpha val="35000"/>
              </a:srgbClr>
            </a:outerShdw>
          </a:effectLst>
        </p:spPr>
        <p:txBody>
          <a:bodyPr/>
          <a:lstStyle/>
          <a:p>
            <a:endParaRPr lang="fr-RE"/>
          </a:p>
        </p:txBody>
      </p:sp>
      <p:sp>
        <p:nvSpPr>
          <p:cNvPr id="7" name="Shape 5"/>
          <p:cNvSpPr/>
          <p:nvPr/>
        </p:nvSpPr>
        <p:spPr>
          <a:xfrm>
            <a:off x="619760" y="1702816"/>
            <a:ext cx="146304" cy="146304"/>
          </a:xfrm>
          <a:prstGeom prst="ellipse">
            <a:avLst/>
          </a:prstGeom>
          <a:solidFill>
            <a:srgbClr val="0E7C86"/>
          </a:solidFill>
          <a:ln/>
        </p:spPr>
        <p:txBody>
          <a:bodyPr/>
          <a:lstStyle/>
          <a:p>
            <a:endParaRPr lang="fr-RE"/>
          </a:p>
        </p:txBody>
      </p:sp>
      <p:sp>
        <p:nvSpPr>
          <p:cNvPr id="8" name="Text 6"/>
          <p:cNvSpPr/>
          <p:nvPr/>
        </p:nvSpPr>
        <p:spPr>
          <a:xfrm>
            <a:off x="848360" y="1602232"/>
            <a:ext cx="4754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2B3A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Commandes clients passées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19760" y="2171084"/>
            <a:ext cx="3456432" cy="5203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0E7C8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975 cdes</a:t>
            </a:r>
            <a:endParaRPr lang="en-US" sz="2400" dirty="0"/>
          </a:p>
        </p:txBody>
      </p:sp>
      <p:sp>
        <p:nvSpPr>
          <p:cNvPr id="10" name="Shape 8"/>
          <p:cNvSpPr/>
          <p:nvPr/>
        </p:nvSpPr>
        <p:spPr>
          <a:xfrm>
            <a:off x="2545613" y="2140223"/>
            <a:ext cx="1508760" cy="608838"/>
          </a:xfrm>
          <a:prstGeom prst="roundRect">
            <a:avLst>
              <a:gd name="adj" fmla="val 8929"/>
            </a:avLst>
          </a:prstGeom>
          <a:solidFill>
            <a:srgbClr val="FFFFFF"/>
          </a:solidFill>
          <a:ln w="12700">
            <a:solidFill>
              <a:srgbClr val="DCE7E9"/>
            </a:solidFill>
            <a:prstDash val="solid"/>
          </a:ln>
        </p:spPr>
        <p:txBody>
          <a:bodyPr/>
          <a:lstStyle/>
          <a:p>
            <a:endParaRPr lang="fr-RE" sz="2800"/>
          </a:p>
        </p:txBody>
      </p:sp>
      <p:sp>
        <p:nvSpPr>
          <p:cNvPr id="11" name="Text 9"/>
          <p:cNvSpPr/>
          <p:nvPr/>
        </p:nvSpPr>
        <p:spPr>
          <a:xfrm>
            <a:off x="2545613" y="2140223"/>
            <a:ext cx="1508760" cy="6088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95000"/>
              </a:lnSpc>
              <a:buNone/>
            </a:pPr>
            <a:r>
              <a:rPr lang="en-US" sz="1050" dirty="0">
                <a:solidFill>
                  <a:srgbClr val="8A9BA3"/>
                </a:solidFill>
              </a:rPr>
              <a:t>N-1 : 860 cdes</a:t>
            </a:r>
            <a:endParaRPr lang="en-US" sz="1050" dirty="0"/>
          </a:p>
          <a:p>
            <a:pPr algn="ctr">
              <a:lnSpc>
                <a:spcPct val="95000"/>
              </a:lnSpc>
            </a:pPr>
            <a:r>
              <a:rPr lang="en-US" b="1" dirty="0">
                <a:solidFill>
                  <a:srgbClr val="2E7D32"/>
                </a:solidFill>
              </a:rPr>
              <a:t>▲ +13 %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619760" y="3418800"/>
            <a:ext cx="3456432" cy="58293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0E7C8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526 k€</a:t>
            </a:r>
            <a:endParaRPr lang="en-US" sz="2400" dirty="0"/>
          </a:p>
        </p:txBody>
      </p:sp>
      <p:sp>
        <p:nvSpPr>
          <p:cNvPr id="13" name="Shape 11"/>
          <p:cNvSpPr/>
          <p:nvPr/>
        </p:nvSpPr>
        <p:spPr>
          <a:xfrm>
            <a:off x="2545613" y="3364945"/>
            <a:ext cx="1508760" cy="608838"/>
          </a:xfrm>
          <a:prstGeom prst="roundRect">
            <a:avLst>
              <a:gd name="adj" fmla="val 8929"/>
            </a:avLst>
          </a:prstGeom>
          <a:solidFill>
            <a:srgbClr val="FFFFFF"/>
          </a:solidFill>
          <a:ln w="12700">
            <a:solidFill>
              <a:srgbClr val="DCE7E9"/>
            </a:solidFill>
            <a:prstDash val="solid"/>
          </a:ln>
        </p:spPr>
        <p:txBody>
          <a:bodyPr/>
          <a:lstStyle/>
          <a:p>
            <a:endParaRPr lang="fr-RE" sz="2800"/>
          </a:p>
        </p:txBody>
      </p:sp>
      <p:sp>
        <p:nvSpPr>
          <p:cNvPr id="14" name="Text 12"/>
          <p:cNvSpPr/>
          <p:nvPr/>
        </p:nvSpPr>
        <p:spPr>
          <a:xfrm>
            <a:off x="2545613" y="3344625"/>
            <a:ext cx="1508760" cy="6088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95000"/>
              </a:lnSpc>
              <a:buNone/>
            </a:pPr>
            <a:r>
              <a:rPr lang="en-US" sz="1050" dirty="0">
                <a:solidFill>
                  <a:srgbClr val="8A9BA3"/>
                </a:solidFill>
              </a:rPr>
              <a:t>N-1 : 365 k€</a:t>
            </a:r>
            <a:endParaRPr lang="en-US" sz="1050" dirty="0"/>
          </a:p>
          <a:p>
            <a:pPr algn="ctr">
              <a:lnSpc>
                <a:spcPct val="95000"/>
              </a:lnSpc>
            </a:pPr>
            <a:r>
              <a:rPr lang="en-US" b="1" dirty="0">
                <a:solidFill>
                  <a:srgbClr val="2E7D32"/>
                </a:solidFill>
              </a:rPr>
              <a:t>▲ +45 %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517831" y="1440591"/>
            <a:ext cx="3718392" cy="3815177"/>
          </a:xfrm>
          <a:prstGeom prst="roundRect">
            <a:avLst>
              <a:gd name="adj" fmla="val 3232"/>
            </a:avLst>
          </a:prstGeom>
          <a:solidFill>
            <a:srgbClr val="F2F7F8"/>
          </a:solidFill>
          <a:ln w="12700">
            <a:solidFill>
              <a:srgbClr val="DCE7E9"/>
            </a:solidFill>
            <a:prstDash val="solid"/>
          </a:ln>
          <a:effectLst>
            <a:outerShdw blurRad="76200" dist="38100" dir="5400000" algn="bl" rotWithShape="0">
              <a:srgbClr val="9AB2B6">
                <a:alpha val="35000"/>
              </a:srgbClr>
            </a:outerShdw>
          </a:effectLst>
        </p:spPr>
        <p:txBody>
          <a:bodyPr/>
          <a:lstStyle/>
          <a:p>
            <a:endParaRPr lang="fr-RE"/>
          </a:p>
        </p:txBody>
      </p:sp>
      <p:sp>
        <p:nvSpPr>
          <p:cNvPr id="17" name="Shape 15"/>
          <p:cNvSpPr/>
          <p:nvPr/>
        </p:nvSpPr>
        <p:spPr>
          <a:xfrm>
            <a:off x="4746431" y="1705768"/>
            <a:ext cx="146304" cy="146304"/>
          </a:xfrm>
          <a:prstGeom prst="ellipse">
            <a:avLst/>
          </a:prstGeom>
          <a:solidFill>
            <a:srgbClr val="0E7C86"/>
          </a:solidFill>
          <a:ln/>
        </p:spPr>
        <p:txBody>
          <a:bodyPr/>
          <a:lstStyle/>
          <a:p>
            <a:endParaRPr lang="fr-RE"/>
          </a:p>
        </p:txBody>
      </p:sp>
      <p:sp>
        <p:nvSpPr>
          <p:cNvPr id="18" name="Text 16"/>
          <p:cNvSpPr/>
          <p:nvPr/>
        </p:nvSpPr>
        <p:spPr>
          <a:xfrm>
            <a:off x="4984966" y="1559773"/>
            <a:ext cx="3068769" cy="402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2B3A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 HT </a:t>
            </a:r>
            <a:r>
              <a:rPr lang="en-US" sz="1300" b="1" dirty="0" err="1">
                <a:solidFill>
                  <a:srgbClr val="2B3A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facturé</a:t>
            </a:r>
            <a:r>
              <a:rPr lang="en-US" sz="1300" b="1" dirty="0">
                <a:solidFill>
                  <a:srgbClr val="2B3A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(Equipe Commerciale + vide)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4692841" y="3386273"/>
            <a:ext cx="345643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0E7C8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352 k€</a:t>
            </a:r>
            <a:endParaRPr lang="en-US" sz="2400" dirty="0"/>
          </a:p>
        </p:txBody>
      </p:sp>
      <p:sp>
        <p:nvSpPr>
          <p:cNvPr id="20" name="Shape 18"/>
          <p:cNvSpPr/>
          <p:nvPr/>
        </p:nvSpPr>
        <p:spPr>
          <a:xfrm>
            <a:off x="6465761" y="3356301"/>
            <a:ext cx="1508760" cy="608838"/>
          </a:xfrm>
          <a:prstGeom prst="roundRect">
            <a:avLst>
              <a:gd name="adj" fmla="val 8929"/>
            </a:avLst>
          </a:prstGeom>
          <a:solidFill>
            <a:srgbClr val="FFFFFF"/>
          </a:solidFill>
          <a:ln w="12700">
            <a:solidFill>
              <a:srgbClr val="DCE7E9"/>
            </a:solidFill>
            <a:prstDash val="solid"/>
          </a:ln>
        </p:spPr>
        <p:txBody>
          <a:bodyPr/>
          <a:lstStyle/>
          <a:p>
            <a:endParaRPr lang="fr-RE" sz="2800"/>
          </a:p>
        </p:txBody>
      </p:sp>
      <p:sp>
        <p:nvSpPr>
          <p:cNvPr id="21" name="Text 19"/>
          <p:cNvSpPr/>
          <p:nvPr/>
        </p:nvSpPr>
        <p:spPr>
          <a:xfrm>
            <a:off x="6465761" y="3356301"/>
            <a:ext cx="1508760" cy="6088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95000"/>
              </a:lnSpc>
              <a:buNone/>
            </a:pPr>
            <a:r>
              <a:rPr lang="en-US" sz="1050" dirty="0">
                <a:solidFill>
                  <a:srgbClr val="8A9BA3"/>
                </a:solidFill>
              </a:rPr>
              <a:t>N-1 : 452 k€</a:t>
            </a:r>
            <a:endParaRPr lang="en-US" sz="1050" dirty="0"/>
          </a:p>
          <a:p>
            <a:pPr algn="ctr">
              <a:lnSpc>
                <a:spcPct val="95000"/>
              </a:lnSpc>
            </a:pPr>
            <a:r>
              <a:rPr lang="en-US" sz="1600" b="1" dirty="0">
                <a:solidFill>
                  <a:srgbClr val="C0392B"/>
                </a:solidFill>
              </a:rPr>
              <a:t>▼ −28 %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8420066" y="1446466"/>
            <a:ext cx="3489960" cy="3809302"/>
          </a:xfrm>
          <a:prstGeom prst="roundRect">
            <a:avLst>
              <a:gd name="adj" fmla="val 3232"/>
            </a:avLst>
          </a:prstGeom>
          <a:solidFill>
            <a:srgbClr val="F2F7F8"/>
          </a:solidFill>
          <a:ln w="12700">
            <a:solidFill>
              <a:srgbClr val="DCE7E9"/>
            </a:solidFill>
            <a:prstDash val="solid"/>
          </a:ln>
          <a:effectLst>
            <a:outerShdw blurRad="76200" dist="38100" dir="5400000" algn="bl" rotWithShape="0">
              <a:srgbClr val="9AB2B6">
                <a:alpha val="35000"/>
              </a:srgbClr>
            </a:outerShdw>
          </a:effectLst>
        </p:spPr>
        <p:txBody>
          <a:bodyPr/>
          <a:lstStyle/>
          <a:p>
            <a:endParaRPr lang="fr-RE"/>
          </a:p>
        </p:txBody>
      </p:sp>
      <p:sp>
        <p:nvSpPr>
          <p:cNvPr id="35" name="ZoneTexte 34">
            <a:extLst>
              <a:ext uri="{FF2B5EF4-FFF2-40B4-BE49-F238E27FC236}">
                <a16:creationId xmlns:a16="http://schemas.microsoft.com/office/drawing/2014/main" id="{E8A72E7F-49DB-781B-5809-C54CCE8B0237}"/>
              </a:ext>
            </a:extLst>
          </p:cNvPr>
          <p:cNvSpPr txBox="1"/>
          <p:nvPr/>
        </p:nvSpPr>
        <p:spPr>
          <a:xfrm>
            <a:off x="4617714" y="4787308"/>
            <a:ext cx="3360928" cy="2667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>
              <a:defRPr sz="1050" i="1">
                <a:solidFill>
                  <a:srgbClr val="8A9B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defRPr>
            </a:lvl1pPr>
          </a:lstStyle>
          <a:p>
            <a:r>
              <a:rPr lang="fr-FR" dirty="0"/>
              <a:t>Factures / Arch / filtre </a:t>
            </a:r>
            <a:r>
              <a:rPr lang="fr-FR" dirty="0" err="1"/>
              <a:t>Repr</a:t>
            </a:r>
            <a:r>
              <a:rPr lang="fr-FR" dirty="0"/>
              <a:t> = Commerciaux x 6 (+ Showroom + vide =&gt; cas anormaux?)</a:t>
            </a:r>
          </a:p>
        </p:txBody>
      </p:sp>
      <p:sp>
        <p:nvSpPr>
          <p:cNvPr id="47" name="Shape 22">
            <a:extLst>
              <a:ext uri="{FF2B5EF4-FFF2-40B4-BE49-F238E27FC236}">
                <a16:creationId xmlns:a16="http://schemas.microsoft.com/office/drawing/2014/main" id="{852688BC-9F7A-58E6-CA5D-CDD8113197FA}"/>
              </a:ext>
            </a:extLst>
          </p:cNvPr>
          <p:cNvSpPr/>
          <p:nvPr/>
        </p:nvSpPr>
        <p:spPr>
          <a:xfrm>
            <a:off x="8570703" y="1620049"/>
            <a:ext cx="146304" cy="146304"/>
          </a:xfrm>
          <a:prstGeom prst="ellipse">
            <a:avLst/>
          </a:prstGeom>
          <a:solidFill>
            <a:srgbClr val="0E7C86"/>
          </a:solidFill>
          <a:ln/>
        </p:spPr>
        <p:txBody>
          <a:bodyPr/>
          <a:lstStyle/>
          <a:p>
            <a:endParaRPr lang="fr-RE"/>
          </a:p>
        </p:txBody>
      </p:sp>
      <p:sp>
        <p:nvSpPr>
          <p:cNvPr id="52" name="Text 23">
            <a:extLst>
              <a:ext uri="{FF2B5EF4-FFF2-40B4-BE49-F238E27FC236}">
                <a16:creationId xmlns:a16="http://schemas.microsoft.com/office/drawing/2014/main" id="{96A4C8F1-A14D-019F-CB26-730DBC4E04FE}"/>
              </a:ext>
            </a:extLst>
          </p:cNvPr>
          <p:cNvSpPr/>
          <p:nvPr/>
        </p:nvSpPr>
        <p:spPr>
          <a:xfrm>
            <a:off x="8876303" y="1501177"/>
            <a:ext cx="2849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300" b="1" dirty="0">
                <a:solidFill>
                  <a:srgbClr val="2B3A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Panier moyen (avec Franck)</a:t>
            </a:r>
            <a:endParaRPr lang="en-US" sz="1300" dirty="0"/>
          </a:p>
        </p:txBody>
      </p:sp>
      <p:sp>
        <p:nvSpPr>
          <p:cNvPr id="56" name="Shape 25">
            <a:extLst>
              <a:ext uri="{FF2B5EF4-FFF2-40B4-BE49-F238E27FC236}">
                <a16:creationId xmlns:a16="http://schemas.microsoft.com/office/drawing/2014/main" id="{13ABB66C-687E-9251-AE9B-A531394B29D2}"/>
              </a:ext>
            </a:extLst>
          </p:cNvPr>
          <p:cNvSpPr/>
          <p:nvPr/>
        </p:nvSpPr>
        <p:spPr>
          <a:xfrm>
            <a:off x="10463829" y="1939696"/>
            <a:ext cx="1207008" cy="608838"/>
          </a:xfrm>
          <a:prstGeom prst="roundRect">
            <a:avLst>
              <a:gd name="adj" fmla="val 8929"/>
            </a:avLst>
          </a:prstGeom>
          <a:solidFill>
            <a:srgbClr val="FFFFFF"/>
          </a:solidFill>
          <a:ln w="12700">
            <a:solidFill>
              <a:srgbClr val="DCE7E9"/>
            </a:solidFill>
            <a:prstDash val="solid"/>
          </a:ln>
        </p:spPr>
        <p:txBody>
          <a:bodyPr/>
          <a:lstStyle/>
          <a:p>
            <a:endParaRPr lang="fr-RE" sz="2800"/>
          </a:p>
        </p:txBody>
      </p:sp>
      <p:sp>
        <p:nvSpPr>
          <p:cNvPr id="60" name="Text 26">
            <a:extLst>
              <a:ext uri="{FF2B5EF4-FFF2-40B4-BE49-F238E27FC236}">
                <a16:creationId xmlns:a16="http://schemas.microsoft.com/office/drawing/2014/main" id="{241C17DF-453A-0A46-313B-7463D6C4EC57}"/>
              </a:ext>
            </a:extLst>
          </p:cNvPr>
          <p:cNvSpPr/>
          <p:nvPr/>
        </p:nvSpPr>
        <p:spPr>
          <a:xfrm>
            <a:off x="10463829" y="1923655"/>
            <a:ext cx="1207008" cy="6088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95000"/>
              </a:lnSpc>
              <a:buNone/>
            </a:pPr>
            <a:r>
              <a:rPr lang="en-US" sz="1050" dirty="0">
                <a:solidFill>
                  <a:srgbClr val="8A9BA3"/>
                </a:solidFill>
              </a:rPr>
              <a:t>N-1 : 519,6 €</a:t>
            </a:r>
            <a:endParaRPr lang="en-US" sz="1050" dirty="0"/>
          </a:p>
          <a:p>
            <a:pPr algn="ctr">
              <a:lnSpc>
                <a:spcPct val="95000"/>
              </a:lnSpc>
            </a:pPr>
            <a:r>
              <a:rPr lang="en-US" sz="1600" b="1" dirty="0">
                <a:solidFill>
                  <a:srgbClr val="C0392B"/>
                </a:solidFill>
              </a:rPr>
              <a:t>▼ −30 %</a:t>
            </a:r>
            <a:endParaRPr lang="en-US" sz="1050" dirty="0"/>
          </a:p>
        </p:txBody>
      </p:sp>
      <p:sp>
        <p:nvSpPr>
          <p:cNvPr id="71" name="ZoneTexte 70">
            <a:extLst>
              <a:ext uri="{FF2B5EF4-FFF2-40B4-BE49-F238E27FC236}">
                <a16:creationId xmlns:a16="http://schemas.microsoft.com/office/drawing/2014/main" id="{E37CE684-91E3-12B9-E93D-15A8198AC86F}"/>
              </a:ext>
            </a:extLst>
          </p:cNvPr>
          <p:cNvSpPr txBox="1"/>
          <p:nvPr/>
        </p:nvSpPr>
        <p:spPr>
          <a:xfrm>
            <a:off x="8556263" y="4722908"/>
            <a:ext cx="3489960" cy="35158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>
              <a:defRPr sz="1050" i="1">
                <a:solidFill>
                  <a:srgbClr val="8A9B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defRPr>
            </a:lvl1pPr>
          </a:lstStyle>
          <a:p>
            <a:r>
              <a:rPr lang="fr-FR" dirty="0"/>
              <a:t>Fact / Arch / filtre </a:t>
            </a:r>
            <a:r>
              <a:rPr lang="fr-FR" dirty="0" err="1"/>
              <a:t>Repr</a:t>
            </a:r>
            <a:r>
              <a:rPr lang="fr-FR" dirty="0"/>
              <a:t> = Commerciaux x5 et x6</a:t>
            </a:r>
          </a:p>
        </p:txBody>
      </p:sp>
      <p:sp>
        <p:nvSpPr>
          <p:cNvPr id="73" name="Text 24">
            <a:extLst>
              <a:ext uri="{FF2B5EF4-FFF2-40B4-BE49-F238E27FC236}">
                <a16:creationId xmlns:a16="http://schemas.microsoft.com/office/drawing/2014/main" id="{029C21E1-C363-8202-888E-277822DF8525}"/>
              </a:ext>
            </a:extLst>
          </p:cNvPr>
          <p:cNvSpPr/>
          <p:nvPr/>
        </p:nvSpPr>
        <p:spPr>
          <a:xfrm>
            <a:off x="5906868" y="5413424"/>
            <a:ext cx="1825752" cy="12755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endParaRPr lang="en-US" sz="1100" dirty="0"/>
          </a:p>
        </p:txBody>
      </p:sp>
      <p:sp>
        <p:nvSpPr>
          <p:cNvPr id="75" name="Text 24">
            <a:extLst>
              <a:ext uri="{FF2B5EF4-FFF2-40B4-BE49-F238E27FC236}">
                <a16:creationId xmlns:a16="http://schemas.microsoft.com/office/drawing/2014/main" id="{34B50D41-F9EC-6493-A002-7DAB615AE489}"/>
              </a:ext>
            </a:extLst>
          </p:cNvPr>
          <p:cNvSpPr/>
          <p:nvPr/>
        </p:nvSpPr>
        <p:spPr>
          <a:xfrm>
            <a:off x="8803464" y="1995167"/>
            <a:ext cx="1825752" cy="5024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0E7C8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364,6 €</a:t>
            </a:r>
            <a:endParaRPr lang="en-US" sz="2200" dirty="0"/>
          </a:p>
        </p:txBody>
      </p:sp>
      <p:sp>
        <p:nvSpPr>
          <p:cNvPr id="62" name="Text 10">
            <a:extLst>
              <a:ext uri="{FF2B5EF4-FFF2-40B4-BE49-F238E27FC236}">
                <a16:creationId xmlns:a16="http://schemas.microsoft.com/office/drawing/2014/main" id="{D43CF30D-D738-4E83-B4A9-926869404B68}"/>
              </a:ext>
            </a:extLst>
          </p:cNvPr>
          <p:cNvSpPr/>
          <p:nvPr/>
        </p:nvSpPr>
        <p:spPr>
          <a:xfrm>
            <a:off x="509872" y="4824805"/>
            <a:ext cx="3544501" cy="1779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50" i="1" dirty="0" err="1">
                <a:solidFill>
                  <a:srgbClr val="8A9B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Commandes</a:t>
            </a:r>
            <a:r>
              <a:rPr lang="en-US" sz="1050" i="1" dirty="0">
                <a:solidFill>
                  <a:srgbClr val="8A9B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/ Arch + à </a:t>
            </a:r>
            <a:r>
              <a:rPr lang="en-US" sz="1050" i="1" dirty="0" err="1">
                <a:solidFill>
                  <a:srgbClr val="8A9B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livrer</a:t>
            </a:r>
            <a:r>
              <a:rPr lang="en-US" sz="1050" i="1" dirty="0">
                <a:solidFill>
                  <a:srgbClr val="8A9B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/ </a:t>
            </a:r>
            <a:r>
              <a:rPr lang="en-US" sz="1050" i="1" dirty="0" err="1">
                <a:solidFill>
                  <a:srgbClr val="8A9B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Filtre</a:t>
            </a:r>
            <a:r>
              <a:rPr lang="en-US" sz="1050" i="1" dirty="0">
                <a:solidFill>
                  <a:srgbClr val="8A9B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050" i="1" dirty="0" err="1">
                <a:solidFill>
                  <a:srgbClr val="8A9B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repr</a:t>
            </a:r>
            <a:r>
              <a:rPr lang="en-US" sz="1050" i="1" dirty="0">
                <a:solidFill>
                  <a:srgbClr val="8A9B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= </a:t>
            </a:r>
            <a:r>
              <a:rPr lang="en-US" sz="1050" i="1" dirty="0" err="1">
                <a:solidFill>
                  <a:srgbClr val="8A9B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commerciaux</a:t>
            </a:r>
            <a:r>
              <a:rPr lang="en-US" sz="1050" i="1" dirty="0">
                <a:solidFill>
                  <a:srgbClr val="8A9B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x6, </a:t>
            </a:r>
            <a:r>
              <a:rPr lang="en-US" sz="1050" i="1" dirty="0" err="1">
                <a:solidFill>
                  <a:srgbClr val="8A9B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dont</a:t>
            </a:r>
            <a:r>
              <a:rPr lang="en-US" sz="1050" i="1" dirty="0">
                <a:solidFill>
                  <a:srgbClr val="8A9B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050" i="1" dirty="0" err="1">
                <a:solidFill>
                  <a:srgbClr val="8A9B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avoirs</a:t>
            </a:r>
            <a:endParaRPr lang="en-US" sz="1050" i="1" dirty="0">
              <a:solidFill>
                <a:srgbClr val="8A9BA3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</p:txBody>
      </p:sp>
      <p:sp>
        <p:nvSpPr>
          <p:cNvPr id="66" name="Text 7">
            <a:extLst>
              <a:ext uri="{FF2B5EF4-FFF2-40B4-BE49-F238E27FC236}">
                <a16:creationId xmlns:a16="http://schemas.microsoft.com/office/drawing/2014/main" id="{EA3C368F-56F0-207F-DB35-4CF882562CE1}"/>
              </a:ext>
            </a:extLst>
          </p:cNvPr>
          <p:cNvSpPr/>
          <p:nvPr/>
        </p:nvSpPr>
        <p:spPr>
          <a:xfrm>
            <a:off x="597941" y="2731372"/>
            <a:ext cx="3456432" cy="372017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100" dirty="0">
                <a:solidFill>
                  <a:srgbClr val="0E7C8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916 arch. + 59 à </a:t>
            </a:r>
            <a:r>
              <a:rPr lang="en-US" sz="1100" dirty="0" err="1">
                <a:solidFill>
                  <a:srgbClr val="0E7C8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livrer</a:t>
            </a:r>
            <a:endParaRPr lang="en-US" sz="1100" dirty="0"/>
          </a:p>
        </p:txBody>
      </p:sp>
      <p:sp>
        <p:nvSpPr>
          <p:cNvPr id="72" name="Text 7">
            <a:extLst>
              <a:ext uri="{FF2B5EF4-FFF2-40B4-BE49-F238E27FC236}">
                <a16:creationId xmlns:a16="http://schemas.microsoft.com/office/drawing/2014/main" id="{D65C5C62-A192-AC22-B1E6-D920A9016B98}"/>
              </a:ext>
            </a:extLst>
          </p:cNvPr>
          <p:cNvSpPr/>
          <p:nvPr/>
        </p:nvSpPr>
        <p:spPr>
          <a:xfrm>
            <a:off x="597941" y="3990804"/>
            <a:ext cx="3456432" cy="32705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rPr lang="en-US" sz="1100" dirty="0">
                <a:solidFill>
                  <a:srgbClr val="0E7C86"/>
                </a:solidFill>
                <a:latin typeface="Cambria" pitchFamily="34" charset="0"/>
                <a:ea typeface="Cambria" pitchFamily="34" charset="-122"/>
              </a:rPr>
              <a:t>256 k€ arch. + 270 k€ à </a:t>
            </a:r>
            <a:r>
              <a:rPr lang="en-US" sz="1100" dirty="0" err="1">
                <a:solidFill>
                  <a:srgbClr val="0E7C86"/>
                </a:solidFill>
                <a:latin typeface="Cambria" pitchFamily="34" charset="0"/>
                <a:ea typeface="Cambria" pitchFamily="34" charset="-122"/>
              </a:rPr>
              <a:t>livrer</a:t>
            </a:r>
            <a:endParaRPr lang="en-US" sz="1100" dirty="0">
              <a:solidFill>
                <a:srgbClr val="0E7C86"/>
              </a:solidFill>
              <a:latin typeface="Cambria" pitchFamily="34" charset="0"/>
              <a:ea typeface="Cambria" pitchFamily="34" charset="-122"/>
            </a:endParaRPr>
          </a:p>
        </p:txBody>
      </p:sp>
      <p:sp>
        <p:nvSpPr>
          <p:cNvPr id="80" name="Shape 22">
            <a:extLst>
              <a:ext uri="{FF2B5EF4-FFF2-40B4-BE49-F238E27FC236}">
                <a16:creationId xmlns:a16="http://schemas.microsoft.com/office/drawing/2014/main" id="{40023AAD-8201-4488-89EB-70CEEFAE3AE2}"/>
              </a:ext>
            </a:extLst>
          </p:cNvPr>
          <p:cNvSpPr/>
          <p:nvPr/>
        </p:nvSpPr>
        <p:spPr>
          <a:xfrm>
            <a:off x="8677075" y="2800272"/>
            <a:ext cx="146304" cy="146304"/>
          </a:xfrm>
          <a:prstGeom prst="ellipse">
            <a:avLst/>
          </a:prstGeom>
          <a:solidFill>
            <a:srgbClr val="0E7C86"/>
          </a:solidFill>
          <a:ln/>
        </p:spPr>
        <p:txBody>
          <a:bodyPr/>
          <a:lstStyle/>
          <a:p>
            <a:endParaRPr lang="fr-RE"/>
          </a:p>
        </p:txBody>
      </p:sp>
      <p:sp>
        <p:nvSpPr>
          <p:cNvPr id="82" name="Text 23">
            <a:extLst>
              <a:ext uri="{FF2B5EF4-FFF2-40B4-BE49-F238E27FC236}">
                <a16:creationId xmlns:a16="http://schemas.microsoft.com/office/drawing/2014/main" id="{7F4174E0-9E10-144B-85D7-BE1BE6228501}"/>
              </a:ext>
            </a:extLst>
          </p:cNvPr>
          <p:cNvSpPr/>
          <p:nvPr/>
        </p:nvSpPr>
        <p:spPr>
          <a:xfrm>
            <a:off x="8905675" y="2681400"/>
            <a:ext cx="2849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300" b="1" dirty="0">
                <a:solidFill>
                  <a:srgbClr val="2B3A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Panier moyen (hors Franck)</a:t>
            </a:r>
            <a:endParaRPr lang="en-US" sz="1300" dirty="0"/>
          </a:p>
        </p:txBody>
      </p:sp>
      <p:sp>
        <p:nvSpPr>
          <p:cNvPr id="84" name="Text 24">
            <a:extLst>
              <a:ext uri="{FF2B5EF4-FFF2-40B4-BE49-F238E27FC236}">
                <a16:creationId xmlns:a16="http://schemas.microsoft.com/office/drawing/2014/main" id="{F6EF3707-E6FB-B570-06A6-8912CE26298B}"/>
              </a:ext>
            </a:extLst>
          </p:cNvPr>
          <p:cNvSpPr/>
          <p:nvPr/>
        </p:nvSpPr>
        <p:spPr>
          <a:xfrm>
            <a:off x="8840063" y="3154716"/>
            <a:ext cx="1825752" cy="531197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0E7C8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296,1 €</a:t>
            </a:r>
            <a:endParaRPr lang="en-US" sz="2200" dirty="0"/>
          </a:p>
        </p:txBody>
      </p:sp>
      <p:sp>
        <p:nvSpPr>
          <p:cNvPr id="86" name="Shape 25">
            <a:extLst>
              <a:ext uri="{FF2B5EF4-FFF2-40B4-BE49-F238E27FC236}">
                <a16:creationId xmlns:a16="http://schemas.microsoft.com/office/drawing/2014/main" id="{C86CC0C3-6B43-4CC1-BCB2-1C1FD20E79A5}"/>
              </a:ext>
            </a:extLst>
          </p:cNvPr>
          <p:cNvSpPr/>
          <p:nvPr/>
        </p:nvSpPr>
        <p:spPr>
          <a:xfrm>
            <a:off x="10348823" y="3112901"/>
            <a:ext cx="1207008" cy="608838"/>
          </a:xfrm>
          <a:prstGeom prst="roundRect">
            <a:avLst>
              <a:gd name="adj" fmla="val 8929"/>
            </a:avLst>
          </a:prstGeom>
          <a:solidFill>
            <a:srgbClr val="FFFFFF"/>
          </a:solidFill>
          <a:ln w="12700">
            <a:solidFill>
              <a:srgbClr val="DCE7E9"/>
            </a:solidFill>
            <a:prstDash val="solid"/>
          </a:ln>
        </p:spPr>
        <p:txBody>
          <a:bodyPr/>
          <a:lstStyle/>
          <a:p>
            <a:endParaRPr lang="fr-RE" sz="2800"/>
          </a:p>
        </p:txBody>
      </p:sp>
      <p:sp>
        <p:nvSpPr>
          <p:cNvPr id="88" name="Text 26">
            <a:extLst>
              <a:ext uri="{FF2B5EF4-FFF2-40B4-BE49-F238E27FC236}">
                <a16:creationId xmlns:a16="http://schemas.microsoft.com/office/drawing/2014/main" id="{D1F473C7-E6B6-4CEC-EBF4-7F35A45E4736}"/>
              </a:ext>
            </a:extLst>
          </p:cNvPr>
          <p:cNvSpPr/>
          <p:nvPr/>
        </p:nvSpPr>
        <p:spPr>
          <a:xfrm>
            <a:off x="10348823" y="3112902"/>
            <a:ext cx="1207008" cy="6088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95000"/>
              </a:lnSpc>
              <a:buNone/>
            </a:pPr>
            <a:r>
              <a:rPr lang="en-US" sz="1050" dirty="0">
                <a:solidFill>
                  <a:srgbClr val="8A9BA3"/>
                </a:solidFill>
              </a:rPr>
              <a:t>N-1 : 323,7 €</a:t>
            </a:r>
            <a:endParaRPr lang="en-US" sz="1050" dirty="0"/>
          </a:p>
          <a:p>
            <a:pPr marL="0" indent="0" algn="ctr">
              <a:lnSpc>
                <a:spcPct val="95000"/>
              </a:lnSpc>
              <a:buNone/>
            </a:pP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C0392B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▼ −9 %</a:t>
            </a:r>
            <a:endParaRPr lang="en-US" sz="1050" dirty="0"/>
          </a:p>
        </p:txBody>
      </p:sp>
      <p:sp>
        <p:nvSpPr>
          <p:cNvPr id="100" name="Text 24">
            <a:extLst>
              <a:ext uri="{FF2B5EF4-FFF2-40B4-BE49-F238E27FC236}">
                <a16:creationId xmlns:a16="http://schemas.microsoft.com/office/drawing/2014/main" id="{E9E9D3E3-F4D4-DE5B-934A-A1CBAE4EE5BB}"/>
              </a:ext>
            </a:extLst>
          </p:cNvPr>
          <p:cNvSpPr/>
          <p:nvPr/>
        </p:nvSpPr>
        <p:spPr>
          <a:xfrm>
            <a:off x="8402856" y="1628266"/>
            <a:ext cx="1825752" cy="12755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endParaRPr lang="en-US" sz="1100" dirty="0"/>
          </a:p>
        </p:txBody>
      </p:sp>
      <p:sp>
        <p:nvSpPr>
          <p:cNvPr id="104" name="Text 24">
            <a:extLst>
              <a:ext uri="{FF2B5EF4-FFF2-40B4-BE49-F238E27FC236}">
                <a16:creationId xmlns:a16="http://schemas.microsoft.com/office/drawing/2014/main" id="{A3F2A774-FA04-FB89-907E-B554DF35880F}"/>
              </a:ext>
            </a:extLst>
          </p:cNvPr>
          <p:cNvSpPr/>
          <p:nvPr/>
        </p:nvSpPr>
        <p:spPr>
          <a:xfrm>
            <a:off x="2203728" y="5376900"/>
            <a:ext cx="1825752" cy="12755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endParaRPr lang="en-US" sz="1100" dirty="0"/>
          </a:p>
        </p:txBody>
      </p:sp>
      <p:sp>
        <p:nvSpPr>
          <p:cNvPr id="110" name="Text 17">
            <a:extLst>
              <a:ext uri="{FF2B5EF4-FFF2-40B4-BE49-F238E27FC236}">
                <a16:creationId xmlns:a16="http://schemas.microsoft.com/office/drawing/2014/main" id="{EDADA00F-29C2-9C9B-4649-033ED7507D90}"/>
              </a:ext>
            </a:extLst>
          </p:cNvPr>
          <p:cNvSpPr/>
          <p:nvPr/>
        </p:nvSpPr>
        <p:spPr>
          <a:xfrm>
            <a:off x="4692841" y="2201020"/>
            <a:ext cx="345643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0E7C8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966 fact</a:t>
            </a:r>
            <a:endParaRPr lang="en-US" sz="2400" dirty="0"/>
          </a:p>
        </p:txBody>
      </p:sp>
      <p:sp>
        <p:nvSpPr>
          <p:cNvPr id="112" name="Shape 18">
            <a:extLst>
              <a:ext uri="{FF2B5EF4-FFF2-40B4-BE49-F238E27FC236}">
                <a16:creationId xmlns:a16="http://schemas.microsoft.com/office/drawing/2014/main" id="{E0C6C51D-76DE-227E-8E3B-4F993725CD79}"/>
              </a:ext>
            </a:extLst>
          </p:cNvPr>
          <p:cNvSpPr/>
          <p:nvPr/>
        </p:nvSpPr>
        <p:spPr>
          <a:xfrm>
            <a:off x="6465761" y="2171048"/>
            <a:ext cx="1508760" cy="608838"/>
          </a:xfrm>
          <a:prstGeom prst="roundRect">
            <a:avLst>
              <a:gd name="adj" fmla="val 8929"/>
            </a:avLst>
          </a:prstGeom>
          <a:solidFill>
            <a:srgbClr val="FFFFFF"/>
          </a:solidFill>
          <a:ln w="12700">
            <a:solidFill>
              <a:srgbClr val="DCE7E9"/>
            </a:solidFill>
            <a:prstDash val="solid"/>
          </a:ln>
        </p:spPr>
        <p:txBody>
          <a:bodyPr/>
          <a:lstStyle/>
          <a:p>
            <a:endParaRPr lang="fr-RE" sz="2800"/>
          </a:p>
        </p:txBody>
      </p:sp>
      <p:sp>
        <p:nvSpPr>
          <p:cNvPr id="114" name="Text 19">
            <a:extLst>
              <a:ext uri="{FF2B5EF4-FFF2-40B4-BE49-F238E27FC236}">
                <a16:creationId xmlns:a16="http://schemas.microsoft.com/office/drawing/2014/main" id="{1C544966-EED5-0DF1-B563-6F2CF09FC910}"/>
              </a:ext>
            </a:extLst>
          </p:cNvPr>
          <p:cNvSpPr/>
          <p:nvPr/>
        </p:nvSpPr>
        <p:spPr>
          <a:xfrm>
            <a:off x="6465761" y="2171048"/>
            <a:ext cx="1508760" cy="6088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95000"/>
              </a:lnSpc>
              <a:buNone/>
            </a:pPr>
            <a:r>
              <a:rPr lang="en-US" sz="1050" dirty="0">
                <a:solidFill>
                  <a:srgbClr val="8A9BA3"/>
                </a:solidFill>
              </a:rPr>
              <a:t>N-1 : 870</a:t>
            </a:r>
            <a:endParaRPr lang="en-US" sz="1050" dirty="0"/>
          </a:p>
          <a:p>
            <a:pPr algn="ctr">
              <a:lnSpc>
                <a:spcPct val="95000"/>
              </a:lnSpc>
            </a:pPr>
            <a:r>
              <a:rPr lang="en-US" sz="1600" b="1" dirty="0">
                <a:solidFill>
                  <a:srgbClr val="2E7D32"/>
                </a:solidFill>
              </a:rPr>
              <a:t>▲ +11 %</a:t>
            </a:r>
            <a:endParaRPr lang="en-US" sz="1050" dirty="0"/>
          </a:p>
        </p:txBody>
      </p:sp>
      <p:sp>
        <p:nvSpPr>
          <p:cNvPr id="22" name="ZoneTexte 21">
            <a:extLst>
              <a:ext uri="{FF2B5EF4-FFF2-40B4-BE49-F238E27FC236}">
                <a16:creationId xmlns:a16="http://schemas.microsoft.com/office/drawing/2014/main" id="{284C1727-59D5-585B-CE73-DC97DCCFD0E9}"/>
              </a:ext>
            </a:extLst>
          </p:cNvPr>
          <p:cNvSpPr txBox="1"/>
          <p:nvPr/>
        </p:nvSpPr>
        <p:spPr>
          <a:xfrm>
            <a:off x="619760" y="5580914"/>
            <a:ext cx="11106423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RE" sz="1200" i="1" dirty="0"/>
              <a:t>+45% </a:t>
            </a:r>
            <a:r>
              <a:rPr lang="fr-RE" sz="1200" i="1" dirty="0" err="1"/>
              <a:t>Cdes</a:t>
            </a:r>
            <a:r>
              <a:rPr lang="fr-RE" sz="1200" i="1" dirty="0"/>
              <a:t> passées : ventes Franck dernière semaine d’Aout</a:t>
            </a:r>
          </a:p>
          <a:p>
            <a:r>
              <a:rPr lang="fr-RE" sz="1200" i="1" dirty="0"/>
              <a:t>-28% Fact expliquées par la baisse du panier moyen </a:t>
            </a:r>
          </a:p>
          <a:p>
            <a:pPr marL="171450" indent="-171450">
              <a:buFontTx/>
              <a:buChar char="-"/>
            </a:pPr>
            <a:r>
              <a:rPr lang="fr-RE" sz="1200" i="1" dirty="0"/>
              <a:t>30% PM (avec Franck) de juillet 323€ et Juin 351€ donc pas d’alerte</a:t>
            </a:r>
          </a:p>
          <a:p>
            <a:pPr marL="171450" indent="-171450">
              <a:buFontTx/>
              <a:buChar char="-"/>
            </a:pPr>
            <a:r>
              <a:rPr lang="fr-RE" sz="1200" i="1" dirty="0"/>
              <a:t>296€ PM (sans Franck) stables sur les trois mois mais moins bon que l’année dernière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B3322C7-6BC1-4C1A-6B41-89CD5458EE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Shape 4">
            <a:extLst>
              <a:ext uri="{FF2B5EF4-FFF2-40B4-BE49-F238E27FC236}">
                <a16:creationId xmlns:a16="http://schemas.microsoft.com/office/drawing/2014/main" id="{DFA0FCFE-DB74-CBA9-DC83-5123FA6A486F}"/>
              </a:ext>
            </a:extLst>
          </p:cNvPr>
          <p:cNvSpPr/>
          <p:nvPr/>
        </p:nvSpPr>
        <p:spPr>
          <a:xfrm>
            <a:off x="6541681" y="1115568"/>
            <a:ext cx="4232832" cy="2657788"/>
          </a:xfrm>
          <a:prstGeom prst="roundRect">
            <a:avLst>
              <a:gd name="adj" fmla="val 3232"/>
            </a:avLst>
          </a:prstGeom>
          <a:solidFill>
            <a:srgbClr val="F2F7F8"/>
          </a:solidFill>
          <a:ln w="12700">
            <a:solidFill>
              <a:srgbClr val="DCE7E9"/>
            </a:solidFill>
            <a:prstDash val="solid"/>
          </a:ln>
          <a:effectLst>
            <a:outerShdw blurRad="76200" dist="38100" dir="5400000" algn="bl" rotWithShape="0">
              <a:srgbClr val="9AB2B6">
                <a:alpha val="35000"/>
              </a:srgbClr>
            </a:outerShdw>
          </a:effectLst>
        </p:spPr>
        <p:txBody>
          <a:bodyPr/>
          <a:lstStyle/>
          <a:p>
            <a:endParaRPr lang="fr-RE" dirty="0"/>
          </a:p>
        </p:txBody>
      </p:sp>
      <p:sp>
        <p:nvSpPr>
          <p:cNvPr id="67" name="Shape 25">
            <a:extLst>
              <a:ext uri="{FF2B5EF4-FFF2-40B4-BE49-F238E27FC236}">
                <a16:creationId xmlns:a16="http://schemas.microsoft.com/office/drawing/2014/main" id="{962521AF-F257-6E07-B369-860977715D75}"/>
              </a:ext>
            </a:extLst>
          </p:cNvPr>
          <p:cNvSpPr/>
          <p:nvPr/>
        </p:nvSpPr>
        <p:spPr>
          <a:xfrm>
            <a:off x="6685331" y="2623475"/>
            <a:ext cx="4015291" cy="778851"/>
          </a:xfrm>
          <a:prstGeom prst="roundRect">
            <a:avLst>
              <a:gd name="adj" fmla="val 8929"/>
            </a:avLst>
          </a:prstGeom>
          <a:solidFill>
            <a:srgbClr val="FFFFFF"/>
          </a:solidFill>
          <a:ln w="12700">
            <a:solidFill>
              <a:srgbClr val="DCE7E9"/>
            </a:solidFill>
            <a:prstDash val="solid"/>
          </a:ln>
        </p:spPr>
        <p:txBody>
          <a:bodyPr/>
          <a:lstStyle/>
          <a:p>
            <a:endParaRPr lang="fr-RE" sz="2800"/>
          </a:p>
        </p:txBody>
      </p:sp>
      <p:sp>
        <p:nvSpPr>
          <p:cNvPr id="65" name="Shape 25">
            <a:extLst>
              <a:ext uri="{FF2B5EF4-FFF2-40B4-BE49-F238E27FC236}">
                <a16:creationId xmlns:a16="http://schemas.microsoft.com/office/drawing/2014/main" id="{10073DEA-5355-7BE9-CB55-72B6162065AF}"/>
              </a:ext>
            </a:extLst>
          </p:cNvPr>
          <p:cNvSpPr/>
          <p:nvPr/>
        </p:nvSpPr>
        <p:spPr>
          <a:xfrm>
            <a:off x="6685330" y="1761753"/>
            <a:ext cx="4015291" cy="778851"/>
          </a:xfrm>
          <a:prstGeom prst="roundRect">
            <a:avLst>
              <a:gd name="adj" fmla="val 8929"/>
            </a:avLst>
          </a:prstGeom>
          <a:solidFill>
            <a:srgbClr val="FFFFFF"/>
          </a:solidFill>
          <a:ln w="12700">
            <a:solidFill>
              <a:srgbClr val="DCE7E9"/>
            </a:solidFill>
            <a:prstDash val="solid"/>
          </a:ln>
        </p:spPr>
        <p:txBody>
          <a:bodyPr/>
          <a:lstStyle/>
          <a:p>
            <a:endParaRPr lang="fr-RE" sz="2800"/>
          </a:p>
        </p:txBody>
      </p:sp>
      <p:sp>
        <p:nvSpPr>
          <p:cNvPr id="2" name="Shape 0">
            <a:extLst>
              <a:ext uri="{FF2B5EF4-FFF2-40B4-BE49-F238E27FC236}">
                <a16:creationId xmlns:a16="http://schemas.microsoft.com/office/drawing/2014/main" id="{19ADB3F2-A904-41E7-4793-0A923C37E46A}"/>
              </a:ext>
            </a:extLst>
          </p:cNvPr>
          <p:cNvSpPr/>
          <p:nvPr/>
        </p:nvSpPr>
        <p:spPr>
          <a:xfrm>
            <a:off x="502920" y="457200"/>
            <a:ext cx="658368" cy="658368"/>
          </a:xfrm>
          <a:prstGeom prst="ellipse">
            <a:avLst/>
          </a:prstGeom>
          <a:solidFill>
            <a:srgbClr val="0E7C86"/>
          </a:solidFill>
          <a:ln/>
        </p:spPr>
        <p:txBody>
          <a:bodyPr/>
          <a:lstStyle/>
          <a:p>
            <a:endParaRPr lang="fr-RE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7E45DFE7-59A4-10B9-9FC1-AACF91FEA072}"/>
              </a:ext>
            </a:extLst>
          </p:cNvPr>
          <p:cNvSpPr/>
          <p:nvPr/>
        </p:nvSpPr>
        <p:spPr>
          <a:xfrm>
            <a:off x="502920" y="457200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</a:t>
            </a:r>
            <a:endParaRPr lang="en-US" sz="2600" dirty="0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2AB23C03-86A3-5492-5DDA-848350FB1026}"/>
              </a:ext>
            </a:extLst>
          </p:cNvPr>
          <p:cNvSpPr/>
          <p:nvPr/>
        </p:nvSpPr>
        <p:spPr>
          <a:xfrm>
            <a:off x="1325880" y="420624"/>
            <a:ext cx="9144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2B3A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Commerce</a:t>
            </a:r>
            <a:endParaRPr lang="en-US" sz="3200" dirty="0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2EC29A5C-837A-9DA3-B720-C94C41D01FCC}"/>
              </a:ext>
            </a:extLst>
          </p:cNvPr>
          <p:cNvSpPr/>
          <p:nvPr/>
        </p:nvSpPr>
        <p:spPr>
          <a:xfrm>
            <a:off x="1344168" y="914400"/>
            <a:ext cx="82296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8A9B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Indicateurs — </a:t>
            </a:r>
            <a:r>
              <a:rPr lang="en-US" sz="1300" dirty="0" err="1">
                <a:solidFill>
                  <a:srgbClr val="8A9B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Août</a:t>
            </a:r>
            <a:r>
              <a:rPr lang="en-US" sz="1300" dirty="0">
                <a:solidFill>
                  <a:srgbClr val="8A9B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2026</a:t>
            </a:r>
            <a:endParaRPr lang="en-US" sz="1300" dirty="0"/>
          </a:p>
        </p:txBody>
      </p:sp>
      <p:sp>
        <p:nvSpPr>
          <p:cNvPr id="30" name="Shape 28">
            <a:extLst>
              <a:ext uri="{FF2B5EF4-FFF2-40B4-BE49-F238E27FC236}">
                <a16:creationId xmlns:a16="http://schemas.microsoft.com/office/drawing/2014/main" id="{4E63883B-8096-C971-4F16-D3F8F7686DA5}"/>
              </a:ext>
            </a:extLst>
          </p:cNvPr>
          <p:cNvSpPr/>
          <p:nvPr/>
        </p:nvSpPr>
        <p:spPr>
          <a:xfrm>
            <a:off x="163483" y="1795360"/>
            <a:ext cx="4619181" cy="4278746"/>
          </a:xfrm>
          <a:prstGeom prst="roundRect">
            <a:avLst>
              <a:gd name="adj" fmla="val 3232"/>
            </a:avLst>
          </a:prstGeom>
          <a:solidFill>
            <a:srgbClr val="F2F7F8"/>
          </a:solidFill>
          <a:ln w="12700">
            <a:solidFill>
              <a:srgbClr val="DCE7E9"/>
            </a:solidFill>
            <a:prstDash val="solid"/>
          </a:ln>
          <a:effectLst>
            <a:outerShdw blurRad="76200" dist="38100" dir="5400000" algn="bl" rotWithShape="0">
              <a:srgbClr val="9AB2B6">
                <a:alpha val="35000"/>
              </a:srgbClr>
            </a:outerShdw>
          </a:effectLst>
        </p:spPr>
        <p:txBody>
          <a:bodyPr/>
          <a:lstStyle/>
          <a:p>
            <a:endParaRPr lang="fr-RE"/>
          </a:p>
        </p:txBody>
      </p:sp>
      <p:sp>
        <p:nvSpPr>
          <p:cNvPr id="31" name="Shape 29">
            <a:extLst>
              <a:ext uri="{FF2B5EF4-FFF2-40B4-BE49-F238E27FC236}">
                <a16:creationId xmlns:a16="http://schemas.microsoft.com/office/drawing/2014/main" id="{07AA5535-59A2-7B2D-C775-F305E97B3198}"/>
              </a:ext>
            </a:extLst>
          </p:cNvPr>
          <p:cNvSpPr/>
          <p:nvPr/>
        </p:nvSpPr>
        <p:spPr>
          <a:xfrm>
            <a:off x="392084" y="2162508"/>
            <a:ext cx="146304" cy="146304"/>
          </a:xfrm>
          <a:prstGeom prst="ellipse">
            <a:avLst/>
          </a:prstGeom>
          <a:solidFill>
            <a:srgbClr val="0E7C86"/>
          </a:solidFill>
          <a:ln/>
        </p:spPr>
        <p:txBody>
          <a:bodyPr/>
          <a:lstStyle/>
          <a:p>
            <a:endParaRPr lang="fr-RE"/>
          </a:p>
        </p:txBody>
      </p:sp>
      <p:sp>
        <p:nvSpPr>
          <p:cNvPr id="32" name="Text 30">
            <a:extLst>
              <a:ext uri="{FF2B5EF4-FFF2-40B4-BE49-F238E27FC236}">
                <a16:creationId xmlns:a16="http://schemas.microsoft.com/office/drawing/2014/main" id="{583FAB3F-6C91-0B62-25E0-C8D4021FFC87}"/>
              </a:ext>
            </a:extLst>
          </p:cNvPr>
          <p:cNvSpPr/>
          <p:nvPr/>
        </p:nvSpPr>
        <p:spPr>
          <a:xfrm>
            <a:off x="620683" y="2043635"/>
            <a:ext cx="4017603" cy="40981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 err="1">
                <a:solidFill>
                  <a:srgbClr val="2B3A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Commandes</a:t>
            </a:r>
            <a:r>
              <a:rPr lang="en-US" sz="1400" b="1" dirty="0">
                <a:solidFill>
                  <a:srgbClr val="2B3A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de 2026 </a:t>
            </a:r>
            <a:r>
              <a:rPr lang="en-US" sz="1400" b="1" dirty="0" err="1">
                <a:solidFill>
                  <a:srgbClr val="2B3A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</a:t>
            </a:r>
            <a:r>
              <a:rPr lang="en-US" sz="1400" b="1" dirty="0">
                <a:solidFill>
                  <a:srgbClr val="2B3A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400" b="1" dirty="0" err="1">
                <a:solidFill>
                  <a:srgbClr val="2B3A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attente</a:t>
            </a:r>
            <a:r>
              <a:rPr lang="en-US" sz="1400" b="1" dirty="0">
                <a:solidFill>
                  <a:srgbClr val="2B3A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de livraison au 5 </a:t>
            </a:r>
            <a:r>
              <a:rPr lang="en-US" sz="1400" b="1" dirty="0" err="1">
                <a:solidFill>
                  <a:srgbClr val="2B3A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Septembre</a:t>
            </a:r>
            <a:r>
              <a:rPr lang="en-US" sz="1400" b="1" dirty="0">
                <a:solidFill>
                  <a:srgbClr val="2B3A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(</a:t>
            </a:r>
            <a:r>
              <a:rPr lang="en-US" sz="1400" b="1" dirty="0" err="1">
                <a:solidFill>
                  <a:srgbClr val="2B3A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attente</a:t>
            </a:r>
            <a:r>
              <a:rPr lang="en-US" sz="1400" b="1" dirty="0">
                <a:solidFill>
                  <a:srgbClr val="2B3A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de stock)</a:t>
            </a:r>
            <a:endParaRPr lang="en-US" sz="1400" dirty="0"/>
          </a:p>
        </p:txBody>
      </p:sp>
      <p:sp>
        <p:nvSpPr>
          <p:cNvPr id="40" name="Shape 38">
            <a:extLst>
              <a:ext uri="{FF2B5EF4-FFF2-40B4-BE49-F238E27FC236}">
                <a16:creationId xmlns:a16="http://schemas.microsoft.com/office/drawing/2014/main" id="{185A19F5-4A56-4B41-3C03-7A00A2A0A09B}"/>
              </a:ext>
            </a:extLst>
          </p:cNvPr>
          <p:cNvSpPr/>
          <p:nvPr/>
        </p:nvSpPr>
        <p:spPr>
          <a:xfrm>
            <a:off x="6541681" y="3919252"/>
            <a:ext cx="4232832" cy="2452483"/>
          </a:xfrm>
          <a:prstGeom prst="roundRect">
            <a:avLst>
              <a:gd name="adj" fmla="val 3232"/>
            </a:avLst>
          </a:prstGeom>
          <a:solidFill>
            <a:srgbClr val="F2F7F8"/>
          </a:solidFill>
          <a:ln w="12700">
            <a:solidFill>
              <a:srgbClr val="DCE7E9"/>
            </a:solidFill>
            <a:prstDash val="solid"/>
          </a:ln>
          <a:effectLst>
            <a:outerShdw blurRad="76200" dist="38100" dir="5400000" algn="bl" rotWithShape="0">
              <a:srgbClr val="9AB2B6">
                <a:alpha val="35000"/>
              </a:srgbClr>
            </a:outerShdw>
          </a:effectLst>
        </p:spPr>
        <p:txBody>
          <a:bodyPr/>
          <a:lstStyle/>
          <a:p>
            <a:endParaRPr lang="fr-RE"/>
          </a:p>
        </p:txBody>
      </p:sp>
      <p:sp>
        <p:nvSpPr>
          <p:cNvPr id="42" name="Text 40">
            <a:extLst>
              <a:ext uri="{FF2B5EF4-FFF2-40B4-BE49-F238E27FC236}">
                <a16:creationId xmlns:a16="http://schemas.microsoft.com/office/drawing/2014/main" id="{E8FD48F6-9516-E865-0AF3-3768D46EB234}"/>
              </a:ext>
            </a:extLst>
          </p:cNvPr>
          <p:cNvSpPr/>
          <p:nvPr/>
        </p:nvSpPr>
        <p:spPr>
          <a:xfrm>
            <a:off x="6841609" y="3979560"/>
            <a:ext cx="3436859" cy="40981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2B3A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Nouveaux clients (1ière </a:t>
            </a:r>
            <a:r>
              <a:rPr lang="en-US" sz="1400" b="1" dirty="0" err="1">
                <a:solidFill>
                  <a:srgbClr val="2B3A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cde</a:t>
            </a:r>
            <a:r>
              <a:rPr lang="en-US" sz="1400" b="1" dirty="0">
                <a:solidFill>
                  <a:srgbClr val="2B3A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)</a:t>
            </a:r>
            <a:endParaRPr lang="en-US" sz="1400" dirty="0"/>
          </a:p>
        </p:txBody>
      </p:sp>
      <p:sp>
        <p:nvSpPr>
          <p:cNvPr id="43" name="Text 41">
            <a:extLst>
              <a:ext uri="{FF2B5EF4-FFF2-40B4-BE49-F238E27FC236}">
                <a16:creationId xmlns:a16="http://schemas.microsoft.com/office/drawing/2014/main" id="{82E7E1AC-9952-DBF9-A931-D2E6D0575257}"/>
              </a:ext>
            </a:extLst>
          </p:cNvPr>
          <p:cNvSpPr/>
          <p:nvPr/>
        </p:nvSpPr>
        <p:spPr>
          <a:xfrm>
            <a:off x="7122301" y="4496448"/>
            <a:ext cx="1825752" cy="384049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0E7C8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44 clients</a:t>
            </a:r>
            <a:endParaRPr lang="en-US" sz="2200" dirty="0"/>
          </a:p>
        </p:txBody>
      </p:sp>
      <p:sp>
        <p:nvSpPr>
          <p:cNvPr id="46" name="Text 44">
            <a:extLst>
              <a:ext uri="{FF2B5EF4-FFF2-40B4-BE49-F238E27FC236}">
                <a16:creationId xmlns:a16="http://schemas.microsoft.com/office/drawing/2014/main" id="{CEF9CB9D-EB0D-B26B-0628-995C74B5B7E1}"/>
              </a:ext>
            </a:extLst>
          </p:cNvPr>
          <p:cNvSpPr/>
          <p:nvPr/>
        </p:nvSpPr>
        <p:spPr>
          <a:xfrm>
            <a:off x="7122301" y="5217125"/>
            <a:ext cx="1825752" cy="32411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0E7C8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15,3 €</a:t>
            </a:r>
            <a:endParaRPr lang="en-US" sz="2200" dirty="0"/>
          </a:p>
        </p:txBody>
      </p:sp>
      <p:sp>
        <p:nvSpPr>
          <p:cNvPr id="69" name="ZoneTexte 68">
            <a:extLst>
              <a:ext uri="{FF2B5EF4-FFF2-40B4-BE49-F238E27FC236}">
                <a16:creationId xmlns:a16="http://schemas.microsoft.com/office/drawing/2014/main" id="{80A617D8-52FA-1800-6580-BBE418FFA6DB}"/>
              </a:ext>
            </a:extLst>
          </p:cNvPr>
          <p:cNvSpPr txBox="1"/>
          <p:nvPr/>
        </p:nvSpPr>
        <p:spPr>
          <a:xfrm>
            <a:off x="224724" y="5590087"/>
            <a:ext cx="4413562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050" i="1" dirty="0">
                <a:solidFill>
                  <a:srgbClr val="8A9B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=&gt; Cdes / à </a:t>
            </a:r>
            <a:r>
              <a:rPr lang="en-US" sz="1050" i="1" dirty="0" err="1">
                <a:solidFill>
                  <a:srgbClr val="8A9B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livrer</a:t>
            </a:r>
            <a:r>
              <a:rPr lang="en-US" sz="1050" i="1" dirty="0">
                <a:solidFill>
                  <a:srgbClr val="8A9B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/ </a:t>
            </a:r>
            <a:r>
              <a:rPr lang="en-US" sz="1050" i="1" dirty="0" err="1">
                <a:solidFill>
                  <a:srgbClr val="8A9B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filtre</a:t>
            </a:r>
            <a:r>
              <a:rPr lang="en-US" sz="1050" i="1" dirty="0">
                <a:solidFill>
                  <a:srgbClr val="8A9B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sur date livraison =</a:t>
            </a:r>
            <a:r>
              <a:rPr lang="en-US" sz="1050" i="1" dirty="0" err="1">
                <a:solidFill>
                  <a:srgbClr val="8A9B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Aout</a:t>
            </a:r>
            <a:r>
              <a:rPr lang="en-US" sz="1050" i="1" dirty="0">
                <a:solidFill>
                  <a:srgbClr val="8A9B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) / </a:t>
            </a:r>
            <a:r>
              <a:rPr lang="en-US" sz="1050" i="1" dirty="0" err="1">
                <a:solidFill>
                  <a:srgbClr val="8A9B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filtre</a:t>
            </a:r>
            <a:r>
              <a:rPr lang="en-US" sz="1050" i="1" dirty="0">
                <a:solidFill>
                  <a:srgbClr val="8A9B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050" i="1" dirty="0" err="1">
                <a:solidFill>
                  <a:srgbClr val="8A9B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Repr</a:t>
            </a:r>
            <a:r>
              <a:rPr lang="en-US" sz="1050" i="1" dirty="0">
                <a:solidFill>
                  <a:srgbClr val="8A9B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= </a:t>
            </a:r>
            <a:r>
              <a:rPr lang="en-US" sz="1050" i="1" dirty="0" err="1">
                <a:solidFill>
                  <a:srgbClr val="8A9B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repr</a:t>
            </a:r>
            <a:r>
              <a:rPr lang="en-US" sz="1050" i="1" dirty="0">
                <a:solidFill>
                  <a:srgbClr val="8A9B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x6 </a:t>
            </a:r>
          </a:p>
        </p:txBody>
      </p:sp>
      <p:sp>
        <p:nvSpPr>
          <p:cNvPr id="38" name="Shape 25">
            <a:extLst>
              <a:ext uri="{FF2B5EF4-FFF2-40B4-BE49-F238E27FC236}">
                <a16:creationId xmlns:a16="http://schemas.microsoft.com/office/drawing/2014/main" id="{2936EA66-811E-E1D2-21D0-6AF4DC953C5A}"/>
              </a:ext>
            </a:extLst>
          </p:cNvPr>
          <p:cNvSpPr/>
          <p:nvPr/>
        </p:nvSpPr>
        <p:spPr>
          <a:xfrm>
            <a:off x="9139660" y="4525739"/>
            <a:ext cx="1207008" cy="608838"/>
          </a:xfrm>
          <a:prstGeom prst="roundRect">
            <a:avLst>
              <a:gd name="adj" fmla="val 8929"/>
            </a:avLst>
          </a:prstGeom>
          <a:solidFill>
            <a:srgbClr val="FFFFFF"/>
          </a:solidFill>
          <a:ln w="12700">
            <a:solidFill>
              <a:srgbClr val="DCE7E9"/>
            </a:solidFill>
            <a:prstDash val="solid"/>
          </a:ln>
        </p:spPr>
        <p:txBody>
          <a:bodyPr/>
          <a:lstStyle/>
          <a:p>
            <a:endParaRPr lang="fr-RE" sz="2800"/>
          </a:p>
        </p:txBody>
      </p:sp>
      <p:sp>
        <p:nvSpPr>
          <p:cNvPr id="49" name="Text 26">
            <a:extLst>
              <a:ext uri="{FF2B5EF4-FFF2-40B4-BE49-F238E27FC236}">
                <a16:creationId xmlns:a16="http://schemas.microsoft.com/office/drawing/2014/main" id="{02F71DF6-D7AE-3B49-7C44-40B2C459D98A}"/>
              </a:ext>
            </a:extLst>
          </p:cNvPr>
          <p:cNvSpPr/>
          <p:nvPr/>
        </p:nvSpPr>
        <p:spPr>
          <a:xfrm>
            <a:off x="9097535" y="4523497"/>
            <a:ext cx="1207008" cy="6088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95000"/>
              </a:lnSpc>
              <a:buNone/>
            </a:pPr>
            <a:r>
              <a:rPr lang="en-US" sz="1050" dirty="0" err="1">
                <a:solidFill>
                  <a:srgbClr val="8A9BA3"/>
                </a:solidFill>
              </a:rPr>
              <a:t>Mois</a:t>
            </a:r>
            <a:r>
              <a:rPr lang="en-US" sz="1050" dirty="0">
                <a:solidFill>
                  <a:srgbClr val="8A9BA3"/>
                </a:solidFill>
              </a:rPr>
              <a:t> -1 : 39</a:t>
            </a:r>
            <a:endParaRPr lang="en-US" sz="1050" dirty="0"/>
          </a:p>
          <a:p>
            <a:pPr algn="ctr">
              <a:lnSpc>
                <a:spcPct val="95000"/>
              </a:lnSpc>
            </a:pPr>
            <a:r>
              <a:rPr lang="en-US" sz="1600" b="1" dirty="0">
                <a:solidFill>
                  <a:srgbClr val="2E7D32"/>
                </a:solidFill>
              </a:rPr>
              <a:t>▲ +12,8 %</a:t>
            </a:r>
            <a:endParaRPr lang="en-US" sz="1050" dirty="0"/>
          </a:p>
        </p:txBody>
      </p:sp>
      <p:sp>
        <p:nvSpPr>
          <p:cNvPr id="54" name="Shape 25">
            <a:extLst>
              <a:ext uri="{FF2B5EF4-FFF2-40B4-BE49-F238E27FC236}">
                <a16:creationId xmlns:a16="http://schemas.microsoft.com/office/drawing/2014/main" id="{E75CADF6-193F-41AF-8B09-E7808105362E}"/>
              </a:ext>
            </a:extLst>
          </p:cNvPr>
          <p:cNvSpPr/>
          <p:nvPr/>
        </p:nvSpPr>
        <p:spPr>
          <a:xfrm>
            <a:off x="9191358" y="5215031"/>
            <a:ext cx="1207008" cy="608838"/>
          </a:xfrm>
          <a:prstGeom prst="roundRect">
            <a:avLst>
              <a:gd name="adj" fmla="val 8929"/>
            </a:avLst>
          </a:prstGeom>
          <a:solidFill>
            <a:srgbClr val="FFFFFF"/>
          </a:solidFill>
          <a:ln w="12700">
            <a:solidFill>
              <a:srgbClr val="DCE7E9"/>
            </a:solidFill>
            <a:prstDash val="solid"/>
          </a:ln>
        </p:spPr>
        <p:txBody>
          <a:bodyPr/>
          <a:lstStyle/>
          <a:p>
            <a:endParaRPr lang="fr-RE" sz="2800"/>
          </a:p>
        </p:txBody>
      </p:sp>
      <p:sp>
        <p:nvSpPr>
          <p:cNvPr id="57" name="Text 26">
            <a:extLst>
              <a:ext uri="{FF2B5EF4-FFF2-40B4-BE49-F238E27FC236}">
                <a16:creationId xmlns:a16="http://schemas.microsoft.com/office/drawing/2014/main" id="{98CB23F2-51D0-C031-1222-85A077345FC6}"/>
              </a:ext>
            </a:extLst>
          </p:cNvPr>
          <p:cNvSpPr/>
          <p:nvPr/>
        </p:nvSpPr>
        <p:spPr>
          <a:xfrm>
            <a:off x="9131980" y="5247295"/>
            <a:ext cx="1207008" cy="6088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95000"/>
              </a:lnSpc>
            </a:pPr>
            <a:r>
              <a:rPr lang="en-US" sz="1050" dirty="0" err="1">
                <a:solidFill>
                  <a:srgbClr val="8A9BA3"/>
                </a:solidFill>
              </a:rPr>
              <a:t>Mois</a:t>
            </a:r>
            <a:r>
              <a:rPr lang="en-US" sz="1050" dirty="0">
                <a:solidFill>
                  <a:srgbClr val="8A9BA3"/>
                </a:solidFill>
              </a:rPr>
              <a:t> -1 : 11 k€</a:t>
            </a:r>
            <a:endParaRPr lang="en-US" sz="1050" dirty="0"/>
          </a:p>
          <a:p>
            <a:pPr algn="ctr">
              <a:lnSpc>
                <a:spcPct val="95000"/>
              </a:lnSpc>
            </a:pPr>
            <a:r>
              <a:rPr lang="en-US" sz="1600" b="1" dirty="0">
                <a:solidFill>
                  <a:srgbClr val="2E7D32"/>
                </a:solidFill>
              </a:rPr>
              <a:t>▲ +41 %</a:t>
            </a:r>
            <a:endParaRPr lang="en-US" sz="1050" dirty="0"/>
          </a:p>
        </p:txBody>
      </p:sp>
      <p:graphicFrame>
        <p:nvGraphicFramePr>
          <p:cNvPr id="78" name="Tableau 77">
            <a:extLst>
              <a:ext uri="{FF2B5EF4-FFF2-40B4-BE49-F238E27FC236}">
                <a16:creationId xmlns:a16="http://schemas.microsoft.com/office/drawing/2014/main" id="{C33FB0EA-CF01-A3F0-279C-3D92BC15DE9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55386341"/>
              </p:ext>
            </p:extLst>
          </p:nvPr>
        </p:nvGraphicFramePr>
        <p:xfrm>
          <a:off x="816710" y="3003039"/>
          <a:ext cx="3302737" cy="1546301"/>
        </p:xfrm>
        <a:graphic>
          <a:graphicData uri="http://schemas.openxmlformats.org/drawingml/2006/table">
            <a:tbl>
              <a:tblPr lastRow="1" bandRow="1">
                <a:tableStyleId>{69012ECD-51FC-41F1-AA8D-1B2483CD663E}</a:tableStyleId>
              </a:tblPr>
              <a:tblGrid>
                <a:gridCol w="1589405">
                  <a:extLst>
                    <a:ext uri="{9D8B030D-6E8A-4147-A177-3AD203B41FA5}">
                      <a16:colId xmlns:a16="http://schemas.microsoft.com/office/drawing/2014/main" val="4089784123"/>
                    </a:ext>
                  </a:extLst>
                </a:gridCol>
                <a:gridCol w="564452">
                  <a:extLst>
                    <a:ext uri="{9D8B030D-6E8A-4147-A177-3AD203B41FA5}">
                      <a16:colId xmlns:a16="http://schemas.microsoft.com/office/drawing/2014/main" val="1205648959"/>
                    </a:ext>
                  </a:extLst>
                </a:gridCol>
                <a:gridCol w="1148880">
                  <a:extLst>
                    <a:ext uri="{9D8B030D-6E8A-4147-A177-3AD203B41FA5}">
                      <a16:colId xmlns:a16="http://schemas.microsoft.com/office/drawing/2014/main" val="3773576862"/>
                    </a:ext>
                  </a:extLst>
                </a:gridCol>
              </a:tblGrid>
              <a:tr h="388061">
                <a:tc>
                  <a:txBody>
                    <a:bodyPr/>
                    <a:lstStyle/>
                    <a:p>
                      <a:r>
                        <a:rPr lang="fr-FR" sz="1600" dirty="0">
                          <a:solidFill>
                            <a:srgbClr val="0E7C86"/>
                          </a:solidFill>
                        </a:rPr>
                        <a:t>Commande initiale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600" dirty="0">
                          <a:solidFill>
                            <a:srgbClr val="0E7C86"/>
                          </a:solidFill>
                        </a:rPr>
                        <a:t>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600" dirty="0">
                          <a:solidFill>
                            <a:srgbClr val="0E7C86"/>
                          </a:solidFill>
                        </a:rPr>
                        <a:t>14,1 k€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10462633"/>
                  </a:ext>
                </a:extLst>
              </a:tr>
              <a:tr h="388061">
                <a:tc>
                  <a:txBody>
                    <a:bodyPr/>
                    <a:lstStyle/>
                    <a:p>
                      <a:r>
                        <a:rPr lang="fr-FR" sz="1600" dirty="0">
                          <a:solidFill>
                            <a:srgbClr val="0E7C86"/>
                          </a:solidFill>
                        </a:rPr>
                        <a:t>Cde avec reliquats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600" dirty="0">
                          <a:solidFill>
                            <a:srgbClr val="0E7C86"/>
                          </a:solidFill>
                        </a:rPr>
                        <a:t>43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600" dirty="0">
                          <a:solidFill>
                            <a:srgbClr val="0E7C86"/>
                          </a:solidFill>
                        </a:rPr>
                        <a:t>5,3 k€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65904373"/>
                  </a:ext>
                </a:extLst>
              </a:tr>
              <a:tr h="388061">
                <a:tc>
                  <a:txBody>
                    <a:bodyPr/>
                    <a:lstStyle/>
                    <a:p>
                      <a:r>
                        <a:rPr lang="fr-FR" sz="1600" dirty="0">
                          <a:solidFill>
                            <a:srgbClr val="0E7C86"/>
                          </a:solidFill>
                        </a:rPr>
                        <a:t>TOTAL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600" dirty="0">
                          <a:solidFill>
                            <a:srgbClr val="0E7C86"/>
                          </a:solidFill>
                        </a:rPr>
                        <a:t>54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600" dirty="0">
                          <a:solidFill>
                            <a:srgbClr val="0E7C86"/>
                          </a:solidFill>
                        </a:rPr>
                        <a:t>19,4 k€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61454688"/>
                  </a:ext>
                </a:extLst>
              </a:tr>
            </a:tbl>
          </a:graphicData>
        </a:graphic>
      </p:graphicFrame>
      <p:sp>
        <p:nvSpPr>
          <p:cNvPr id="48" name="ZoneTexte 47">
            <a:extLst>
              <a:ext uri="{FF2B5EF4-FFF2-40B4-BE49-F238E27FC236}">
                <a16:creationId xmlns:a16="http://schemas.microsoft.com/office/drawing/2014/main" id="{A0EFBF83-D2F5-56C0-7E53-5C2D714A3FA7}"/>
              </a:ext>
            </a:extLst>
          </p:cNvPr>
          <p:cNvSpPr txBox="1"/>
          <p:nvPr/>
        </p:nvSpPr>
        <p:spPr>
          <a:xfrm>
            <a:off x="224724" y="4922393"/>
            <a:ext cx="4413562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100" i="1" dirty="0">
                <a:solidFill>
                  <a:srgbClr val="7030A0"/>
                </a:solidFill>
                <a:highlight>
                  <a:srgbClr val="FFFF00"/>
                </a:highlight>
                <a:latin typeface="Calibri" pitchFamily="34" charset="0"/>
                <a:ea typeface="Calibri" pitchFamily="34" charset="-122"/>
                <a:cs typeface="Calibri" pitchFamily="34" charset="-120"/>
              </a:rPr>
              <a:t>!!! </a:t>
            </a:r>
            <a:r>
              <a:rPr lang="en-US" sz="1100" i="1" dirty="0">
                <a:solidFill>
                  <a:srgbClr val="703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dates de livraisons </a:t>
            </a:r>
            <a:r>
              <a:rPr lang="en-US" sz="1100" i="1" dirty="0" err="1">
                <a:solidFill>
                  <a:srgbClr val="703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doivent</a:t>
            </a:r>
            <a:r>
              <a:rPr lang="en-US" sz="1100" i="1" dirty="0">
                <a:solidFill>
                  <a:srgbClr val="703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100" i="1" dirty="0" err="1">
                <a:solidFill>
                  <a:srgbClr val="703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être</a:t>
            </a:r>
            <a:r>
              <a:rPr lang="en-US" sz="1100" i="1" dirty="0">
                <a:solidFill>
                  <a:srgbClr val="703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au plus </a:t>
            </a:r>
            <a:r>
              <a:rPr lang="en-US" sz="1100" i="1" dirty="0" err="1">
                <a:solidFill>
                  <a:srgbClr val="703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proches</a:t>
            </a:r>
            <a:r>
              <a:rPr lang="en-US" sz="1100" i="1" dirty="0">
                <a:solidFill>
                  <a:srgbClr val="703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de la </a:t>
            </a:r>
            <a:r>
              <a:rPr lang="en-US" sz="1100" i="1" dirty="0" err="1">
                <a:solidFill>
                  <a:srgbClr val="703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réalité</a:t>
            </a:r>
            <a:r>
              <a:rPr lang="en-US" sz="1100" i="1" dirty="0">
                <a:solidFill>
                  <a:srgbClr val="703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mises à jour </a:t>
            </a:r>
            <a:r>
              <a:rPr lang="en-US" sz="1100" i="1" dirty="0" err="1">
                <a:solidFill>
                  <a:srgbClr val="703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régulièrement</a:t>
            </a:r>
            <a:r>
              <a:rPr lang="en-US" sz="1100" i="1" dirty="0">
                <a:solidFill>
                  <a:srgbClr val="703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100" i="1" dirty="0" err="1">
                <a:solidFill>
                  <a:srgbClr val="703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</a:t>
            </a:r>
            <a:r>
              <a:rPr lang="en-US" sz="1100" i="1" dirty="0">
                <a:solidFill>
                  <a:srgbClr val="703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necessaire. </a:t>
            </a:r>
          </a:p>
        </p:txBody>
      </p:sp>
      <p:sp>
        <p:nvSpPr>
          <p:cNvPr id="53" name="ZoneTexte 52">
            <a:extLst>
              <a:ext uri="{FF2B5EF4-FFF2-40B4-BE49-F238E27FC236}">
                <a16:creationId xmlns:a16="http://schemas.microsoft.com/office/drawing/2014/main" id="{F4A8768B-0407-5177-3618-4CE14F2DE445}"/>
              </a:ext>
            </a:extLst>
          </p:cNvPr>
          <p:cNvSpPr txBox="1"/>
          <p:nvPr/>
        </p:nvSpPr>
        <p:spPr>
          <a:xfrm>
            <a:off x="6685330" y="5838163"/>
            <a:ext cx="4089183" cy="4154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050" i="1" dirty="0">
                <a:solidFill>
                  <a:srgbClr val="8A9B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=&gt; Stats / KPI /  New Clients / </a:t>
            </a:r>
            <a:r>
              <a:rPr lang="en-US" sz="1050" i="1" dirty="0" err="1">
                <a:solidFill>
                  <a:srgbClr val="8A9B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filtres</a:t>
            </a:r>
            <a:r>
              <a:rPr lang="en-US" sz="1050" i="1" dirty="0">
                <a:solidFill>
                  <a:srgbClr val="8A9B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2026 / </a:t>
            </a:r>
            <a:r>
              <a:rPr lang="en-US" sz="1050" i="1" dirty="0" err="1">
                <a:solidFill>
                  <a:srgbClr val="8A9B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filtre</a:t>
            </a:r>
            <a:r>
              <a:rPr lang="en-US" sz="1050" i="1" dirty="0">
                <a:solidFill>
                  <a:srgbClr val="8A9B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050" i="1" dirty="0" err="1">
                <a:solidFill>
                  <a:srgbClr val="8A9B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nb</a:t>
            </a:r>
            <a:r>
              <a:rPr lang="en-US" sz="1050" i="1" dirty="0">
                <a:solidFill>
                  <a:srgbClr val="8A9B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050" i="1" dirty="0" err="1">
                <a:solidFill>
                  <a:srgbClr val="8A9B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mois</a:t>
            </a:r>
            <a:r>
              <a:rPr lang="en-US" sz="1050" i="1" dirty="0">
                <a:solidFill>
                  <a:srgbClr val="8A9B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0 / </a:t>
            </a:r>
            <a:r>
              <a:rPr lang="en-US" sz="1050" i="1" dirty="0" err="1">
                <a:solidFill>
                  <a:srgbClr val="8A9B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filtres</a:t>
            </a:r>
            <a:r>
              <a:rPr lang="en-US" sz="1050" i="1" dirty="0">
                <a:solidFill>
                  <a:srgbClr val="8A9B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050" i="1" dirty="0" err="1">
                <a:solidFill>
                  <a:srgbClr val="8A9B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Repr</a:t>
            </a:r>
            <a:r>
              <a:rPr lang="en-US" sz="1050" i="1" dirty="0">
                <a:solidFill>
                  <a:srgbClr val="8A9B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= commerce x6 + TCD</a:t>
            </a:r>
          </a:p>
        </p:txBody>
      </p:sp>
      <p:sp>
        <p:nvSpPr>
          <p:cNvPr id="7" name="ZoneTexte 6">
            <a:extLst>
              <a:ext uri="{FF2B5EF4-FFF2-40B4-BE49-F238E27FC236}">
                <a16:creationId xmlns:a16="http://schemas.microsoft.com/office/drawing/2014/main" id="{4ACD070A-69E5-C87C-D339-147EA7B1AB9F}"/>
              </a:ext>
            </a:extLst>
          </p:cNvPr>
          <p:cNvSpPr txBox="1"/>
          <p:nvPr/>
        </p:nvSpPr>
        <p:spPr>
          <a:xfrm>
            <a:off x="3129258" y="2707823"/>
            <a:ext cx="863284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RE" sz="1100" b="1" dirty="0">
                <a:solidFill>
                  <a:srgbClr val="065A82"/>
                </a:solidFill>
              </a:rPr>
              <a:t>A livrer net</a:t>
            </a:r>
          </a:p>
        </p:txBody>
      </p:sp>
      <p:sp>
        <p:nvSpPr>
          <p:cNvPr id="8" name="ZoneTexte 7">
            <a:extLst>
              <a:ext uri="{FF2B5EF4-FFF2-40B4-BE49-F238E27FC236}">
                <a16:creationId xmlns:a16="http://schemas.microsoft.com/office/drawing/2014/main" id="{C187DDF5-966A-A6FB-A0FE-27D9A05A5DFA}"/>
              </a:ext>
            </a:extLst>
          </p:cNvPr>
          <p:cNvSpPr txBox="1"/>
          <p:nvPr/>
        </p:nvSpPr>
        <p:spPr>
          <a:xfrm>
            <a:off x="2271009" y="2699803"/>
            <a:ext cx="863284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RE" sz="1100" b="1" dirty="0">
                <a:solidFill>
                  <a:srgbClr val="065A82"/>
                </a:solidFill>
              </a:rPr>
              <a:t>Nb</a:t>
            </a:r>
          </a:p>
        </p:txBody>
      </p:sp>
      <p:sp>
        <p:nvSpPr>
          <p:cNvPr id="9" name="ZoneTexte 8">
            <a:extLst>
              <a:ext uri="{FF2B5EF4-FFF2-40B4-BE49-F238E27FC236}">
                <a16:creationId xmlns:a16="http://schemas.microsoft.com/office/drawing/2014/main" id="{AB33D1F3-C609-ECBB-95E1-B4C3EF88BF9B}"/>
              </a:ext>
            </a:extLst>
          </p:cNvPr>
          <p:cNvSpPr txBox="1"/>
          <p:nvPr/>
        </p:nvSpPr>
        <p:spPr>
          <a:xfrm>
            <a:off x="819092" y="6270153"/>
            <a:ext cx="1110642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RE" sz="1200" i="1" dirty="0"/>
              <a:t>54 Vs en attente total 134 juillet pb d’appro en juillet ? </a:t>
            </a:r>
          </a:p>
        </p:txBody>
      </p:sp>
      <p:sp>
        <p:nvSpPr>
          <p:cNvPr id="13" name="Shape 5">
            <a:extLst>
              <a:ext uri="{FF2B5EF4-FFF2-40B4-BE49-F238E27FC236}">
                <a16:creationId xmlns:a16="http://schemas.microsoft.com/office/drawing/2014/main" id="{CE32DB70-3152-DD08-2949-80258BE7D70C}"/>
              </a:ext>
            </a:extLst>
          </p:cNvPr>
          <p:cNvSpPr/>
          <p:nvPr/>
        </p:nvSpPr>
        <p:spPr>
          <a:xfrm>
            <a:off x="6770281" y="1378574"/>
            <a:ext cx="146304" cy="146304"/>
          </a:xfrm>
          <a:prstGeom prst="ellipse">
            <a:avLst/>
          </a:prstGeom>
          <a:solidFill>
            <a:srgbClr val="065A82"/>
          </a:solidFill>
          <a:ln/>
        </p:spPr>
        <p:txBody>
          <a:bodyPr/>
          <a:lstStyle/>
          <a:p>
            <a:endParaRPr lang="fr-RE"/>
          </a:p>
        </p:txBody>
      </p:sp>
      <p:sp>
        <p:nvSpPr>
          <p:cNvPr id="15" name="Text 6">
            <a:extLst>
              <a:ext uri="{FF2B5EF4-FFF2-40B4-BE49-F238E27FC236}">
                <a16:creationId xmlns:a16="http://schemas.microsoft.com/office/drawing/2014/main" id="{DA1142B9-077C-7818-C210-06633BC95F99}"/>
              </a:ext>
            </a:extLst>
          </p:cNvPr>
          <p:cNvSpPr/>
          <p:nvPr/>
        </p:nvSpPr>
        <p:spPr>
          <a:xfrm>
            <a:off x="6998881" y="1277990"/>
            <a:ext cx="2849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 err="1">
                <a:solidFill>
                  <a:srgbClr val="2B3A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Commandes</a:t>
            </a:r>
            <a:r>
              <a:rPr lang="en-US" sz="1300" b="1" dirty="0">
                <a:solidFill>
                  <a:srgbClr val="2B3A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sous le </a:t>
            </a:r>
            <a:r>
              <a:rPr lang="en-US" sz="1300" b="1" dirty="0" err="1">
                <a:solidFill>
                  <a:srgbClr val="2B3A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seuil</a:t>
            </a:r>
            <a:r>
              <a:rPr lang="en-US" sz="1300" b="1" dirty="0">
                <a:solidFill>
                  <a:srgbClr val="2B3A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livraison</a:t>
            </a:r>
            <a:endParaRPr lang="en-US" sz="1300" dirty="0"/>
          </a:p>
        </p:txBody>
      </p:sp>
      <p:sp>
        <p:nvSpPr>
          <p:cNvPr id="17" name="Text 7">
            <a:extLst>
              <a:ext uri="{FF2B5EF4-FFF2-40B4-BE49-F238E27FC236}">
                <a16:creationId xmlns:a16="http://schemas.microsoft.com/office/drawing/2014/main" id="{C79742AD-F828-B86D-93DD-D71A82F929FB}"/>
              </a:ext>
            </a:extLst>
          </p:cNvPr>
          <p:cNvSpPr/>
          <p:nvPr/>
        </p:nvSpPr>
        <p:spPr>
          <a:xfrm>
            <a:off x="6917610" y="1799517"/>
            <a:ext cx="1825752" cy="505159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        310</a:t>
            </a:r>
            <a:endParaRPr lang="en-US" sz="2200" dirty="0"/>
          </a:p>
        </p:txBody>
      </p:sp>
      <p:grpSp>
        <p:nvGrpSpPr>
          <p:cNvPr id="44" name="Groupe 43">
            <a:extLst>
              <a:ext uri="{FF2B5EF4-FFF2-40B4-BE49-F238E27FC236}">
                <a16:creationId xmlns:a16="http://schemas.microsoft.com/office/drawing/2014/main" id="{AD79C6F2-F328-05A9-4CCE-C46843B3C2F5}"/>
              </a:ext>
            </a:extLst>
          </p:cNvPr>
          <p:cNvGrpSpPr/>
          <p:nvPr/>
        </p:nvGrpSpPr>
        <p:grpSpPr>
          <a:xfrm>
            <a:off x="8043942" y="1877062"/>
            <a:ext cx="1424023" cy="512064"/>
            <a:chOff x="8596033" y="2170362"/>
            <a:chExt cx="1207008" cy="512064"/>
          </a:xfrm>
        </p:grpSpPr>
        <p:sp>
          <p:nvSpPr>
            <p:cNvPr id="19" name="Shape 8">
              <a:extLst>
                <a:ext uri="{FF2B5EF4-FFF2-40B4-BE49-F238E27FC236}">
                  <a16:creationId xmlns:a16="http://schemas.microsoft.com/office/drawing/2014/main" id="{BA86C108-E629-8C6C-E1B0-FB1FE8503004}"/>
                </a:ext>
              </a:extLst>
            </p:cNvPr>
            <p:cNvSpPr/>
            <p:nvPr/>
          </p:nvSpPr>
          <p:spPr>
            <a:xfrm>
              <a:off x="8795121" y="2170362"/>
              <a:ext cx="778647" cy="512064"/>
            </a:xfrm>
            <a:prstGeom prst="roundRect">
              <a:avLst>
                <a:gd name="adj" fmla="val 8929"/>
              </a:avLst>
            </a:prstGeom>
            <a:solidFill>
              <a:srgbClr val="FFFFFF"/>
            </a:solidFill>
            <a:ln w="12700">
              <a:solidFill>
                <a:srgbClr val="DCE7E9"/>
              </a:solidFill>
              <a:prstDash val="solid"/>
            </a:ln>
          </p:spPr>
          <p:txBody>
            <a:bodyPr/>
            <a:lstStyle/>
            <a:p>
              <a:endParaRPr lang="fr-RE" sz="2800"/>
            </a:p>
          </p:txBody>
        </p:sp>
        <p:sp>
          <p:nvSpPr>
            <p:cNvPr id="21" name="Text 9">
              <a:extLst>
                <a:ext uri="{FF2B5EF4-FFF2-40B4-BE49-F238E27FC236}">
                  <a16:creationId xmlns:a16="http://schemas.microsoft.com/office/drawing/2014/main" id="{4FBB3DC7-AE05-CAA6-012E-AD60A991BE7D}"/>
                </a:ext>
              </a:extLst>
            </p:cNvPr>
            <p:cNvSpPr/>
            <p:nvPr/>
          </p:nvSpPr>
          <p:spPr>
            <a:xfrm>
              <a:off x="8596033" y="2170362"/>
              <a:ext cx="1207008" cy="51206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>
                <a:lnSpc>
                  <a:spcPct val="95000"/>
                </a:lnSpc>
              </a:pPr>
              <a:r>
                <a:rPr lang="en-US" sz="1050" dirty="0">
                  <a:solidFill>
                    <a:srgbClr val="8A9BA3"/>
                  </a:solidFill>
                </a:rPr>
                <a:t>N-1 : 357 = 39% </a:t>
              </a:r>
              <a:br>
                <a:rPr lang="en-US" sz="1050" dirty="0">
                  <a:solidFill>
                    <a:srgbClr val="8A9BA3"/>
                  </a:solidFill>
                </a:rPr>
              </a:br>
              <a:r>
                <a:rPr lang="en-US" sz="1600" b="1" dirty="0">
                  <a:solidFill>
                    <a:srgbClr val="C0392B"/>
                  </a:solidFill>
                </a:rPr>
                <a:t>▼</a:t>
              </a:r>
              <a:r>
                <a:rPr lang="en-US" sz="1600" b="1" dirty="0">
                  <a:solidFill>
                    <a:srgbClr val="2E7D32"/>
                  </a:solidFill>
                </a:rPr>
                <a:t> </a:t>
              </a:r>
              <a:r>
                <a:rPr lang="en-US" sz="1600" b="1" dirty="0">
                  <a:solidFill>
                    <a:srgbClr val="C0392B"/>
                  </a:solidFill>
                </a:rPr>
                <a:t>-8</a:t>
              </a:r>
              <a:endParaRPr lang="en-US" sz="1050" dirty="0"/>
            </a:p>
          </p:txBody>
        </p:sp>
      </p:grpSp>
      <p:sp>
        <p:nvSpPr>
          <p:cNvPr id="23" name="Text 10">
            <a:extLst>
              <a:ext uri="{FF2B5EF4-FFF2-40B4-BE49-F238E27FC236}">
                <a16:creationId xmlns:a16="http://schemas.microsoft.com/office/drawing/2014/main" id="{2A808E51-D88A-EB4B-6493-61E155322C63}"/>
              </a:ext>
            </a:extLst>
          </p:cNvPr>
          <p:cNvSpPr/>
          <p:nvPr/>
        </p:nvSpPr>
        <p:spPr>
          <a:xfrm>
            <a:off x="6960616" y="3466152"/>
            <a:ext cx="3722637" cy="24600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50" i="1" dirty="0">
                <a:solidFill>
                  <a:srgbClr val="8A9B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Livraison &gt; </a:t>
            </a:r>
            <a:r>
              <a:rPr lang="en-US" sz="1050" i="1" dirty="0" err="1">
                <a:solidFill>
                  <a:srgbClr val="8A9B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Archivées</a:t>
            </a:r>
            <a:r>
              <a:rPr lang="en-US" sz="1050" i="1" dirty="0">
                <a:solidFill>
                  <a:srgbClr val="8A9B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&gt; </a:t>
            </a:r>
            <a:r>
              <a:rPr lang="en-US" sz="1050" i="1" dirty="0" err="1">
                <a:solidFill>
                  <a:srgbClr val="8A9B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filtre</a:t>
            </a:r>
            <a:r>
              <a:rPr lang="en-US" sz="1050" i="1" dirty="0">
                <a:solidFill>
                  <a:srgbClr val="8A9B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050" i="1" dirty="0" err="1">
                <a:solidFill>
                  <a:srgbClr val="8A9B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Aout</a:t>
            </a:r>
            <a:r>
              <a:rPr lang="en-US" sz="1050" i="1" dirty="0">
                <a:solidFill>
                  <a:srgbClr val="8A9B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&gt; </a:t>
            </a:r>
            <a:r>
              <a:rPr lang="en-US" sz="1050" i="1" dirty="0" err="1">
                <a:solidFill>
                  <a:srgbClr val="8A9B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filtre</a:t>
            </a:r>
            <a:r>
              <a:rPr lang="en-US" sz="1050" i="1" dirty="0">
                <a:solidFill>
                  <a:srgbClr val="8A9B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Total HT &lt; 100 &amp; 150€</a:t>
            </a:r>
          </a:p>
        </p:txBody>
      </p:sp>
      <p:sp>
        <p:nvSpPr>
          <p:cNvPr id="27" name="ZoneTexte 26">
            <a:extLst>
              <a:ext uri="{FF2B5EF4-FFF2-40B4-BE49-F238E27FC236}">
                <a16:creationId xmlns:a16="http://schemas.microsoft.com/office/drawing/2014/main" id="{53B26BC5-C9AA-E7FA-B575-A0253611BDBB}"/>
              </a:ext>
            </a:extLst>
          </p:cNvPr>
          <p:cNvSpPr txBox="1"/>
          <p:nvPr/>
        </p:nvSpPr>
        <p:spPr>
          <a:xfrm>
            <a:off x="6558289" y="1763936"/>
            <a:ext cx="863284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RE" sz="1100" b="1" dirty="0">
                <a:solidFill>
                  <a:srgbClr val="065A82"/>
                </a:solidFill>
              </a:rPr>
              <a:t>&lt; 100€</a:t>
            </a:r>
          </a:p>
        </p:txBody>
      </p:sp>
      <p:sp>
        <p:nvSpPr>
          <p:cNvPr id="29" name="ZoneTexte 28">
            <a:extLst>
              <a:ext uri="{FF2B5EF4-FFF2-40B4-BE49-F238E27FC236}">
                <a16:creationId xmlns:a16="http://schemas.microsoft.com/office/drawing/2014/main" id="{6387ABD8-42C7-44BC-9930-14A1EA3E1236}"/>
              </a:ext>
            </a:extLst>
          </p:cNvPr>
          <p:cNvSpPr txBox="1"/>
          <p:nvPr/>
        </p:nvSpPr>
        <p:spPr>
          <a:xfrm>
            <a:off x="6477547" y="2658470"/>
            <a:ext cx="863284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RE" sz="1100" b="1" dirty="0">
                <a:solidFill>
                  <a:srgbClr val="065A82"/>
                </a:solidFill>
              </a:rPr>
              <a:t>&lt; 150€</a:t>
            </a:r>
          </a:p>
        </p:txBody>
      </p:sp>
      <p:sp>
        <p:nvSpPr>
          <p:cNvPr id="34" name="Text 7">
            <a:extLst>
              <a:ext uri="{FF2B5EF4-FFF2-40B4-BE49-F238E27FC236}">
                <a16:creationId xmlns:a16="http://schemas.microsoft.com/office/drawing/2014/main" id="{CE0C33F7-844D-BB5E-AF5B-C619FACEBDB4}"/>
              </a:ext>
            </a:extLst>
          </p:cNvPr>
          <p:cNvSpPr/>
          <p:nvPr/>
        </p:nvSpPr>
        <p:spPr>
          <a:xfrm>
            <a:off x="6949567" y="2556631"/>
            <a:ext cx="1825752" cy="505159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        416</a:t>
            </a:r>
            <a:endParaRPr lang="en-US" sz="2200" dirty="0"/>
          </a:p>
        </p:txBody>
      </p:sp>
      <p:grpSp>
        <p:nvGrpSpPr>
          <p:cNvPr id="45" name="Groupe 44">
            <a:extLst>
              <a:ext uri="{FF2B5EF4-FFF2-40B4-BE49-F238E27FC236}">
                <a16:creationId xmlns:a16="http://schemas.microsoft.com/office/drawing/2014/main" id="{00BA991A-33F6-C145-BC25-FDE91A4B8430}"/>
              </a:ext>
            </a:extLst>
          </p:cNvPr>
          <p:cNvGrpSpPr/>
          <p:nvPr/>
        </p:nvGrpSpPr>
        <p:grpSpPr>
          <a:xfrm>
            <a:off x="7972389" y="2752897"/>
            <a:ext cx="1549619" cy="512064"/>
            <a:chOff x="8596033" y="2170362"/>
            <a:chExt cx="1207008" cy="512064"/>
          </a:xfrm>
        </p:grpSpPr>
        <p:sp>
          <p:nvSpPr>
            <p:cNvPr id="47" name="Shape 8">
              <a:extLst>
                <a:ext uri="{FF2B5EF4-FFF2-40B4-BE49-F238E27FC236}">
                  <a16:creationId xmlns:a16="http://schemas.microsoft.com/office/drawing/2014/main" id="{C65F3B57-1493-AB35-7BDB-5D7885C5A497}"/>
                </a:ext>
              </a:extLst>
            </p:cNvPr>
            <p:cNvSpPr/>
            <p:nvPr/>
          </p:nvSpPr>
          <p:spPr>
            <a:xfrm>
              <a:off x="8795121" y="2170362"/>
              <a:ext cx="778647" cy="512064"/>
            </a:xfrm>
            <a:prstGeom prst="roundRect">
              <a:avLst>
                <a:gd name="adj" fmla="val 8929"/>
              </a:avLst>
            </a:prstGeom>
            <a:solidFill>
              <a:srgbClr val="FFFFFF"/>
            </a:solidFill>
            <a:ln w="12700">
              <a:solidFill>
                <a:srgbClr val="DCE7E9"/>
              </a:solidFill>
              <a:prstDash val="solid"/>
            </a:ln>
          </p:spPr>
          <p:txBody>
            <a:bodyPr/>
            <a:lstStyle/>
            <a:p>
              <a:endParaRPr lang="fr-RE" sz="2800"/>
            </a:p>
          </p:txBody>
        </p:sp>
        <p:sp>
          <p:nvSpPr>
            <p:cNvPr id="50" name="Text 9">
              <a:extLst>
                <a:ext uri="{FF2B5EF4-FFF2-40B4-BE49-F238E27FC236}">
                  <a16:creationId xmlns:a16="http://schemas.microsoft.com/office/drawing/2014/main" id="{58E6112E-74F5-EDA9-7C6E-842856BC5DBF}"/>
                </a:ext>
              </a:extLst>
            </p:cNvPr>
            <p:cNvSpPr/>
            <p:nvPr/>
          </p:nvSpPr>
          <p:spPr>
            <a:xfrm>
              <a:off x="8596033" y="2170362"/>
              <a:ext cx="1207008" cy="51206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lnSpc>
                  <a:spcPct val="95000"/>
                </a:lnSpc>
                <a:buNone/>
              </a:pPr>
              <a:r>
                <a:rPr lang="en-US" sz="1050" dirty="0">
                  <a:solidFill>
                    <a:srgbClr val="8A9BA3"/>
                  </a:solidFill>
                </a:rPr>
                <a:t>N-1 : 482 = 53%</a:t>
              </a:r>
            </a:p>
            <a:p>
              <a:pPr algn="ctr">
                <a:lnSpc>
                  <a:spcPct val="95000"/>
                </a:lnSpc>
              </a:pPr>
              <a:r>
                <a:rPr lang="en-US" sz="1600" b="1" dirty="0">
                  <a:solidFill>
                    <a:srgbClr val="C0392B"/>
                  </a:solidFill>
                </a:rPr>
                <a:t>▼ -7,5</a:t>
              </a:r>
              <a:endParaRPr lang="en-US" sz="1050" dirty="0"/>
            </a:p>
          </p:txBody>
        </p:sp>
      </p:grpSp>
      <p:grpSp>
        <p:nvGrpSpPr>
          <p:cNvPr id="51" name="Groupe 50">
            <a:extLst>
              <a:ext uri="{FF2B5EF4-FFF2-40B4-BE49-F238E27FC236}">
                <a16:creationId xmlns:a16="http://schemas.microsoft.com/office/drawing/2014/main" id="{FEF5B37B-8D93-5168-3422-9785D0459C33}"/>
              </a:ext>
            </a:extLst>
          </p:cNvPr>
          <p:cNvGrpSpPr/>
          <p:nvPr/>
        </p:nvGrpSpPr>
        <p:grpSpPr>
          <a:xfrm>
            <a:off x="9096347" y="1891363"/>
            <a:ext cx="1621413" cy="512064"/>
            <a:chOff x="8596033" y="2170362"/>
            <a:chExt cx="1207008" cy="512064"/>
          </a:xfrm>
        </p:grpSpPr>
        <p:sp>
          <p:nvSpPr>
            <p:cNvPr id="52" name="Shape 8">
              <a:extLst>
                <a:ext uri="{FF2B5EF4-FFF2-40B4-BE49-F238E27FC236}">
                  <a16:creationId xmlns:a16="http://schemas.microsoft.com/office/drawing/2014/main" id="{7EA1FAB9-B096-09CE-4215-18368C9F79AE}"/>
                </a:ext>
              </a:extLst>
            </p:cNvPr>
            <p:cNvSpPr/>
            <p:nvPr/>
          </p:nvSpPr>
          <p:spPr>
            <a:xfrm>
              <a:off x="8795121" y="2170362"/>
              <a:ext cx="778647" cy="512064"/>
            </a:xfrm>
            <a:prstGeom prst="roundRect">
              <a:avLst>
                <a:gd name="adj" fmla="val 8929"/>
              </a:avLst>
            </a:prstGeom>
            <a:solidFill>
              <a:srgbClr val="FFFFFF"/>
            </a:solidFill>
            <a:ln w="12700">
              <a:solidFill>
                <a:srgbClr val="DCE7E9"/>
              </a:solidFill>
              <a:prstDash val="solid"/>
            </a:ln>
          </p:spPr>
          <p:txBody>
            <a:bodyPr/>
            <a:lstStyle/>
            <a:p>
              <a:endParaRPr lang="fr-RE" sz="2800"/>
            </a:p>
          </p:txBody>
        </p:sp>
        <p:sp>
          <p:nvSpPr>
            <p:cNvPr id="55" name="Text 9">
              <a:extLst>
                <a:ext uri="{FF2B5EF4-FFF2-40B4-BE49-F238E27FC236}">
                  <a16:creationId xmlns:a16="http://schemas.microsoft.com/office/drawing/2014/main" id="{C2F1B4E5-2D95-0627-6A4F-A51D37D3253C}"/>
                </a:ext>
              </a:extLst>
            </p:cNvPr>
            <p:cNvSpPr/>
            <p:nvPr/>
          </p:nvSpPr>
          <p:spPr>
            <a:xfrm>
              <a:off x="8596033" y="2170362"/>
              <a:ext cx="1207008" cy="51206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lnSpc>
                  <a:spcPct val="95000"/>
                </a:lnSpc>
                <a:buNone/>
              </a:pPr>
              <a:r>
                <a:rPr lang="en-US" sz="1050" dirty="0">
                  <a:solidFill>
                    <a:srgbClr val="8A9BA3"/>
                  </a:solidFill>
                </a:rPr>
                <a:t>Mois-1 : 214 = 31%</a:t>
              </a:r>
            </a:p>
            <a:p>
              <a:pPr algn="ctr">
                <a:lnSpc>
                  <a:spcPct val="95000"/>
                </a:lnSpc>
              </a:pPr>
              <a:r>
                <a:rPr lang="en-US" sz="1600" b="1" dirty="0">
                  <a:solidFill>
                    <a:srgbClr val="2E7D32"/>
                  </a:solidFill>
                </a:rPr>
                <a:t>▲</a:t>
              </a:r>
              <a:r>
                <a:rPr lang="en-US" sz="1600" b="1" dirty="0">
                  <a:solidFill>
                    <a:srgbClr val="2A6F4E"/>
                  </a:solidFill>
                </a:rPr>
                <a:t> +16</a:t>
              </a:r>
              <a:endParaRPr lang="en-US" sz="1050" dirty="0">
                <a:solidFill>
                  <a:srgbClr val="2A6F4E"/>
                </a:solidFill>
              </a:endParaRPr>
            </a:p>
          </p:txBody>
        </p:sp>
      </p:grpSp>
      <p:grpSp>
        <p:nvGrpSpPr>
          <p:cNvPr id="56" name="Groupe 55">
            <a:extLst>
              <a:ext uri="{FF2B5EF4-FFF2-40B4-BE49-F238E27FC236}">
                <a16:creationId xmlns:a16="http://schemas.microsoft.com/office/drawing/2014/main" id="{EFD93194-3505-1D11-758D-6F380AFDAD1E}"/>
              </a:ext>
            </a:extLst>
          </p:cNvPr>
          <p:cNvGrpSpPr/>
          <p:nvPr/>
        </p:nvGrpSpPr>
        <p:grpSpPr>
          <a:xfrm>
            <a:off x="9096674" y="2734635"/>
            <a:ext cx="1621201" cy="512064"/>
            <a:chOff x="8596033" y="2170362"/>
            <a:chExt cx="1207008" cy="512064"/>
          </a:xfrm>
        </p:grpSpPr>
        <p:sp>
          <p:nvSpPr>
            <p:cNvPr id="58" name="Shape 8">
              <a:extLst>
                <a:ext uri="{FF2B5EF4-FFF2-40B4-BE49-F238E27FC236}">
                  <a16:creationId xmlns:a16="http://schemas.microsoft.com/office/drawing/2014/main" id="{904245D1-8C36-969D-1A8C-CCF6C45B674B}"/>
                </a:ext>
              </a:extLst>
            </p:cNvPr>
            <p:cNvSpPr/>
            <p:nvPr/>
          </p:nvSpPr>
          <p:spPr>
            <a:xfrm>
              <a:off x="8795121" y="2170362"/>
              <a:ext cx="778647" cy="512064"/>
            </a:xfrm>
            <a:prstGeom prst="roundRect">
              <a:avLst>
                <a:gd name="adj" fmla="val 8929"/>
              </a:avLst>
            </a:prstGeom>
            <a:solidFill>
              <a:srgbClr val="FFFFFF"/>
            </a:solidFill>
            <a:ln w="12700">
              <a:solidFill>
                <a:srgbClr val="DCE7E9"/>
              </a:solidFill>
              <a:prstDash val="solid"/>
            </a:ln>
          </p:spPr>
          <p:txBody>
            <a:bodyPr/>
            <a:lstStyle/>
            <a:p>
              <a:endParaRPr lang="fr-RE" sz="2800"/>
            </a:p>
          </p:txBody>
        </p:sp>
        <p:sp>
          <p:nvSpPr>
            <p:cNvPr id="59" name="Text 9">
              <a:extLst>
                <a:ext uri="{FF2B5EF4-FFF2-40B4-BE49-F238E27FC236}">
                  <a16:creationId xmlns:a16="http://schemas.microsoft.com/office/drawing/2014/main" id="{043EC6D2-1FFF-28C3-CF70-FFD673093241}"/>
                </a:ext>
              </a:extLst>
            </p:cNvPr>
            <p:cNvSpPr/>
            <p:nvPr/>
          </p:nvSpPr>
          <p:spPr>
            <a:xfrm>
              <a:off x="8596033" y="2170362"/>
              <a:ext cx="1207008" cy="51206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lnSpc>
                  <a:spcPct val="95000"/>
                </a:lnSpc>
                <a:buNone/>
              </a:pPr>
              <a:r>
                <a:rPr lang="en-US" sz="1050" dirty="0">
                  <a:solidFill>
                    <a:srgbClr val="8A9BA3"/>
                  </a:solidFill>
                </a:rPr>
                <a:t>Mois-1 : 307 = 44%</a:t>
              </a:r>
            </a:p>
            <a:p>
              <a:pPr algn="ctr">
                <a:lnSpc>
                  <a:spcPct val="95000"/>
                </a:lnSpc>
              </a:pPr>
              <a:r>
                <a:rPr lang="en-US" sz="1600" b="1" dirty="0">
                  <a:solidFill>
                    <a:srgbClr val="2E7D32"/>
                  </a:solidFill>
                </a:rPr>
                <a:t>▲</a:t>
              </a:r>
              <a:r>
                <a:rPr lang="en-US" sz="1600" b="1" dirty="0">
                  <a:solidFill>
                    <a:srgbClr val="2A6F4E"/>
                  </a:solidFill>
                </a:rPr>
                <a:t> +11</a:t>
              </a:r>
              <a:endParaRPr lang="en-US" sz="1050" dirty="0">
                <a:solidFill>
                  <a:srgbClr val="2A6F4E"/>
                </a:solidFill>
              </a:endParaRPr>
            </a:p>
          </p:txBody>
        </p:sp>
      </p:grpSp>
      <p:sp>
        <p:nvSpPr>
          <p:cNvPr id="61" name="ZoneTexte 60">
            <a:extLst>
              <a:ext uri="{FF2B5EF4-FFF2-40B4-BE49-F238E27FC236}">
                <a16:creationId xmlns:a16="http://schemas.microsoft.com/office/drawing/2014/main" id="{75517A8D-2636-52C6-1D7B-DC5B93E7DECC}"/>
              </a:ext>
            </a:extLst>
          </p:cNvPr>
          <p:cNvSpPr txBox="1"/>
          <p:nvPr/>
        </p:nvSpPr>
        <p:spPr>
          <a:xfrm>
            <a:off x="6998881" y="2209067"/>
            <a:ext cx="1236076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RE" sz="1100" b="1" dirty="0">
                <a:solidFill>
                  <a:srgbClr val="065A82"/>
                </a:solidFill>
              </a:rPr>
              <a:t>36% </a:t>
            </a:r>
            <a:r>
              <a:rPr lang="fr-RE" sz="1100" b="1" dirty="0" err="1">
                <a:solidFill>
                  <a:srgbClr val="065A82"/>
                </a:solidFill>
              </a:rPr>
              <a:t>cdes</a:t>
            </a:r>
            <a:r>
              <a:rPr lang="fr-RE" sz="1100" b="1" dirty="0">
                <a:solidFill>
                  <a:srgbClr val="065A82"/>
                </a:solidFill>
              </a:rPr>
              <a:t> clients</a:t>
            </a:r>
          </a:p>
        </p:txBody>
      </p:sp>
      <p:sp>
        <p:nvSpPr>
          <p:cNvPr id="63" name="ZoneTexte 62">
            <a:extLst>
              <a:ext uri="{FF2B5EF4-FFF2-40B4-BE49-F238E27FC236}">
                <a16:creationId xmlns:a16="http://schemas.microsoft.com/office/drawing/2014/main" id="{F5EF2FC5-A564-3EC7-038D-BA4BAB1483BB}"/>
              </a:ext>
            </a:extLst>
          </p:cNvPr>
          <p:cNvSpPr txBox="1"/>
          <p:nvPr/>
        </p:nvSpPr>
        <p:spPr>
          <a:xfrm>
            <a:off x="6998880" y="3015666"/>
            <a:ext cx="1306615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RE" sz="1100" b="1" dirty="0">
                <a:solidFill>
                  <a:srgbClr val="065A82"/>
                </a:solidFill>
              </a:rPr>
              <a:t>49% </a:t>
            </a:r>
            <a:r>
              <a:rPr lang="fr-RE" sz="1100" b="1" dirty="0" err="1">
                <a:solidFill>
                  <a:srgbClr val="065A82"/>
                </a:solidFill>
              </a:rPr>
              <a:t>cdes</a:t>
            </a:r>
            <a:r>
              <a:rPr lang="fr-RE" sz="1100" b="1" dirty="0">
                <a:solidFill>
                  <a:srgbClr val="065A82"/>
                </a:solidFill>
              </a:rPr>
              <a:t> clients</a:t>
            </a:r>
          </a:p>
        </p:txBody>
      </p:sp>
    </p:spTree>
    <p:extLst>
      <p:ext uri="{BB962C8B-B14F-4D97-AF65-F5344CB8AC3E}">
        <p14:creationId xmlns:p14="http://schemas.microsoft.com/office/powerpoint/2010/main" val="94077918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603A1A2-06F3-8244-DB19-267B52B364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D152B050-1F03-CBF6-DC53-3DFEFAF5B76C}"/>
              </a:ext>
            </a:extLst>
          </p:cNvPr>
          <p:cNvSpPr/>
          <p:nvPr/>
        </p:nvSpPr>
        <p:spPr>
          <a:xfrm>
            <a:off x="91440" y="251460"/>
            <a:ext cx="658368" cy="658368"/>
          </a:xfrm>
          <a:prstGeom prst="ellipse">
            <a:avLst/>
          </a:prstGeom>
          <a:solidFill>
            <a:srgbClr val="0E7C86"/>
          </a:solidFill>
          <a:ln/>
        </p:spPr>
        <p:txBody>
          <a:bodyPr/>
          <a:lstStyle/>
          <a:p>
            <a:endParaRPr lang="fr-RE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5ED2D705-98C2-C725-16F3-30F762A99EB8}"/>
              </a:ext>
            </a:extLst>
          </p:cNvPr>
          <p:cNvSpPr/>
          <p:nvPr/>
        </p:nvSpPr>
        <p:spPr>
          <a:xfrm>
            <a:off x="91440" y="251460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</a:t>
            </a:r>
            <a:endParaRPr lang="en-US" sz="2600" dirty="0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9B49B45B-5517-36AB-F01A-19BFB5270082}"/>
              </a:ext>
            </a:extLst>
          </p:cNvPr>
          <p:cNvSpPr/>
          <p:nvPr/>
        </p:nvSpPr>
        <p:spPr>
          <a:xfrm>
            <a:off x="914400" y="214884"/>
            <a:ext cx="9144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2B3A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Top </a:t>
            </a:r>
            <a:r>
              <a:rPr lang="en-US" sz="3200" b="1" dirty="0" err="1">
                <a:solidFill>
                  <a:srgbClr val="2B3A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venteproduit</a:t>
            </a:r>
            <a:endParaRPr lang="en-US" sz="3200" dirty="0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C3163EBE-5BF4-F276-8E75-22922B2EC785}"/>
              </a:ext>
            </a:extLst>
          </p:cNvPr>
          <p:cNvSpPr/>
          <p:nvPr/>
        </p:nvSpPr>
        <p:spPr>
          <a:xfrm>
            <a:off x="932688" y="708660"/>
            <a:ext cx="82296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8A9B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Indicateurs — </a:t>
            </a:r>
            <a:r>
              <a:rPr lang="en-US" sz="1300" dirty="0" err="1">
                <a:solidFill>
                  <a:srgbClr val="8A9B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Aout</a:t>
            </a:r>
            <a:r>
              <a:rPr lang="en-US" sz="1300" dirty="0">
                <a:solidFill>
                  <a:srgbClr val="8A9B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2026</a:t>
            </a:r>
            <a:endParaRPr lang="en-US" sz="1300" dirty="0"/>
          </a:p>
        </p:txBody>
      </p:sp>
      <p:sp>
        <p:nvSpPr>
          <p:cNvPr id="31" name="Shape 16">
            <a:extLst>
              <a:ext uri="{FF2B5EF4-FFF2-40B4-BE49-F238E27FC236}">
                <a16:creationId xmlns:a16="http://schemas.microsoft.com/office/drawing/2014/main" id="{E6C03F1C-32E0-1352-548C-361E2D3F7A3C}"/>
              </a:ext>
            </a:extLst>
          </p:cNvPr>
          <p:cNvSpPr/>
          <p:nvPr/>
        </p:nvSpPr>
        <p:spPr>
          <a:xfrm>
            <a:off x="6429744" y="1267325"/>
            <a:ext cx="5474709" cy="5368305"/>
          </a:xfrm>
          <a:prstGeom prst="roundRect">
            <a:avLst>
              <a:gd name="adj" fmla="val 3158"/>
            </a:avLst>
          </a:prstGeom>
          <a:solidFill>
            <a:srgbClr val="FFFFFF"/>
          </a:solidFill>
          <a:ln w="12700">
            <a:solidFill>
              <a:srgbClr val="D9E2E6"/>
            </a:solidFill>
            <a:prstDash val="solid"/>
          </a:ln>
          <a:effectLst>
            <a:outerShdw blurRad="889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fr-RE"/>
          </a:p>
        </p:txBody>
      </p:sp>
      <p:sp>
        <p:nvSpPr>
          <p:cNvPr id="33" name="Text 17">
            <a:extLst>
              <a:ext uri="{FF2B5EF4-FFF2-40B4-BE49-F238E27FC236}">
                <a16:creationId xmlns:a16="http://schemas.microsoft.com/office/drawing/2014/main" id="{B578A1C6-0738-1138-4E2C-9447D1560EEB}"/>
              </a:ext>
            </a:extLst>
          </p:cNvPr>
          <p:cNvSpPr/>
          <p:nvPr/>
        </p:nvSpPr>
        <p:spPr>
          <a:xfrm>
            <a:off x="6704016" y="893984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280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Valeur (€)</a:t>
            </a:r>
            <a:endParaRPr lang="en-US" sz="1050" dirty="0"/>
          </a:p>
        </p:txBody>
      </p:sp>
      <p:graphicFrame>
        <p:nvGraphicFramePr>
          <p:cNvPr id="26" name="Tableau 25">
            <a:extLst>
              <a:ext uri="{FF2B5EF4-FFF2-40B4-BE49-F238E27FC236}">
                <a16:creationId xmlns:a16="http://schemas.microsoft.com/office/drawing/2014/main" id="{F9B10946-E0E2-14A6-A52C-84BA6CAB3FB2}"/>
              </a:ext>
            </a:extLst>
          </p:cNvPr>
          <p:cNvGraphicFramePr>
            <a:graphicFrameLocks noGrp="1"/>
          </p:cNvGraphicFramePr>
          <p:nvPr/>
        </p:nvGraphicFramePr>
        <p:xfrm>
          <a:off x="6588183" y="1273304"/>
          <a:ext cx="5186874" cy="5437521"/>
        </p:xfrm>
        <a:graphic>
          <a:graphicData uri="http://schemas.openxmlformats.org/drawingml/2006/table">
            <a:tbl>
              <a:tblPr firstRow="1" bandRow="1">
                <a:tableStyleId>{5FD0F851-EC5A-4D38-B0AD-8093EC10F338}</a:tableStyleId>
              </a:tblPr>
              <a:tblGrid>
                <a:gridCol w="775699">
                  <a:extLst>
                    <a:ext uri="{9D8B030D-6E8A-4147-A177-3AD203B41FA5}">
                      <a16:colId xmlns:a16="http://schemas.microsoft.com/office/drawing/2014/main" val="765723350"/>
                    </a:ext>
                  </a:extLst>
                </a:gridCol>
                <a:gridCol w="2944684">
                  <a:extLst>
                    <a:ext uri="{9D8B030D-6E8A-4147-A177-3AD203B41FA5}">
                      <a16:colId xmlns:a16="http://schemas.microsoft.com/office/drawing/2014/main" val="2263726808"/>
                    </a:ext>
                  </a:extLst>
                </a:gridCol>
                <a:gridCol w="646981">
                  <a:extLst>
                    <a:ext uri="{9D8B030D-6E8A-4147-A177-3AD203B41FA5}">
                      <a16:colId xmlns:a16="http://schemas.microsoft.com/office/drawing/2014/main" val="4228344080"/>
                    </a:ext>
                  </a:extLst>
                </a:gridCol>
                <a:gridCol w="819510">
                  <a:extLst>
                    <a:ext uri="{9D8B030D-6E8A-4147-A177-3AD203B41FA5}">
                      <a16:colId xmlns:a16="http://schemas.microsoft.com/office/drawing/2014/main" val="3506991763"/>
                    </a:ext>
                  </a:extLst>
                </a:gridCol>
              </a:tblGrid>
              <a:tr h="520990">
                <a:tc>
                  <a:txBody>
                    <a:bodyPr/>
                    <a:lstStyle/>
                    <a:p>
                      <a:pPr algn="ctr"/>
                      <a:r>
                        <a:rPr lang="fr-FR" sz="1400" dirty="0">
                          <a:solidFill>
                            <a:schemeClr val="tx2"/>
                          </a:solidFill>
                        </a:rPr>
                        <a:t>Réf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400" dirty="0">
                          <a:solidFill>
                            <a:schemeClr val="tx2"/>
                          </a:solidFill>
                        </a:rPr>
                        <a:t>Désignation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400" dirty="0">
                          <a:solidFill>
                            <a:schemeClr val="tx2"/>
                          </a:solidFill>
                        </a:rPr>
                        <a:t>Valeur (k€)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400" dirty="0">
                          <a:solidFill>
                            <a:schemeClr val="tx2"/>
                          </a:solidFill>
                        </a:rPr>
                        <a:t>Part du CA </a:t>
                      </a:r>
                      <a:r>
                        <a:rPr lang="fr-FR" sz="1400" dirty="0" err="1">
                          <a:solidFill>
                            <a:schemeClr val="tx2"/>
                          </a:solidFill>
                        </a:rPr>
                        <a:t>fact</a:t>
                      </a:r>
                      <a:endParaRPr lang="fr-FR" sz="1400" dirty="0">
                        <a:solidFill>
                          <a:schemeClr val="tx2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04071080"/>
                  </a:ext>
                </a:extLst>
              </a:tr>
              <a:tr h="304873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r-FR" sz="1400" b="0" i="0" u="none" strike="noStrike" dirty="0">
                          <a:solidFill>
                            <a:srgbClr val="0E7C86"/>
                          </a:solidFill>
                          <a:effectLst/>
                          <a:latin typeface="Calibri  "/>
                        </a:rPr>
                        <a:t>18947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r-FR" sz="1400" b="0" i="0" u="none" strike="noStrike" dirty="0">
                          <a:solidFill>
                            <a:srgbClr val="0E7C86"/>
                          </a:solidFill>
                          <a:effectLst/>
                          <a:latin typeface="Calibri  "/>
                        </a:rPr>
                        <a:t>PAP BOBINE 450 FTS DC 2P GAUFRE BLANCHE ECOLABEL ONE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r-FR" sz="1400" b="0" i="0" u="none" strike="noStrike" dirty="0">
                          <a:solidFill>
                            <a:srgbClr val="0E7C86"/>
                          </a:solidFill>
                          <a:effectLst/>
                          <a:latin typeface="Calibri  "/>
                        </a:rPr>
                        <a:t>27,1 k€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r-FR" sz="1400" b="0" i="0" u="none" strike="noStrike" dirty="0">
                          <a:solidFill>
                            <a:srgbClr val="0E7C86"/>
                          </a:solidFill>
                          <a:effectLst/>
                          <a:latin typeface="Calibri  "/>
                        </a:rPr>
                        <a:t>9,6%</a:t>
                      </a: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4101792421"/>
                  </a:ext>
                </a:extLst>
              </a:tr>
              <a:tr h="563351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r-FR" sz="1400" b="0" i="0" u="none" strike="noStrike">
                          <a:solidFill>
                            <a:srgbClr val="0E7C86"/>
                          </a:solidFill>
                          <a:effectLst/>
                          <a:latin typeface="Calibri  "/>
                        </a:rPr>
                        <a:t>18159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r-FR" sz="1400" b="0" i="0" u="none" strike="noStrike" dirty="0">
                          <a:solidFill>
                            <a:srgbClr val="0E7C86"/>
                          </a:solidFill>
                          <a:effectLst/>
                          <a:latin typeface="Calibri  "/>
                        </a:rPr>
                        <a:t>PAP PAPIER TOILETTE MAXI JUMBO 2P MICROGAUFRE BLANCHE ECO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r-FR" sz="1400" b="0" i="0" u="none" strike="noStrike" dirty="0">
                          <a:solidFill>
                            <a:srgbClr val="0E7C86"/>
                          </a:solidFill>
                          <a:effectLst/>
                          <a:latin typeface="Calibri  "/>
                        </a:rPr>
                        <a:t>15,1 k€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r-FR" sz="1400" b="0" i="0" u="none" strike="noStrike">
                          <a:solidFill>
                            <a:srgbClr val="0E7C86"/>
                          </a:solidFill>
                          <a:effectLst/>
                          <a:latin typeface="Calibri  "/>
                        </a:rPr>
                        <a:t>5,4%</a:t>
                      </a: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2708228143"/>
                  </a:ext>
                </a:extLst>
              </a:tr>
              <a:tr h="503701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r-FR" sz="1400" b="0" i="0" u="none" strike="noStrike">
                          <a:solidFill>
                            <a:srgbClr val="0E7C86"/>
                          </a:solidFill>
                          <a:effectLst/>
                          <a:latin typeface="Calibri  "/>
                        </a:rPr>
                        <a:t>18161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r-FR" sz="1400" b="0" i="0" u="none" strike="noStrike" dirty="0">
                          <a:solidFill>
                            <a:srgbClr val="0E7C86"/>
                          </a:solidFill>
                          <a:effectLst/>
                          <a:latin typeface="Calibri  "/>
                        </a:rPr>
                        <a:t>PAP BOBINE INDUSTRIELLE 1000 FTS 2P GAUFRE BLANCHE ECOLABEL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r-FR" sz="1400" b="0" i="0" u="none" strike="noStrike" dirty="0">
                          <a:solidFill>
                            <a:srgbClr val="0E7C86"/>
                          </a:solidFill>
                          <a:effectLst/>
                          <a:latin typeface="Calibri  "/>
                        </a:rPr>
                        <a:t>12,4 k€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r-FR" sz="1400" b="0" i="0" u="none" strike="noStrike" dirty="0">
                          <a:solidFill>
                            <a:srgbClr val="0E7C86"/>
                          </a:solidFill>
                          <a:effectLst/>
                          <a:latin typeface="Calibri  "/>
                        </a:rPr>
                        <a:t>4,4%</a:t>
                      </a: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1601440257"/>
                  </a:ext>
                </a:extLst>
              </a:tr>
              <a:tr h="487877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r-FR" sz="1400" b="0" i="0" u="none" strike="noStrike">
                          <a:solidFill>
                            <a:srgbClr val="0E7C86"/>
                          </a:solidFill>
                          <a:effectLst/>
                          <a:latin typeface="Calibri  "/>
                        </a:rPr>
                        <a:t>771596A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r-FR" sz="1400" b="0" i="0" u="none" strike="noStrike" dirty="0">
                          <a:solidFill>
                            <a:srgbClr val="0E7C86"/>
                          </a:solidFill>
                          <a:effectLst/>
                          <a:latin typeface="Calibri  "/>
                        </a:rPr>
                        <a:t>PAP PAPIER TOILETTE MINI JUMBO 2P MICROGAUFRE BLANCHE ECO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r-FR" sz="1400" b="0" i="0" u="none" strike="noStrike" dirty="0">
                          <a:solidFill>
                            <a:srgbClr val="0E7C86"/>
                          </a:solidFill>
                          <a:effectLst/>
                          <a:latin typeface="Calibri  "/>
                        </a:rPr>
                        <a:t>12,3 k€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r-FR" sz="1400" b="0" i="0" u="none" strike="noStrike" dirty="0">
                          <a:solidFill>
                            <a:srgbClr val="0E7C86"/>
                          </a:solidFill>
                          <a:effectLst/>
                          <a:latin typeface="Calibri  "/>
                        </a:rPr>
                        <a:t>4,4%</a:t>
                      </a: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1091346536"/>
                  </a:ext>
                </a:extLst>
              </a:tr>
              <a:tr h="487877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r-FR" sz="1400" b="0" i="0" u="none" strike="noStrike" dirty="0">
                          <a:solidFill>
                            <a:srgbClr val="0E7C86"/>
                          </a:solidFill>
                          <a:effectLst/>
                          <a:latin typeface="+mn-lt"/>
                        </a:rPr>
                        <a:t>18715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r-FR" sz="1400" b="0" i="0" u="none" strike="noStrike">
                          <a:solidFill>
                            <a:srgbClr val="0E7C86"/>
                          </a:solidFill>
                          <a:effectLst/>
                          <a:latin typeface="+mn-lt"/>
                        </a:rPr>
                        <a:t>PAP PAPIER TOILETTE 500FTS COMPACT 2P ECOLABEL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r-FR" sz="1400" b="0" i="0" u="none" strike="noStrike" dirty="0">
                          <a:solidFill>
                            <a:srgbClr val="0E7C86"/>
                          </a:solidFill>
                          <a:effectLst/>
                          <a:latin typeface="+mn-lt"/>
                        </a:rPr>
                        <a:t>7,0 k€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r-FR" sz="1400" b="0" i="0" u="none" strike="noStrike">
                          <a:solidFill>
                            <a:srgbClr val="0E7C86"/>
                          </a:solidFill>
                          <a:effectLst/>
                          <a:latin typeface="+mn-lt"/>
                        </a:rPr>
                        <a:t>2,5%</a:t>
                      </a: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960521332"/>
                  </a:ext>
                </a:extLst>
              </a:tr>
              <a:tr h="487877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r-FR" sz="1400" b="0" i="0" u="none" strike="noStrike">
                          <a:solidFill>
                            <a:srgbClr val="0E7C86"/>
                          </a:solidFill>
                          <a:effectLst/>
                          <a:latin typeface="+mn-lt"/>
                        </a:rPr>
                        <a:t>18726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r-FR" sz="1400" b="0" i="0" u="none" strike="noStrike">
                          <a:solidFill>
                            <a:srgbClr val="0E7C86"/>
                          </a:solidFill>
                          <a:effectLst/>
                          <a:latin typeface="+mn-lt"/>
                        </a:rPr>
                        <a:t>PAP ESSUIE MAIN ENCHEVETRE EN V 2P GAUFRE ECOLABEL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r-FR" sz="1400" b="0" i="0" u="none" strike="noStrike" dirty="0">
                          <a:solidFill>
                            <a:srgbClr val="0E7C86"/>
                          </a:solidFill>
                          <a:effectLst/>
                          <a:latin typeface="+mn-lt"/>
                        </a:rPr>
                        <a:t>5,9 k€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r-FR" sz="1400" b="0" i="0" u="none" strike="noStrike" dirty="0">
                          <a:solidFill>
                            <a:srgbClr val="0E7C86"/>
                          </a:solidFill>
                          <a:effectLst/>
                          <a:latin typeface="+mn-lt"/>
                        </a:rPr>
                        <a:t>2,1%</a:t>
                      </a: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3738966169"/>
                  </a:ext>
                </a:extLst>
              </a:tr>
              <a:tr h="487877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r-FR" sz="1400" b="0" i="0" u="none" strike="noStrike" dirty="0">
                          <a:solidFill>
                            <a:srgbClr val="0E7C86"/>
                          </a:solidFill>
                          <a:effectLst/>
                          <a:latin typeface="+mn-lt"/>
                        </a:rPr>
                        <a:t>18958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r-FR" sz="1400" b="0" i="0" u="none" strike="noStrike">
                          <a:solidFill>
                            <a:srgbClr val="0E7C86"/>
                          </a:solidFill>
                          <a:effectLst/>
                          <a:latin typeface="+mn-lt"/>
                        </a:rPr>
                        <a:t>PDT DEGRAISSANT ALIMENTAIRE SURPUISSANT HYGI'NET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r-FR" sz="1400" b="0" i="0" u="none" strike="noStrike" dirty="0">
                          <a:solidFill>
                            <a:srgbClr val="0E7C86"/>
                          </a:solidFill>
                          <a:effectLst/>
                          <a:latin typeface="+mn-lt"/>
                        </a:rPr>
                        <a:t>4,6 k€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r-FR" sz="1400" b="0" i="0" u="none" strike="noStrike" dirty="0">
                          <a:solidFill>
                            <a:srgbClr val="0E7C86"/>
                          </a:solidFill>
                          <a:effectLst/>
                          <a:latin typeface="+mn-lt"/>
                        </a:rPr>
                        <a:t>1,6%</a:t>
                      </a: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2866915892"/>
                  </a:ext>
                </a:extLst>
              </a:tr>
              <a:tr h="487877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r-FR" sz="1400" b="0" i="0" u="none" strike="noStrike" dirty="0">
                          <a:solidFill>
                            <a:srgbClr val="0E7C86"/>
                          </a:solidFill>
                          <a:effectLst/>
                          <a:latin typeface="+mn-lt"/>
                        </a:rPr>
                        <a:t>18725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r-FR" sz="1400" b="0" i="0" u="none" strike="noStrike">
                          <a:solidFill>
                            <a:srgbClr val="0E7C86"/>
                          </a:solidFill>
                          <a:effectLst/>
                          <a:latin typeface="+mn-lt"/>
                        </a:rPr>
                        <a:t>PAP DRAPS D'EXAMEN 100% OUATE 2P GAUFRE BLANC ECOLABEL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r-FR" sz="1400" b="0" i="0" u="none" strike="noStrike" dirty="0">
                          <a:solidFill>
                            <a:srgbClr val="0E7C86"/>
                          </a:solidFill>
                          <a:effectLst/>
                          <a:latin typeface="+mn-lt"/>
                        </a:rPr>
                        <a:t>4,5 k€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r-FR" sz="1400" b="0" i="0" u="none" strike="noStrike" dirty="0">
                          <a:solidFill>
                            <a:srgbClr val="0E7C86"/>
                          </a:solidFill>
                          <a:effectLst/>
                          <a:latin typeface="+mn-lt"/>
                        </a:rPr>
                        <a:t>1,6%</a:t>
                      </a: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2663592538"/>
                  </a:ext>
                </a:extLst>
              </a:tr>
              <a:tr h="487877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r-FR" sz="1400" b="0" i="0" u="none" strike="noStrike" dirty="0">
                          <a:solidFill>
                            <a:srgbClr val="0E7C86"/>
                          </a:solidFill>
                          <a:effectLst/>
                          <a:latin typeface="+mn-lt"/>
                        </a:rPr>
                        <a:t>771150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r-FR" sz="1400" b="0" i="0" u="none" strike="noStrike">
                          <a:solidFill>
                            <a:srgbClr val="0E7C86"/>
                          </a:solidFill>
                          <a:effectLst/>
                          <a:latin typeface="+mn-lt"/>
                        </a:rPr>
                        <a:t>PDT DESINFECTANT ALIMENTAIRE BACTALIM+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r-FR" sz="1400" b="0" i="0" u="none" strike="noStrike" dirty="0">
                          <a:solidFill>
                            <a:srgbClr val="0E7C86"/>
                          </a:solidFill>
                          <a:effectLst/>
                          <a:latin typeface="+mn-lt"/>
                        </a:rPr>
                        <a:t>3,7 k€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r-FR" sz="1400" b="0" i="0" u="none" strike="noStrike" dirty="0">
                          <a:solidFill>
                            <a:srgbClr val="0E7C86"/>
                          </a:solidFill>
                          <a:effectLst/>
                          <a:latin typeface="+mn-lt"/>
                        </a:rPr>
                        <a:t>1,3%</a:t>
                      </a: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1687332148"/>
                  </a:ext>
                </a:extLst>
              </a:tr>
              <a:tr h="487877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r-FR" sz="1400" b="0" i="0" u="none" strike="noStrike" dirty="0">
                          <a:solidFill>
                            <a:srgbClr val="0E7C86"/>
                          </a:solidFill>
                          <a:effectLst/>
                          <a:latin typeface="+mn-lt"/>
                        </a:rPr>
                        <a:t>14557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r-FR" sz="1400" b="0" i="0" u="none" strike="noStrike" dirty="0">
                          <a:solidFill>
                            <a:srgbClr val="0E7C86"/>
                          </a:solidFill>
                          <a:effectLst/>
                          <a:latin typeface="+mn-lt"/>
                        </a:rPr>
                        <a:t>SAC POUBELLE 200L BD 55µ NOIR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r-FR" sz="1400" b="0" i="0" u="none" strike="noStrike" dirty="0">
                          <a:solidFill>
                            <a:srgbClr val="0E7C86"/>
                          </a:solidFill>
                          <a:effectLst/>
                          <a:latin typeface="+mn-lt"/>
                        </a:rPr>
                        <a:t>3,4 k€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r-FR" sz="1400" b="0" i="0" u="none" strike="noStrike" dirty="0">
                          <a:solidFill>
                            <a:srgbClr val="0E7C86"/>
                          </a:solidFill>
                          <a:effectLst/>
                          <a:latin typeface="+mn-lt"/>
                        </a:rPr>
                        <a:t>1,2%</a:t>
                      </a: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206939488"/>
                  </a:ext>
                </a:extLst>
              </a:tr>
            </a:tbl>
          </a:graphicData>
        </a:graphic>
      </p:graphicFrame>
      <p:sp>
        <p:nvSpPr>
          <p:cNvPr id="8" name="Shape 16">
            <a:extLst>
              <a:ext uri="{FF2B5EF4-FFF2-40B4-BE49-F238E27FC236}">
                <a16:creationId xmlns:a16="http://schemas.microsoft.com/office/drawing/2014/main" id="{4947FC61-64B4-BCCD-6E6D-C51F05C87CD7}"/>
              </a:ext>
            </a:extLst>
          </p:cNvPr>
          <p:cNvSpPr/>
          <p:nvPr/>
        </p:nvSpPr>
        <p:spPr>
          <a:xfrm>
            <a:off x="353684" y="1361439"/>
            <a:ext cx="5887528" cy="5368305"/>
          </a:xfrm>
          <a:prstGeom prst="roundRect">
            <a:avLst>
              <a:gd name="adj" fmla="val 3158"/>
            </a:avLst>
          </a:prstGeom>
          <a:solidFill>
            <a:srgbClr val="FFFFFF"/>
          </a:solidFill>
          <a:ln w="12700">
            <a:solidFill>
              <a:srgbClr val="D9E2E6"/>
            </a:solidFill>
            <a:prstDash val="solid"/>
          </a:ln>
          <a:effectLst>
            <a:outerShdw blurRad="889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fr-RE"/>
          </a:p>
        </p:txBody>
      </p:sp>
      <p:graphicFrame>
        <p:nvGraphicFramePr>
          <p:cNvPr id="10" name="Tableau 9">
            <a:extLst>
              <a:ext uri="{FF2B5EF4-FFF2-40B4-BE49-F238E27FC236}">
                <a16:creationId xmlns:a16="http://schemas.microsoft.com/office/drawing/2014/main" id="{88FEA249-F360-6DAE-7155-347E5CBF86F1}"/>
              </a:ext>
            </a:extLst>
          </p:cNvPr>
          <p:cNvGraphicFramePr>
            <a:graphicFrameLocks noGrp="1"/>
          </p:cNvGraphicFramePr>
          <p:nvPr/>
        </p:nvGraphicFramePr>
        <p:xfrm>
          <a:off x="508958" y="1483974"/>
          <a:ext cx="5587042" cy="5335744"/>
        </p:xfrm>
        <a:graphic>
          <a:graphicData uri="http://schemas.openxmlformats.org/drawingml/2006/table">
            <a:tbl>
              <a:tblPr firstRow="1" bandRow="1">
                <a:tableStyleId>{5FD0F851-EC5A-4D38-B0AD-8093EC10F338}</a:tableStyleId>
              </a:tblPr>
              <a:tblGrid>
                <a:gridCol w="931075">
                  <a:extLst>
                    <a:ext uri="{9D8B030D-6E8A-4147-A177-3AD203B41FA5}">
                      <a16:colId xmlns:a16="http://schemas.microsoft.com/office/drawing/2014/main" val="765723350"/>
                    </a:ext>
                  </a:extLst>
                </a:gridCol>
                <a:gridCol w="2635433">
                  <a:extLst>
                    <a:ext uri="{9D8B030D-6E8A-4147-A177-3AD203B41FA5}">
                      <a16:colId xmlns:a16="http://schemas.microsoft.com/office/drawing/2014/main" val="2263726808"/>
                    </a:ext>
                  </a:extLst>
                </a:gridCol>
                <a:gridCol w="898637">
                  <a:extLst>
                    <a:ext uri="{9D8B030D-6E8A-4147-A177-3AD203B41FA5}">
                      <a16:colId xmlns:a16="http://schemas.microsoft.com/office/drawing/2014/main" val="4228344080"/>
                    </a:ext>
                  </a:extLst>
                </a:gridCol>
                <a:gridCol w="1121897">
                  <a:extLst>
                    <a:ext uri="{9D8B030D-6E8A-4147-A177-3AD203B41FA5}">
                      <a16:colId xmlns:a16="http://schemas.microsoft.com/office/drawing/2014/main" val="3023126954"/>
                    </a:ext>
                  </a:extLst>
                </a:gridCol>
              </a:tblGrid>
              <a:tr h="493613">
                <a:tc>
                  <a:txBody>
                    <a:bodyPr/>
                    <a:lstStyle/>
                    <a:p>
                      <a:pPr algn="ctr"/>
                      <a:r>
                        <a:rPr lang="fr-FR" sz="1400" dirty="0">
                          <a:solidFill>
                            <a:schemeClr val="tx2"/>
                          </a:solidFill>
                        </a:rPr>
                        <a:t>Réf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400" dirty="0">
                          <a:solidFill>
                            <a:schemeClr val="tx2"/>
                          </a:solidFill>
                        </a:rPr>
                        <a:t>Désignation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400" dirty="0">
                          <a:solidFill>
                            <a:schemeClr val="tx2"/>
                          </a:solidFill>
                        </a:rPr>
                        <a:t>Quantité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400" dirty="0">
                          <a:solidFill>
                            <a:schemeClr val="tx2"/>
                          </a:solidFill>
                        </a:rPr>
                        <a:t>Part du CA </a:t>
                      </a:r>
                      <a:r>
                        <a:rPr lang="fr-FR" sz="1400" dirty="0" err="1">
                          <a:solidFill>
                            <a:schemeClr val="tx2"/>
                          </a:solidFill>
                        </a:rPr>
                        <a:t>fact</a:t>
                      </a:r>
                      <a:endParaRPr lang="fr-FR" sz="1400" dirty="0">
                        <a:solidFill>
                          <a:schemeClr val="tx2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04071080"/>
                  </a:ext>
                </a:extLst>
              </a:tr>
              <a:tr h="285776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r-FR" sz="1400" b="0" i="0" u="none" strike="noStrike">
                          <a:solidFill>
                            <a:srgbClr val="00A896"/>
                          </a:solidFill>
                          <a:effectLst/>
                          <a:latin typeface="Aptos Narrow" panose="020B0004020202020204" pitchFamily="34" charset="0"/>
                        </a:rPr>
                        <a:t>18947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r-FR" sz="1400" b="0" i="0" u="none" strike="noStrike">
                          <a:solidFill>
                            <a:srgbClr val="00A896"/>
                          </a:solidFill>
                          <a:effectLst/>
                          <a:latin typeface="Aptos Narrow" panose="020B0004020202020204" pitchFamily="34" charset="0"/>
                        </a:rPr>
                        <a:t>PAP BOBINE 450 FTS DC 2P GAUFRE BLANCHE ECOLABEL ONE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r-FR" sz="1400" b="0" i="0" u="none" strike="noStrike">
                          <a:solidFill>
                            <a:srgbClr val="00A896"/>
                          </a:solidFill>
                          <a:effectLst/>
                          <a:latin typeface="Aptos Narrow" panose="020B0004020202020204" pitchFamily="34" charset="0"/>
                        </a:rPr>
                        <a:t>2350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r-FR" sz="1400" b="0" i="0" u="none" strike="noStrike">
                          <a:solidFill>
                            <a:srgbClr val="00A896"/>
                          </a:solidFill>
                          <a:effectLst/>
                          <a:latin typeface="Aptos Narrow" panose="020B0004020202020204" pitchFamily="34" charset="0"/>
                        </a:rPr>
                        <a:t>9,6%</a:t>
                      </a: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4101792421"/>
                  </a:ext>
                </a:extLst>
              </a:tr>
              <a:tr h="493613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r-FR" sz="1400" b="0" i="0" u="none" strike="noStrike">
                          <a:solidFill>
                            <a:srgbClr val="00A896"/>
                          </a:solidFill>
                          <a:effectLst/>
                          <a:latin typeface="Aptos Narrow" panose="020B0004020202020204" pitchFamily="34" charset="0"/>
                        </a:rPr>
                        <a:t>771517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r-FR" sz="1400" b="0" i="0" u="none" strike="noStrike" dirty="0">
                          <a:solidFill>
                            <a:srgbClr val="00A896"/>
                          </a:solidFill>
                          <a:effectLst/>
                          <a:latin typeface="Aptos Narrow" panose="020B0004020202020204" pitchFamily="34" charset="0"/>
                        </a:rPr>
                        <a:t>KEO GEL WC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r-FR" sz="1400" b="0" i="0" u="none" strike="noStrike">
                          <a:solidFill>
                            <a:srgbClr val="00A896"/>
                          </a:solidFill>
                          <a:effectLst/>
                          <a:latin typeface="Aptos Narrow" panose="020B0004020202020204" pitchFamily="34" charset="0"/>
                        </a:rPr>
                        <a:t>1672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r-FR" sz="1400" b="0" i="0" u="none" strike="noStrike">
                          <a:solidFill>
                            <a:srgbClr val="00A896"/>
                          </a:solidFill>
                          <a:effectLst/>
                          <a:latin typeface="Aptos Narrow" panose="020B0004020202020204" pitchFamily="34" charset="0"/>
                        </a:rPr>
                        <a:t>0,7%</a:t>
                      </a: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1304439203"/>
                  </a:ext>
                </a:extLst>
              </a:tr>
              <a:tr h="493613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r-FR" sz="1400" b="0" i="0" u="none" strike="noStrike">
                          <a:solidFill>
                            <a:srgbClr val="00A896"/>
                          </a:solidFill>
                          <a:effectLst/>
                          <a:latin typeface="Aptos Narrow" panose="020B0004020202020204" pitchFamily="34" charset="0"/>
                        </a:rPr>
                        <a:t>771523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r-FR" sz="1400" b="0" i="0" u="none" strike="noStrike">
                          <a:solidFill>
                            <a:srgbClr val="00A896"/>
                          </a:solidFill>
                          <a:effectLst/>
                          <a:latin typeface="Aptos Narrow" panose="020B0004020202020204" pitchFamily="34" charset="0"/>
                        </a:rPr>
                        <a:t>KEO CREME A RECURER CITRON VERT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r-FR" sz="1400" b="0" i="0" u="none" strike="noStrike">
                          <a:solidFill>
                            <a:srgbClr val="00A896"/>
                          </a:solidFill>
                          <a:effectLst/>
                          <a:latin typeface="Aptos Narrow" panose="020B0004020202020204" pitchFamily="34" charset="0"/>
                        </a:rPr>
                        <a:t>1299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r-FR" sz="1400" b="0" i="0" u="none" strike="noStrike">
                          <a:solidFill>
                            <a:srgbClr val="00A896"/>
                          </a:solidFill>
                          <a:effectLst/>
                          <a:latin typeface="Aptos Narrow" panose="020B0004020202020204" pitchFamily="34" charset="0"/>
                        </a:rPr>
                        <a:t>0,6%</a:t>
                      </a: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2708228143"/>
                  </a:ext>
                </a:extLst>
              </a:tr>
              <a:tr h="493613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r-FR" sz="1400" b="0" i="0" u="none" strike="noStrike">
                          <a:solidFill>
                            <a:srgbClr val="00A896"/>
                          </a:solidFill>
                          <a:effectLst/>
                          <a:latin typeface="Aptos Narrow" panose="020B0004020202020204" pitchFamily="34" charset="0"/>
                        </a:rPr>
                        <a:t>771583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r-FR" sz="1400" b="0" i="0" u="none" strike="noStrike">
                          <a:solidFill>
                            <a:srgbClr val="00A896"/>
                          </a:solidFill>
                          <a:effectLst/>
                          <a:latin typeface="Aptos Narrow" panose="020B0004020202020204" pitchFamily="34" charset="0"/>
                        </a:rPr>
                        <a:t>PDT ECO VITRES KEO 750ML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r-FR" sz="1400" b="0" i="0" u="none" strike="noStrike">
                          <a:solidFill>
                            <a:srgbClr val="00A896"/>
                          </a:solidFill>
                          <a:effectLst/>
                          <a:latin typeface="Aptos Narrow" panose="020B0004020202020204" pitchFamily="34" charset="0"/>
                        </a:rPr>
                        <a:t>1011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r-FR" sz="1400" b="0" i="0" u="none" strike="noStrike">
                          <a:solidFill>
                            <a:srgbClr val="00A896"/>
                          </a:solidFill>
                          <a:effectLst/>
                          <a:latin typeface="Aptos Narrow" panose="020B0004020202020204" pitchFamily="34" charset="0"/>
                        </a:rPr>
                        <a:t>0,7%</a:t>
                      </a: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4054233667"/>
                  </a:ext>
                </a:extLst>
              </a:tr>
              <a:tr h="493613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r-FR" sz="1400" b="0" i="0" u="none" strike="noStrike">
                          <a:solidFill>
                            <a:srgbClr val="00A896"/>
                          </a:solidFill>
                          <a:effectLst/>
                          <a:latin typeface="Aptos Narrow" panose="020B0004020202020204" pitchFamily="34" charset="0"/>
                        </a:rPr>
                        <a:t>18161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r-FR" sz="1400" b="0" i="0" u="none" strike="noStrike">
                          <a:solidFill>
                            <a:srgbClr val="00A896"/>
                          </a:solidFill>
                          <a:effectLst/>
                          <a:latin typeface="Aptos Narrow" panose="020B0004020202020204" pitchFamily="34" charset="0"/>
                        </a:rPr>
                        <a:t>PAP BOBINE INDUSTRIELLE 1000 FTS 2P GAUFRE BLANCHE ECOLABEL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r-FR" sz="1400" b="0" i="0" u="none" strike="noStrike">
                          <a:solidFill>
                            <a:srgbClr val="00A896"/>
                          </a:solidFill>
                          <a:effectLst/>
                          <a:latin typeface="Aptos Narrow" panose="020B0004020202020204" pitchFamily="34" charset="0"/>
                        </a:rPr>
                        <a:t>947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r-FR" sz="1400" b="0" i="0" u="none" strike="noStrike">
                          <a:solidFill>
                            <a:srgbClr val="00A896"/>
                          </a:solidFill>
                          <a:effectLst/>
                          <a:latin typeface="Aptos Narrow" panose="020B0004020202020204" pitchFamily="34" charset="0"/>
                        </a:rPr>
                        <a:t>4,4%</a:t>
                      </a: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308770495"/>
                  </a:ext>
                </a:extLst>
              </a:tr>
              <a:tr h="285776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r-FR" sz="1400" b="0" i="0" u="none" strike="noStrike">
                          <a:solidFill>
                            <a:srgbClr val="00A896"/>
                          </a:solidFill>
                          <a:effectLst/>
                          <a:latin typeface="Aptos Narrow" panose="020B0004020202020204" pitchFamily="34" charset="0"/>
                        </a:rPr>
                        <a:t>18159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r-FR" sz="1400" b="0" i="0" u="none" strike="noStrike">
                          <a:solidFill>
                            <a:srgbClr val="00A896"/>
                          </a:solidFill>
                          <a:effectLst/>
                          <a:latin typeface="Aptos Narrow" panose="020B0004020202020204" pitchFamily="34" charset="0"/>
                        </a:rPr>
                        <a:t>PAP PAPIER TOILETTE MAXI JUMBO 2P MICROGAUFRE BLANCHE ECO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r-FR" sz="1400" b="0" i="0" u="none" strike="noStrike">
                          <a:solidFill>
                            <a:srgbClr val="00A896"/>
                          </a:solidFill>
                          <a:effectLst/>
                          <a:latin typeface="Aptos Narrow" panose="020B0004020202020204" pitchFamily="34" charset="0"/>
                        </a:rPr>
                        <a:t>934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r-FR" sz="1400" b="0" i="0" u="none" strike="noStrike">
                          <a:solidFill>
                            <a:srgbClr val="00A896"/>
                          </a:solidFill>
                          <a:effectLst/>
                          <a:latin typeface="Aptos Narrow" panose="020B0004020202020204" pitchFamily="34" charset="0"/>
                        </a:rPr>
                        <a:t>5,4%</a:t>
                      </a: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1173873574"/>
                  </a:ext>
                </a:extLst>
              </a:tr>
              <a:tr h="493613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r-FR" sz="1400" b="0" i="0" u="none" strike="noStrike">
                          <a:solidFill>
                            <a:srgbClr val="00A896"/>
                          </a:solidFill>
                          <a:effectLst/>
                          <a:latin typeface="Aptos Narrow" panose="020B0004020202020204" pitchFamily="34" charset="0"/>
                        </a:rPr>
                        <a:t>771596A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r-FR" sz="1400" b="0" i="0" u="none" strike="noStrike">
                          <a:solidFill>
                            <a:srgbClr val="00A896"/>
                          </a:solidFill>
                          <a:effectLst/>
                          <a:latin typeface="Aptos Narrow" panose="020B0004020202020204" pitchFamily="34" charset="0"/>
                        </a:rPr>
                        <a:t>PAP PAPIER TOILETTE MINI JUMBO 2P MICROGAUFRE BLANCHE ECO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r-FR" sz="1400" b="0" i="0" u="none" strike="noStrike">
                          <a:solidFill>
                            <a:srgbClr val="00A896"/>
                          </a:solidFill>
                          <a:effectLst/>
                          <a:latin typeface="Aptos Narrow" panose="020B0004020202020204" pitchFamily="34" charset="0"/>
                        </a:rPr>
                        <a:t>659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r-FR" sz="1400" b="0" i="0" u="none" strike="noStrike">
                          <a:solidFill>
                            <a:srgbClr val="00A896"/>
                          </a:solidFill>
                          <a:effectLst/>
                          <a:latin typeface="Aptos Narrow" panose="020B0004020202020204" pitchFamily="34" charset="0"/>
                        </a:rPr>
                        <a:t>4,4%</a:t>
                      </a: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3095550619"/>
                  </a:ext>
                </a:extLst>
              </a:tr>
              <a:tr h="493613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r-FR" sz="1400" b="0" i="0" u="none" strike="noStrike">
                          <a:solidFill>
                            <a:srgbClr val="00A896"/>
                          </a:solidFill>
                          <a:effectLst/>
                          <a:latin typeface="Aptos Narrow" panose="020B0004020202020204" pitchFamily="34" charset="0"/>
                        </a:rPr>
                        <a:t>771513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r-FR" sz="1400" b="0" i="0" u="none" strike="noStrike">
                          <a:solidFill>
                            <a:srgbClr val="00A896"/>
                          </a:solidFill>
                          <a:effectLst/>
                          <a:latin typeface="Aptos Narrow" panose="020B0004020202020204" pitchFamily="34" charset="0"/>
                        </a:rPr>
                        <a:t>PDT PLONGE MANUELLE KEO DETERGENT VAISSELLE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r-FR" sz="1400" b="0" i="0" u="none" strike="noStrike">
                          <a:solidFill>
                            <a:srgbClr val="00A896"/>
                          </a:solidFill>
                          <a:effectLst/>
                          <a:latin typeface="Aptos Narrow" panose="020B0004020202020204" pitchFamily="34" charset="0"/>
                        </a:rPr>
                        <a:t>619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r-FR" sz="1400" b="0" i="0" u="none" strike="noStrike">
                          <a:solidFill>
                            <a:srgbClr val="00A896"/>
                          </a:solidFill>
                          <a:effectLst/>
                          <a:latin typeface="Aptos Narrow" panose="020B0004020202020204" pitchFamily="34" charset="0"/>
                        </a:rPr>
                        <a:t>1,0%</a:t>
                      </a: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3604538594"/>
                  </a:ext>
                </a:extLst>
              </a:tr>
              <a:tr h="493613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r-FR" sz="1400" b="0" i="0" u="none" strike="noStrike">
                          <a:solidFill>
                            <a:srgbClr val="00A896"/>
                          </a:solidFill>
                          <a:effectLst/>
                          <a:latin typeface="Aptos Narrow" panose="020B0004020202020204" pitchFamily="34" charset="0"/>
                        </a:rPr>
                        <a:t>'000431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r-FR" sz="1400" b="0" i="0" u="none" strike="noStrike">
                          <a:solidFill>
                            <a:srgbClr val="00A896"/>
                          </a:solidFill>
                          <a:effectLst/>
                          <a:latin typeface="Aptos Narrow" panose="020B0004020202020204" pitchFamily="34" charset="0"/>
                        </a:rPr>
                        <a:t>PDT JAVEL 2.6%  1L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r-FR" sz="1400" b="0" i="0" u="none" strike="noStrike">
                          <a:solidFill>
                            <a:srgbClr val="00A896"/>
                          </a:solidFill>
                          <a:effectLst/>
                          <a:latin typeface="Aptos Narrow" panose="020B0004020202020204" pitchFamily="34" charset="0"/>
                        </a:rPr>
                        <a:t>613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r-FR" sz="1400" b="0" i="0" u="none" strike="noStrike">
                          <a:solidFill>
                            <a:srgbClr val="00A896"/>
                          </a:solidFill>
                          <a:effectLst/>
                          <a:latin typeface="Aptos Narrow" panose="020B0004020202020204" pitchFamily="34" charset="0"/>
                        </a:rPr>
                        <a:t>0,2%</a:t>
                      </a: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1091346536"/>
                  </a:ext>
                </a:extLst>
              </a:tr>
              <a:tr h="493613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r-FR" sz="1400" b="0" i="0" u="none" strike="noStrike">
                          <a:solidFill>
                            <a:srgbClr val="00A896"/>
                          </a:solidFill>
                          <a:effectLst/>
                          <a:latin typeface="Aptos Narrow" panose="020B0004020202020204" pitchFamily="34" charset="0"/>
                        </a:rPr>
                        <a:t>16504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r-FR" sz="1400" b="0" i="0" u="none" strike="noStrike">
                          <a:solidFill>
                            <a:srgbClr val="00A896"/>
                          </a:solidFill>
                          <a:effectLst/>
                          <a:latin typeface="Aptos Narrow" panose="020B0004020202020204" pitchFamily="34" charset="0"/>
                        </a:rPr>
                        <a:t>PROT CHARLOTTE CLIP BLANCHE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r-FR" sz="1400" b="0" i="0" u="none" strike="noStrike">
                          <a:solidFill>
                            <a:srgbClr val="00A896"/>
                          </a:solidFill>
                          <a:effectLst/>
                          <a:latin typeface="Aptos Narrow" panose="020B0004020202020204" pitchFamily="34" charset="0"/>
                        </a:rPr>
                        <a:t>519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r-FR" sz="1400" b="0" i="0" u="none" strike="noStrike" dirty="0">
                          <a:solidFill>
                            <a:srgbClr val="00A896"/>
                          </a:solidFill>
                          <a:effectLst/>
                          <a:latin typeface="Aptos Narrow" panose="020B0004020202020204" pitchFamily="34" charset="0"/>
                        </a:rPr>
                        <a:t>0,4%</a:t>
                      </a: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658096016"/>
                  </a:ext>
                </a:extLst>
              </a:tr>
            </a:tbl>
          </a:graphicData>
        </a:graphic>
      </p:graphicFrame>
      <p:sp>
        <p:nvSpPr>
          <p:cNvPr id="12" name="Text 12">
            <a:extLst>
              <a:ext uri="{FF2B5EF4-FFF2-40B4-BE49-F238E27FC236}">
                <a16:creationId xmlns:a16="http://schemas.microsoft.com/office/drawing/2014/main" id="{48035631-FE55-9FDC-48E1-99143E761FC7}"/>
              </a:ext>
            </a:extLst>
          </p:cNvPr>
          <p:cNvSpPr/>
          <p:nvPr/>
        </p:nvSpPr>
        <p:spPr>
          <a:xfrm>
            <a:off x="1111589" y="1031144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0A8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Volume (u)</a:t>
            </a:r>
            <a:endParaRPr lang="en-US" sz="1050" dirty="0"/>
          </a:p>
        </p:txBody>
      </p:sp>
      <p:sp>
        <p:nvSpPr>
          <p:cNvPr id="7" name="ZoneTexte 6">
            <a:extLst>
              <a:ext uri="{FF2B5EF4-FFF2-40B4-BE49-F238E27FC236}">
                <a16:creationId xmlns:a16="http://schemas.microsoft.com/office/drawing/2014/main" id="{C957F36E-61A7-4D91-FFA2-B060A9B21FF5}"/>
              </a:ext>
            </a:extLst>
          </p:cNvPr>
          <p:cNvSpPr txBox="1"/>
          <p:nvPr/>
        </p:nvSpPr>
        <p:spPr>
          <a:xfrm>
            <a:off x="5273296" y="252680"/>
            <a:ext cx="663115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RE" sz="1200" i="1" dirty="0"/>
              <a:t>Belle remontée Keo Gel WC liée à la rentrée ?</a:t>
            </a:r>
          </a:p>
          <a:p>
            <a:r>
              <a:rPr lang="fr-RE" sz="1200" i="1" dirty="0"/>
              <a:t>Sac poubelle 160 L ? </a:t>
            </a:r>
            <a:r>
              <a:rPr lang="fr-RE" sz="1200" i="1" dirty="0" err="1"/>
              <a:t>Ruptutre</a:t>
            </a:r>
            <a:r>
              <a:rPr lang="fr-RE" sz="1200" i="1" dirty="0"/>
              <a:t> ?</a:t>
            </a:r>
          </a:p>
        </p:txBody>
      </p:sp>
    </p:spTree>
    <p:extLst>
      <p:ext uri="{BB962C8B-B14F-4D97-AF65-F5344CB8AC3E}">
        <p14:creationId xmlns:p14="http://schemas.microsoft.com/office/powerpoint/2010/main" val="55387991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734</Words>
  <Application>Microsoft Office PowerPoint</Application>
  <PresentationFormat>Grand écran</PresentationFormat>
  <Paragraphs>173</Paragraphs>
  <Slides>3</Slides>
  <Notes>3</Notes>
  <HiddenSlides>0</HiddenSlides>
  <MMClips>0</MMClips>
  <ScaleCrop>false</ScaleCrop>
  <HeadingPairs>
    <vt:vector size="6" baseType="variant">
      <vt:variant>
        <vt:lpstr>Polices utilisées</vt:lpstr>
      </vt:variant>
      <vt:variant>
        <vt:i4>5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3</vt:i4>
      </vt:variant>
    </vt:vector>
  </HeadingPairs>
  <TitlesOfParts>
    <vt:vector size="9" baseType="lpstr">
      <vt:lpstr>Aptos Narrow</vt:lpstr>
      <vt:lpstr>Arial</vt:lpstr>
      <vt:lpstr>Calibri</vt:lpstr>
      <vt:lpstr>Calibri  </vt:lpstr>
      <vt:lpstr>Cambria</vt:lpstr>
      <vt:lpstr>Office Theme</vt:lpstr>
      <vt:lpstr>Présentation PowerPoint</vt:lpstr>
      <vt:lpstr>Présentation PowerPoint</vt:lpstr>
      <vt:lpstr>Présentation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Antoine Bourricat</cp:lastModifiedBy>
  <cp:revision>46</cp:revision>
  <cp:lastPrinted>2026-08-07T08:28:48Z</cp:lastPrinted>
  <dcterms:created xsi:type="dcterms:W3CDTF">2026-07-29T03:47:21Z</dcterms:created>
  <dcterms:modified xsi:type="dcterms:W3CDTF">2026-09-21T06:22:19Z</dcterms:modified>
</cp:coreProperties>
</file>