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56" r:id="rId3"/>
    <p:sldId id="272" r:id="rId4"/>
    <p:sldId id="264" r:id="rId5"/>
    <p:sldId id="271" r:id="rId6"/>
    <p:sldId id="266" r:id="rId7"/>
    <p:sldId id="258" r:id="rId8"/>
    <p:sldId id="259" r:id="rId9"/>
    <p:sldId id="275" r:id="rId10"/>
    <p:sldId id="261" r:id="rId11"/>
    <p:sldId id="260" r:id="rId12"/>
    <p:sldId id="262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FCE0F6-A41B-47FA-9D72-0306A4FCDDF1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32553-AFCF-4C99-A82C-3F35840B43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9801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D9F11-8211-B176-E170-CE7957E8F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8D77F1-A283-8698-5FAC-3C9EC6F68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A1D2E-9C05-C4F9-643E-1D418BFCD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B52FC-D27C-6C08-0892-DD0D9B622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3770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A0603-F46A-40D0-9260-EFE48533A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563DA6-2EF6-735A-8400-84D80E62F7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A85823-60B2-B21F-EEAF-0DA205FAC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9B64C-E5F7-F883-82CB-4B0CCF795E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90330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FDDB9-BC32-2933-AF1E-786A4FB18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666CBA-4DE4-42AE-78EC-51FA3C5357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B77D09-6DD4-9DD0-0A8D-2DB2B29E7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EB8A2-78DD-DD73-2FAC-A70F86438B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341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2A524C-98EB-AE56-2C86-5F59D1E8B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8F0A334-629D-3084-B589-164011BB7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8A0BD2-FAE3-9915-A943-CFFD903EC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053C2-6C99-4340-BBEF-A34A61D7CBA3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BBE83B-7C60-71BE-33B7-865AF26A3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6D2B36-734F-9A11-2C8F-AED16EEAB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B8764-6BB8-4381-AA92-6C1A1388D3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9777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A8AA84-9349-8E2E-C309-41991726F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1618BB-2E9E-125E-69CB-3BC66D826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83881E-C474-0D36-8586-E850C1EA4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053C2-6C99-4340-BBEF-A34A61D7CBA3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3882C0-5178-001B-5DC5-84849FB9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517F09-D6D0-68EE-F936-78647EDD6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B8764-6BB8-4381-AA92-6C1A1388D3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256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17FAE0-721C-0384-1EA2-83F23B42A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44F1116-DCA2-B43A-BF26-A22AB5908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22C236-731E-24D7-AD08-4E6EA125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053C2-6C99-4340-BBEF-A34A61D7CBA3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AF0405-8A8C-8793-05F9-AEF7C4C0E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C360B5-94AA-3ECE-F8ED-9CD1B8A68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B8764-6BB8-4381-AA92-6C1A1388D3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0767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015517-9391-E2E6-5D70-54E337C21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8B7E44-0007-A558-98D9-44283827C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C26B941-D11C-AFAD-51CA-9A22FAB59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E5F4836-8624-F4F6-0915-81EC4094D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053C2-6C99-4340-BBEF-A34A61D7CBA3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BB0A969-CE51-1F8B-70FC-A6CFBB6E4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41A32D8-C3A8-BE72-5566-0CFF938DE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B8764-6BB8-4381-AA92-6C1A1388D3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6510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961644-6D5D-FC96-9960-413D834D1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D36448-F9BE-7F5A-41B0-DC06CCD5B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4F3B287-CEB7-82C3-046A-ACD983E40E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827118C-28DC-4F37-1850-5ED24F7033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5B9363E-FCA3-E8A8-003A-3C68A2CD00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A77E626-2807-A4BE-E7EC-5E099B051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053C2-6C99-4340-BBEF-A34A61D7CBA3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E60DFAF-285D-960B-E7E7-5A0DF516A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D32CF72-0FF1-B290-CCA1-BA0ABEB8C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B8764-6BB8-4381-AA92-6C1A1388D3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4159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EAD646-2F6A-521E-4E2D-1DE041229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C2A15AB-84D1-31D0-A836-BE3F9C1BD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053C2-6C99-4340-BBEF-A34A61D7CBA3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32E2D26-3DF5-0491-ADDB-A3FD1F3A5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6903C25-C824-0288-823E-CAE2BA3FE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B8764-6BB8-4381-AA92-6C1A1388D3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3760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207E749-6F4D-B5AD-5EBF-136080AF3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053C2-6C99-4340-BBEF-A34A61D7CBA3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B447C19-D80C-864E-B48F-0701CFD51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A43ED96-013F-FFEA-F307-5732260ED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B8764-6BB8-4381-AA92-6C1A1388D3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0251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3BE985-9A9D-219B-FCA1-385EC5978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AE6DDD-4F21-E2FB-E176-1C1DDC499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D2AE901-82E6-425E-AF2A-9EDE4DA50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F7B068-6174-BAFA-4A21-049FC01FC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053C2-6C99-4340-BBEF-A34A61D7CBA3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4BB82FA-FA4F-3746-9F13-7CE7F8AFB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7876C2A-9D40-FA83-4404-4F3D93377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B8764-6BB8-4381-AA92-6C1A1388D3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284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704E78-AB26-4B92-2741-4B32FF800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1B845F5-EF26-47A2-152D-44D7869C9B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477E55A-A68B-BC36-990F-31BEEE141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7BB028A-4D90-2EBE-696E-C7AB3E145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053C2-6C99-4340-BBEF-A34A61D7CBA3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D63B242-1369-CCEC-CB53-E9DC55CB3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DB7AEC7-7512-7C49-13DC-26A613225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B8764-6BB8-4381-AA92-6C1A1388D3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6774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672855-91DB-CE02-BDBD-47B6817FD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893BF6B-31A8-939A-CFBF-39076D32F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FF41B8-598A-1080-724F-58B8E3F2A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053C2-6C99-4340-BBEF-A34A61D7CBA3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0263BA-1B29-48E5-474B-FDDD24C3B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8E2C79-52AF-5B2E-CA24-F8FA0CA4F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B8764-6BB8-4381-AA92-6C1A1388D3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4828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D7C4BC2-748D-7AF2-1AB9-C5C698D3E8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09CB8B5-DA55-78C7-5F49-BB325968C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01FCE6-D237-5630-D4A6-21256DC56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053C2-6C99-4340-BBEF-A34A61D7CBA3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89C72A-99A1-902F-646A-DF42C1309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B3E12D-D496-71DA-B12E-4F245A707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B8764-6BB8-4381-AA92-6C1A1388D3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62194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5383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CFC8E3D-EDFE-84BD-1A16-F5040D46F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A5B551F-1CC4-5E73-9BA3-673CF42B9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B84985-63DD-A1D9-5A03-502A44D7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6053C2-6C99-4340-BBEF-A34A61D7CBA3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4028D2-6E3D-D754-DE17-B0421E4CB9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D0E9C4-F967-B8C1-D1EE-3951890E4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CB8764-6BB8-4381-AA92-6C1A1388D3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6333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611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6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417320"/>
            <a:ext cx="320040" cy="3200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R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KPI </a:t>
            </a:r>
            <a:r>
              <a:rPr kumimoji="0" lang="en-US" sz="5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Hygierun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FE3E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Suivi mensuel des indicateurs —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FE3E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Mois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FE3E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3657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8FB6B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partagés · équipes opérationnelles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01656A5B-2717-CA15-F363-2587978BD0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338272"/>
              </p:ext>
            </p:extLst>
          </p:nvPr>
        </p:nvGraphicFramePr>
        <p:xfrm>
          <a:off x="2885441" y="1234440"/>
          <a:ext cx="6789250" cy="34137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02127">
                  <a:extLst>
                    <a:ext uri="{9D8B030D-6E8A-4147-A177-3AD203B41FA5}">
                      <a16:colId xmlns:a16="http://schemas.microsoft.com/office/drawing/2014/main" val="3654700179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108299242"/>
                    </a:ext>
                  </a:extLst>
                </a:gridCol>
                <a:gridCol w="1993731">
                  <a:extLst>
                    <a:ext uri="{9D8B030D-6E8A-4147-A177-3AD203B41FA5}">
                      <a16:colId xmlns:a16="http://schemas.microsoft.com/office/drawing/2014/main" val="39824072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200" dirty="0"/>
                        <a:t>KPI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 dirty="0"/>
                        <a:t>Référent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 dirty="0"/>
                        <a:t>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5289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200" dirty="0"/>
                        <a:t>Commerce/Ventes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 dirty="0"/>
                        <a:t>Anthony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23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200" dirty="0"/>
                        <a:t>Ventes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 dirty="0"/>
                        <a:t>Anthony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558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200" dirty="0"/>
                        <a:t>Préparation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 dirty="0"/>
                        <a:t>Laetitia / Seb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950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200" dirty="0"/>
                        <a:t>Livraison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 dirty="0"/>
                        <a:t>Laetitia / Seb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266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200" dirty="0"/>
                        <a:t>SAV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 dirty="0"/>
                        <a:t>Laetitia / Joël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419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200" dirty="0"/>
                        <a:t>Comptabilité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 dirty="0"/>
                        <a:t>Aimana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946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200" dirty="0"/>
                        <a:t>Approvisionnement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/>
                        <a:t>Laetitia / Seb</a:t>
                      </a:r>
                      <a:endParaRPr lang="fr-FR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527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5025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R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25880" y="420624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Commerce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44168" y="9144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—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Aout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91160" y="1437639"/>
            <a:ext cx="3799573" cy="3818129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R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760" y="1702816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R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8360" y="16022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Commandes clients passées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19760" y="2171084"/>
            <a:ext cx="3456432" cy="520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975 cdes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45613" y="2140223"/>
            <a:ext cx="1508760" cy="60883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R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545613" y="2140223"/>
            <a:ext cx="1508760" cy="608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N-1 : 860 cdes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▲ +13 %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9760" y="3418800"/>
            <a:ext cx="3456432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526 k€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545613" y="3364945"/>
            <a:ext cx="1508760" cy="60883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R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545613" y="3344625"/>
            <a:ext cx="1508760" cy="608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N-1 : 365 k€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▲ +45 %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17831" y="1440591"/>
            <a:ext cx="3718392" cy="3815177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R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46431" y="1705768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R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84966" y="1559773"/>
            <a:ext cx="3068769" cy="40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 HT </a:t>
            </a:r>
            <a:r>
              <a:rPr kumimoji="0" 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facturé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(Equipe Commerciale + vide)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692841" y="3386273"/>
            <a:ext cx="3456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352 k€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65761" y="3356301"/>
            <a:ext cx="1508760" cy="60883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R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65761" y="3356301"/>
            <a:ext cx="1508760" cy="608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N-1 : 452 k€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▼ −28 %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420066" y="1446466"/>
            <a:ext cx="3489960" cy="3809302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R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E8A72E7F-49DB-781B-5809-C54CCE8B0237}"/>
              </a:ext>
            </a:extLst>
          </p:cNvPr>
          <p:cNvSpPr txBox="1"/>
          <p:nvPr/>
        </p:nvSpPr>
        <p:spPr>
          <a:xfrm>
            <a:off x="4617714" y="4787308"/>
            <a:ext cx="3360928" cy="266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50" i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1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Factures / Arch / filtre </a:t>
            </a:r>
            <a:r>
              <a:rPr kumimoji="0" lang="fr-FR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Repr</a:t>
            </a:r>
            <a:r>
              <a:rPr kumimoji="0" lang="fr-FR" sz="1050" b="0" i="1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= Commerciaux x 6 (+ Showroom + vide =&gt; cas anormaux?)</a:t>
            </a:r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852688BC-9F7A-58E6-CA5D-CDD8113197FA}"/>
              </a:ext>
            </a:extLst>
          </p:cNvPr>
          <p:cNvSpPr/>
          <p:nvPr/>
        </p:nvSpPr>
        <p:spPr>
          <a:xfrm>
            <a:off x="8570703" y="1620049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R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96A4C8F1-A14D-019F-CB26-730DBC4E04FE}"/>
              </a:ext>
            </a:extLst>
          </p:cNvPr>
          <p:cNvSpPr/>
          <p:nvPr/>
        </p:nvSpPr>
        <p:spPr>
          <a:xfrm>
            <a:off x="8876303" y="1501177"/>
            <a:ext cx="284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Panier moyen (avec Franck)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25">
            <a:extLst>
              <a:ext uri="{FF2B5EF4-FFF2-40B4-BE49-F238E27FC236}">
                <a16:creationId xmlns:a16="http://schemas.microsoft.com/office/drawing/2014/main" id="{13ABB66C-687E-9251-AE9B-A531394B29D2}"/>
              </a:ext>
            </a:extLst>
          </p:cNvPr>
          <p:cNvSpPr/>
          <p:nvPr/>
        </p:nvSpPr>
        <p:spPr>
          <a:xfrm>
            <a:off x="10463829" y="1939696"/>
            <a:ext cx="1207008" cy="60883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R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26">
            <a:extLst>
              <a:ext uri="{FF2B5EF4-FFF2-40B4-BE49-F238E27FC236}">
                <a16:creationId xmlns:a16="http://schemas.microsoft.com/office/drawing/2014/main" id="{241C17DF-453A-0A46-313B-7463D6C4EC57}"/>
              </a:ext>
            </a:extLst>
          </p:cNvPr>
          <p:cNvSpPr/>
          <p:nvPr/>
        </p:nvSpPr>
        <p:spPr>
          <a:xfrm>
            <a:off x="10463829" y="1923655"/>
            <a:ext cx="1207008" cy="608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N-1 : 519,6 €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▼ −30 %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E37CE684-91E3-12B9-E93D-15A8198AC86F}"/>
              </a:ext>
            </a:extLst>
          </p:cNvPr>
          <p:cNvSpPr txBox="1"/>
          <p:nvPr/>
        </p:nvSpPr>
        <p:spPr>
          <a:xfrm>
            <a:off x="8556263" y="4722908"/>
            <a:ext cx="3489960" cy="351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50" i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1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Fact / Arch / filtre </a:t>
            </a:r>
            <a:r>
              <a:rPr kumimoji="0" lang="fr-FR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Repr</a:t>
            </a:r>
            <a:r>
              <a:rPr kumimoji="0" lang="fr-FR" sz="1050" b="0" i="1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= Commerciaux x5 et x6</a:t>
            </a:r>
          </a:p>
        </p:txBody>
      </p:sp>
      <p:sp>
        <p:nvSpPr>
          <p:cNvPr id="73" name="Text 24">
            <a:extLst>
              <a:ext uri="{FF2B5EF4-FFF2-40B4-BE49-F238E27FC236}">
                <a16:creationId xmlns:a16="http://schemas.microsoft.com/office/drawing/2014/main" id="{029C21E1-C363-8202-888E-277822DF8525}"/>
              </a:ext>
            </a:extLst>
          </p:cNvPr>
          <p:cNvSpPr/>
          <p:nvPr/>
        </p:nvSpPr>
        <p:spPr>
          <a:xfrm>
            <a:off x="5906868" y="5413424"/>
            <a:ext cx="1825752" cy="1275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Text 24">
            <a:extLst>
              <a:ext uri="{FF2B5EF4-FFF2-40B4-BE49-F238E27FC236}">
                <a16:creationId xmlns:a16="http://schemas.microsoft.com/office/drawing/2014/main" id="{34B50D41-F9EC-6493-A002-7DAB615AE489}"/>
              </a:ext>
            </a:extLst>
          </p:cNvPr>
          <p:cNvSpPr/>
          <p:nvPr/>
        </p:nvSpPr>
        <p:spPr>
          <a:xfrm>
            <a:off x="8803464" y="1995167"/>
            <a:ext cx="1825752" cy="502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364,6 €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10">
            <a:extLst>
              <a:ext uri="{FF2B5EF4-FFF2-40B4-BE49-F238E27FC236}">
                <a16:creationId xmlns:a16="http://schemas.microsoft.com/office/drawing/2014/main" id="{D43CF30D-D738-4E83-B4A9-926869404B68}"/>
              </a:ext>
            </a:extLst>
          </p:cNvPr>
          <p:cNvSpPr/>
          <p:nvPr/>
        </p:nvSpPr>
        <p:spPr>
          <a:xfrm>
            <a:off x="509872" y="4824805"/>
            <a:ext cx="3544501" cy="177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/ Arch + à 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livrer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Filtre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repr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commerciaux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x6, 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dont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avoirs</a:t>
            </a:r>
            <a:endParaRPr kumimoji="0" lang="en-US" sz="1050" b="0" i="1" u="none" strike="noStrike" kern="1200" cap="none" spc="0" normalizeH="0" baseline="0" noProof="0" dirty="0">
              <a:ln>
                <a:noFill/>
              </a:ln>
              <a:solidFill>
                <a:srgbClr val="8A9BA3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EA3C368F-56F0-207F-DB35-4CF882562CE1}"/>
              </a:ext>
            </a:extLst>
          </p:cNvPr>
          <p:cNvSpPr/>
          <p:nvPr/>
        </p:nvSpPr>
        <p:spPr>
          <a:xfrm>
            <a:off x="597941" y="2731372"/>
            <a:ext cx="3456432" cy="3720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916 arch. + 59 à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livrer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7">
            <a:extLst>
              <a:ext uri="{FF2B5EF4-FFF2-40B4-BE49-F238E27FC236}">
                <a16:creationId xmlns:a16="http://schemas.microsoft.com/office/drawing/2014/main" id="{D65C5C62-A192-AC22-B1E6-D920A9016B98}"/>
              </a:ext>
            </a:extLst>
          </p:cNvPr>
          <p:cNvSpPr/>
          <p:nvPr/>
        </p:nvSpPr>
        <p:spPr>
          <a:xfrm>
            <a:off x="597941" y="3990804"/>
            <a:ext cx="3456432" cy="327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+mn-cs"/>
              </a:rPr>
              <a:t>256 k€ arch. + 270 k€ à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+mn-cs"/>
              </a:rPr>
              <a:t>livrer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E7C86"/>
              </a:solidFill>
              <a:effectLst/>
              <a:uLnTx/>
              <a:uFillTx/>
              <a:latin typeface="Cambria" pitchFamily="34" charset="0"/>
              <a:ea typeface="Cambria" pitchFamily="34" charset="-122"/>
              <a:cs typeface="+mn-cs"/>
            </a:endParaRPr>
          </a:p>
        </p:txBody>
      </p:sp>
      <p:sp>
        <p:nvSpPr>
          <p:cNvPr id="80" name="Shape 22">
            <a:extLst>
              <a:ext uri="{FF2B5EF4-FFF2-40B4-BE49-F238E27FC236}">
                <a16:creationId xmlns:a16="http://schemas.microsoft.com/office/drawing/2014/main" id="{40023AAD-8201-4488-89EB-70CEEFAE3AE2}"/>
              </a:ext>
            </a:extLst>
          </p:cNvPr>
          <p:cNvSpPr/>
          <p:nvPr/>
        </p:nvSpPr>
        <p:spPr>
          <a:xfrm>
            <a:off x="8677075" y="2800272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R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 23">
            <a:extLst>
              <a:ext uri="{FF2B5EF4-FFF2-40B4-BE49-F238E27FC236}">
                <a16:creationId xmlns:a16="http://schemas.microsoft.com/office/drawing/2014/main" id="{7F4174E0-9E10-144B-85D7-BE1BE6228501}"/>
              </a:ext>
            </a:extLst>
          </p:cNvPr>
          <p:cNvSpPr/>
          <p:nvPr/>
        </p:nvSpPr>
        <p:spPr>
          <a:xfrm>
            <a:off x="8905675" y="2681400"/>
            <a:ext cx="284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Panier moyen (hors Franck)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F6EF3707-E6FB-B570-06A6-8912CE26298B}"/>
              </a:ext>
            </a:extLst>
          </p:cNvPr>
          <p:cNvSpPr/>
          <p:nvPr/>
        </p:nvSpPr>
        <p:spPr>
          <a:xfrm>
            <a:off x="8840063" y="3154716"/>
            <a:ext cx="1825752" cy="5311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296,1 €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Shape 25">
            <a:extLst>
              <a:ext uri="{FF2B5EF4-FFF2-40B4-BE49-F238E27FC236}">
                <a16:creationId xmlns:a16="http://schemas.microsoft.com/office/drawing/2014/main" id="{C86CC0C3-6B43-4CC1-BCB2-1C1FD20E79A5}"/>
              </a:ext>
            </a:extLst>
          </p:cNvPr>
          <p:cNvSpPr/>
          <p:nvPr/>
        </p:nvSpPr>
        <p:spPr>
          <a:xfrm>
            <a:off x="10348823" y="3112901"/>
            <a:ext cx="1207008" cy="60883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R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Text 26">
            <a:extLst>
              <a:ext uri="{FF2B5EF4-FFF2-40B4-BE49-F238E27FC236}">
                <a16:creationId xmlns:a16="http://schemas.microsoft.com/office/drawing/2014/main" id="{D1F473C7-E6B6-4CEC-EBF4-7F35A45E4736}"/>
              </a:ext>
            </a:extLst>
          </p:cNvPr>
          <p:cNvSpPr/>
          <p:nvPr/>
        </p:nvSpPr>
        <p:spPr>
          <a:xfrm>
            <a:off x="10348823" y="3112902"/>
            <a:ext cx="1207008" cy="608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N-1 : 323,7 €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▼ −9 %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Text 24">
            <a:extLst>
              <a:ext uri="{FF2B5EF4-FFF2-40B4-BE49-F238E27FC236}">
                <a16:creationId xmlns:a16="http://schemas.microsoft.com/office/drawing/2014/main" id="{E9E9D3E3-F4D4-DE5B-934A-A1CBAE4EE5BB}"/>
              </a:ext>
            </a:extLst>
          </p:cNvPr>
          <p:cNvSpPr/>
          <p:nvPr/>
        </p:nvSpPr>
        <p:spPr>
          <a:xfrm>
            <a:off x="8402856" y="1628266"/>
            <a:ext cx="1825752" cy="1275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Text 24">
            <a:extLst>
              <a:ext uri="{FF2B5EF4-FFF2-40B4-BE49-F238E27FC236}">
                <a16:creationId xmlns:a16="http://schemas.microsoft.com/office/drawing/2014/main" id="{A3F2A774-FA04-FB89-907E-B554DF35880F}"/>
              </a:ext>
            </a:extLst>
          </p:cNvPr>
          <p:cNvSpPr/>
          <p:nvPr/>
        </p:nvSpPr>
        <p:spPr>
          <a:xfrm>
            <a:off x="2203728" y="5376900"/>
            <a:ext cx="1825752" cy="1275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0" name="Text 17">
            <a:extLst>
              <a:ext uri="{FF2B5EF4-FFF2-40B4-BE49-F238E27FC236}">
                <a16:creationId xmlns:a16="http://schemas.microsoft.com/office/drawing/2014/main" id="{EDADA00F-29C2-9C9B-4649-033ED7507D90}"/>
              </a:ext>
            </a:extLst>
          </p:cNvPr>
          <p:cNvSpPr/>
          <p:nvPr/>
        </p:nvSpPr>
        <p:spPr>
          <a:xfrm>
            <a:off x="4692841" y="2201020"/>
            <a:ext cx="3456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966 fact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" name="Shape 18">
            <a:extLst>
              <a:ext uri="{FF2B5EF4-FFF2-40B4-BE49-F238E27FC236}">
                <a16:creationId xmlns:a16="http://schemas.microsoft.com/office/drawing/2014/main" id="{E0C6C51D-76DE-227E-8E3B-4F993725CD79}"/>
              </a:ext>
            </a:extLst>
          </p:cNvPr>
          <p:cNvSpPr/>
          <p:nvPr/>
        </p:nvSpPr>
        <p:spPr>
          <a:xfrm>
            <a:off x="6465761" y="2171048"/>
            <a:ext cx="1508760" cy="60883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R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Text 19">
            <a:extLst>
              <a:ext uri="{FF2B5EF4-FFF2-40B4-BE49-F238E27FC236}">
                <a16:creationId xmlns:a16="http://schemas.microsoft.com/office/drawing/2014/main" id="{1C544966-EED5-0DF1-B563-6F2CF09FC910}"/>
              </a:ext>
            </a:extLst>
          </p:cNvPr>
          <p:cNvSpPr/>
          <p:nvPr/>
        </p:nvSpPr>
        <p:spPr>
          <a:xfrm>
            <a:off x="6465761" y="2171048"/>
            <a:ext cx="1508760" cy="608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N-1 : 870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▲ +11 %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84C1727-59D5-585B-CE73-DC97DCCFD0E9}"/>
              </a:ext>
            </a:extLst>
          </p:cNvPr>
          <p:cNvSpPr txBox="1"/>
          <p:nvPr/>
        </p:nvSpPr>
        <p:spPr>
          <a:xfrm>
            <a:off x="619760" y="5580914"/>
            <a:ext cx="11106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RE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+45% </a:t>
            </a:r>
            <a:r>
              <a:rPr kumimoji="0" lang="fr-RE" sz="1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Cdes</a:t>
            </a:r>
            <a:r>
              <a:rPr kumimoji="0" lang="fr-RE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passées : ventes Franck dernière semaine d’Aout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RE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-28% Fact expliquées par la baisse du panier moyen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fr-RE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30% PM (avec Franck) de juillet 323€ et Juin 351€ donc pas d’alerte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fr-RE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296€ PM (sans Franck) stables sur les trois mois mais moins bon que l’année dernière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322C7-6BC1-4C1A-6B41-89CD5458E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4">
            <a:extLst>
              <a:ext uri="{FF2B5EF4-FFF2-40B4-BE49-F238E27FC236}">
                <a16:creationId xmlns:a16="http://schemas.microsoft.com/office/drawing/2014/main" id="{DFA0FCFE-DB74-CBA9-DC83-5123FA6A486F}"/>
              </a:ext>
            </a:extLst>
          </p:cNvPr>
          <p:cNvSpPr/>
          <p:nvPr/>
        </p:nvSpPr>
        <p:spPr>
          <a:xfrm>
            <a:off x="6541681" y="1115568"/>
            <a:ext cx="4232832" cy="2657788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R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25">
            <a:extLst>
              <a:ext uri="{FF2B5EF4-FFF2-40B4-BE49-F238E27FC236}">
                <a16:creationId xmlns:a16="http://schemas.microsoft.com/office/drawing/2014/main" id="{962521AF-F257-6E07-B369-860977715D75}"/>
              </a:ext>
            </a:extLst>
          </p:cNvPr>
          <p:cNvSpPr/>
          <p:nvPr/>
        </p:nvSpPr>
        <p:spPr>
          <a:xfrm>
            <a:off x="6685331" y="2623475"/>
            <a:ext cx="4015291" cy="778851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R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0073DEA-5355-7BE9-CB55-72B6162065AF}"/>
              </a:ext>
            </a:extLst>
          </p:cNvPr>
          <p:cNvSpPr/>
          <p:nvPr/>
        </p:nvSpPr>
        <p:spPr>
          <a:xfrm>
            <a:off x="6685330" y="1761753"/>
            <a:ext cx="4015291" cy="778851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R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19ADB3F2-A904-41E7-4793-0A923C37E46A}"/>
              </a:ext>
            </a:extLst>
          </p:cNvPr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R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45DFE7-59A4-10B9-9FC1-AACF91FEA072}"/>
              </a:ext>
            </a:extLst>
          </p:cNvPr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AB23C03-86A3-5492-5DDA-848350FB1026}"/>
              </a:ext>
            </a:extLst>
          </p:cNvPr>
          <p:cNvSpPr/>
          <p:nvPr/>
        </p:nvSpPr>
        <p:spPr>
          <a:xfrm>
            <a:off x="1325880" y="420624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Commerce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EC29A5C-837A-9DA3-B720-C94C41D01FCC}"/>
              </a:ext>
            </a:extLst>
          </p:cNvPr>
          <p:cNvSpPr/>
          <p:nvPr/>
        </p:nvSpPr>
        <p:spPr>
          <a:xfrm>
            <a:off x="1344168" y="9144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—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Août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E63883B-8096-C971-4F16-D3F8F7686DA5}"/>
              </a:ext>
            </a:extLst>
          </p:cNvPr>
          <p:cNvSpPr/>
          <p:nvPr/>
        </p:nvSpPr>
        <p:spPr>
          <a:xfrm>
            <a:off x="163483" y="1795360"/>
            <a:ext cx="4619181" cy="4278746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R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07AA5535-59A2-7B2D-C775-F305E97B3198}"/>
              </a:ext>
            </a:extLst>
          </p:cNvPr>
          <p:cNvSpPr/>
          <p:nvPr/>
        </p:nvSpPr>
        <p:spPr>
          <a:xfrm>
            <a:off x="392084" y="2162508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R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583FAB3F-6C91-0B62-25E0-C8D4021FFC87}"/>
              </a:ext>
            </a:extLst>
          </p:cNvPr>
          <p:cNvSpPr/>
          <p:nvPr/>
        </p:nvSpPr>
        <p:spPr>
          <a:xfrm>
            <a:off x="620683" y="2043635"/>
            <a:ext cx="4017603" cy="40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2026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attente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livraison au 5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Septembre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(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attente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stock)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185A19F5-4A56-4B41-3C03-7A00A2A0A09B}"/>
              </a:ext>
            </a:extLst>
          </p:cNvPr>
          <p:cNvSpPr/>
          <p:nvPr/>
        </p:nvSpPr>
        <p:spPr>
          <a:xfrm>
            <a:off x="6541681" y="3919252"/>
            <a:ext cx="4232832" cy="2452483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R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E8FD48F6-9516-E865-0AF3-3768D46EB234}"/>
              </a:ext>
            </a:extLst>
          </p:cNvPr>
          <p:cNvSpPr/>
          <p:nvPr/>
        </p:nvSpPr>
        <p:spPr>
          <a:xfrm>
            <a:off x="6841609" y="3979560"/>
            <a:ext cx="3436859" cy="40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Nouveaux clients (1ière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cde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82E7E1AC-9952-DBF9-A931-D2E6D0575257}"/>
              </a:ext>
            </a:extLst>
          </p:cNvPr>
          <p:cNvSpPr/>
          <p:nvPr/>
        </p:nvSpPr>
        <p:spPr>
          <a:xfrm>
            <a:off x="7122301" y="4496448"/>
            <a:ext cx="1825752" cy="3840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44 clients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CEF9CB9D-EB0D-B26B-0628-995C74B5B7E1}"/>
              </a:ext>
            </a:extLst>
          </p:cNvPr>
          <p:cNvSpPr/>
          <p:nvPr/>
        </p:nvSpPr>
        <p:spPr>
          <a:xfrm>
            <a:off x="7122301" y="5217125"/>
            <a:ext cx="1825752" cy="32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15,3 €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80A617D8-52FA-1800-6580-BBE418FFA6DB}"/>
              </a:ext>
            </a:extLst>
          </p:cNvPr>
          <p:cNvSpPr txBox="1"/>
          <p:nvPr/>
        </p:nvSpPr>
        <p:spPr>
          <a:xfrm>
            <a:off x="224724" y="5590087"/>
            <a:ext cx="441356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=&gt; Cdes / à 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livrer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filtre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sur date livraison =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Aout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) / 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filtre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Repr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repr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x6 </a:t>
            </a:r>
          </a:p>
        </p:txBody>
      </p:sp>
      <p:sp>
        <p:nvSpPr>
          <p:cNvPr id="38" name="Shape 25">
            <a:extLst>
              <a:ext uri="{FF2B5EF4-FFF2-40B4-BE49-F238E27FC236}">
                <a16:creationId xmlns:a16="http://schemas.microsoft.com/office/drawing/2014/main" id="{2936EA66-811E-E1D2-21D0-6AF4DC953C5A}"/>
              </a:ext>
            </a:extLst>
          </p:cNvPr>
          <p:cNvSpPr/>
          <p:nvPr/>
        </p:nvSpPr>
        <p:spPr>
          <a:xfrm>
            <a:off x="9139660" y="4525739"/>
            <a:ext cx="1207008" cy="60883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R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26">
            <a:extLst>
              <a:ext uri="{FF2B5EF4-FFF2-40B4-BE49-F238E27FC236}">
                <a16:creationId xmlns:a16="http://schemas.microsoft.com/office/drawing/2014/main" id="{02F71DF6-D7AE-3B49-7C44-40B2C459D98A}"/>
              </a:ext>
            </a:extLst>
          </p:cNvPr>
          <p:cNvSpPr/>
          <p:nvPr/>
        </p:nvSpPr>
        <p:spPr>
          <a:xfrm>
            <a:off x="9097535" y="4523497"/>
            <a:ext cx="1207008" cy="608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Mois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-1 : 39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▲ +12,8 %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25">
            <a:extLst>
              <a:ext uri="{FF2B5EF4-FFF2-40B4-BE49-F238E27FC236}">
                <a16:creationId xmlns:a16="http://schemas.microsoft.com/office/drawing/2014/main" id="{E75CADF6-193F-41AF-8B09-E7808105362E}"/>
              </a:ext>
            </a:extLst>
          </p:cNvPr>
          <p:cNvSpPr/>
          <p:nvPr/>
        </p:nvSpPr>
        <p:spPr>
          <a:xfrm>
            <a:off x="9191358" y="5215031"/>
            <a:ext cx="1207008" cy="60883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R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98CB23F2-51D0-C031-1222-85A077345FC6}"/>
              </a:ext>
            </a:extLst>
          </p:cNvPr>
          <p:cNvSpPr/>
          <p:nvPr/>
        </p:nvSpPr>
        <p:spPr>
          <a:xfrm>
            <a:off x="9131980" y="5247295"/>
            <a:ext cx="1207008" cy="608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Mois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-1 : 11 k€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▲ +41 %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8" name="Tableau 77">
            <a:extLst>
              <a:ext uri="{FF2B5EF4-FFF2-40B4-BE49-F238E27FC236}">
                <a16:creationId xmlns:a16="http://schemas.microsoft.com/office/drawing/2014/main" id="{C33FB0EA-CF01-A3F0-279C-3D92BC15DE90}"/>
              </a:ext>
            </a:extLst>
          </p:cNvPr>
          <p:cNvGraphicFramePr>
            <a:graphicFrameLocks noGrp="1"/>
          </p:cNvGraphicFramePr>
          <p:nvPr/>
        </p:nvGraphicFramePr>
        <p:xfrm>
          <a:off x="816710" y="3003039"/>
          <a:ext cx="3302737" cy="1546301"/>
        </p:xfrm>
        <a:graphic>
          <a:graphicData uri="http://schemas.openxmlformats.org/drawingml/2006/table">
            <a:tbl>
              <a:tblPr lastRow="1" bandRow="1">
                <a:tableStyleId>{69012ECD-51FC-41F1-AA8D-1B2483CD663E}</a:tableStyleId>
              </a:tblPr>
              <a:tblGrid>
                <a:gridCol w="1589405">
                  <a:extLst>
                    <a:ext uri="{9D8B030D-6E8A-4147-A177-3AD203B41FA5}">
                      <a16:colId xmlns:a16="http://schemas.microsoft.com/office/drawing/2014/main" val="4089784123"/>
                    </a:ext>
                  </a:extLst>
                </a:gridCol>
                <a:gridCol w="564452">
                  <a:extLst>
                    <a:ext uri="{9D8B030D-6E8A-4147-A177-3AD203B41FA5}">
                      <a16:colId xmlns:a16="http://schemas.microsoft.com/office/drawing/2014/main" val="1205648959"/>
                    </a:ext>
                  </a:extLst>
                </a:gridCol>
                <a:gridCol w="1148880">
                  <a:extLst>
                    <a:ext uri="{9D8B030D-6E8A-4147-A177-3AD203B41FA5}">
                      <a16:colId xmlns:a16="http://schemas.microsoft.com/office/drawing/2014/main" val="3773576862"/>
                    </a:ext>
                  </a:extLst>
                </a:gridCol>
              </a:tblGrid>
              <a:tr h="388061"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rgbClr val="0E7C86"/>
                          </a:solidFill>
                        </a:rPr>
                        <a:t>Commande initiale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E7C86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E7C86"/>
                          </a:solidFill>
                        </a:rPr>
                        <a:t>14,1 k€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462633"/>
                  </a:ext>
                </a:extLst>
              </a:tr>
              <a:tr h="388061"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rgbClr val="0E7C86"/>
                          </a:solidFill>
                        </a:rPr>
                        <a:t>Cde avec reliquats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E7C86"/>
                          </a:solidFill>
                        </a:rP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E7C86"/>
                          </a:solidFill>
                        </a:rPr>
                        <a:t>5,3 k€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904373"/>
                  </a:ext>
                </a:extLst>
              </a:tr>
              <a:tr h="388061"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rgbClr val="0E7C86"/>
                          </a:solidFill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E7C86"/>
                          </a:solidFill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E7C86"/>
                          </a:solidFill>
                        </a:rPr>
                        <a:t>19,4 k€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454688"/>
                  </a:ext>
                </a:extLst>
              </a:tr>
            </a:tbl>
          </a:graphicData>
        </a:graphic>
      </p:graphicFrame>
      <p:sp>
        <p:nvSpPr>
          <p:cNvPr id="48" name="ZoneTexte 47">
            <a:extLst>
              <a:ext uri="{FF2B5EF4-FFF2-40B4-BE49-F238E27FC236}">
                <a16:creationId xmlns:a16="http://schemas.microsoft.com/office/drawing/2014/main" id="{A0EFBF83-D2F5-56C0-7E53-5C2D714A3FA7}"/>
              </a:ext>
            </a:extLst>
          </p:cNvPr>
          <p:cNvSpPr txBox="1"/>
          <p:nvPr/>
        </p:nvSpPr>
        <p:spPr>
          <a:xfrm>
            <a:off x="224724" y="4922393"/>
            <a:ext cx="441356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highlight>
                  <a:srgbClr val="FFFF00"/>
                </a:highlight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!!! 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Les dates de livraisons </a:t>
            </a:r>
            <a:r>
              <a:rPr kumimoji="0" lang="en-US" sz="1100" b="0" i="1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doivent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100" b="0" i="1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être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au plus </a:t>
            </a:r>
            <a:r>
              <a:rPr kumimoji="0" lang="en-US" sz="1100" b="0" i="1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proches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kumimoji="0" lang="en-US" sz="1100" b="0" i="1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réalité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mises à jour </a:t>
            </a:r>
            <a:r>
              <a:rPr kumimoji="0" lang="en-US" sz="1100" b="0" i="1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régulièrement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100" b="0" i="1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necessaire. 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F4A8768B-0407-5177-3618-4CE14F2DE445}"/>
              </a:ext>
            </a:extLst>
          </p:cNvPr>
          <p:cNvSpPr txBox="1"/>
          <p:nvPr/>
        </p:nvSpPr>
        <p:spPr>
          <a:xfrm>
            <a:off x="6685330" y="5838163"/>
            <a:ext cx="408918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=&gt; Stats / KPI /  New Clients / 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filtres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2026 / 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filtre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nb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mois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0 / 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filtres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Repr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= commerce x6 + TCD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ACD070A-69E5-C87C-D339-147EA7B1AB9F}"/>
              </a:ext>
            </a:extLst>
          </p:cNvPr>
          <p:cNvSpPr txBox="1"/>
          <p:nvPr/>
        </p:nvSpPr>
        <p:spPr>
          <a:xfrm>
            <a:off x="3129258" y="2707823"/>
            <a:ext cx="8632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RE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livrer net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187DDF5-966A-A6FB-A0FE-27D9A05A5DFA}"/>
              </a:ext>
            </a:extLst>
          </p:cNvPr>
          <p:cNvSpPr txBox="1"/>
          <p:nvPr/>
        </p:nvSpPr>
        <p:spPr>
          <a:xfrm>
            <a:off x="2271009" y="2699803"/>
            <a:ext cx="8632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RE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Nb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B33D1F3-C609-ECBB-95E1-B4C3EF88BF9B}"/>
              </a:ext>
            </a:extLst>
          </p:cNvPr>
          <p:cNvSpPr txBox="1"/>
          <p:nvPr/>
        </p:nvSpPr>
        <p:spPr>
          <a:xfrm>
            <a:off x="819092" y="6270153"/>
            <a:ext cx="111064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RE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54 Vs en attente total 134 juillet pb d’appro en juillet ? </a:t>
            </a: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CE32DB70-3152-DD08-2949-80258BE7D70C}"/>
              </a:ext>
            </a:extLst>
          </p:cNvPr>
          <p:cNvSpPr/>
          <p:nvPr/>
        </p:nvSpPr>
        <p:spPr>
          <a:xfrm>
            <a:off x="6770281" y="1378574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R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DA1142B9-077C-7818-C210-06633BC95F99}"/>
              </a:ext>
            </a:extLst>
          </p:cNvPr>
          <p:cNvSpPr/>
          <p:nvPr/>
        </p:nvSpPr>
        <p:spPr>
          <a:xfrm>
            <a:off x="6998881" y="1277990"/>
            <a:ext cx="284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sous le </a:t>
            </a:r>
            <a:r>
              <a:rPr kumimoji="0" 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seuil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livraison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C79742AD-F828-B86D-93DD-D71A82F929FB}"/>
              </a:ext>
            </a:extLst>
          </p:cNvPr>
          <p:cNvSpPr/>
          <p:nvPr/>
        </p:nvSpPr>
        <p:spPr>
          <a:xfrm>
            <a:off x="6917610" y="1799517"/>
            <a:ext cx="1825752" cy="505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        310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AD79C6F2-F328-05A9-4CCE-C46843B3C2F5}"/>
              </a:ext>
            </a:extLst>
          </p:cNvPr>
          <p:cNvGrpSpPr/>
          <p:nvPr/>
        </p:nvGrpSpPr>
        <p:grpSpPr>
          <a:xfrm>
            <a:off x="8043942" y="1877062"/>
            <a:ext cx="1424023" cy="512064"/>
            <a:chOff x="8596033" y="2170362"/>
            <a:chExt cx="1207008" cy="512064"/>
          </a:xfrm>
        </p:grpSpPr>
        <p:sp>
          <p:nvSpPr>
            <p:cNvPr id="19" name="Shape 8">
              <a:extLst>
                <a:ext uri="{FF2B5EF4-FFF2-40B4-BE49-F238E27FC236}">
                  <a16:creationId xmlns:a16="http://schemas.microsoft.com/office/drawing/2014/main" id="{BA86C108-E629-8C6C-E1B0-FB1FE8503004}"/>
                </a:ext>
              </a:extLst>
            </p:cNvPr>
            <p:cNvSpPr/>
            <p:nvPr/>
          </p:nvSpPr>
          <p:spPr>
            <a:xfrm>
              <a:off x="8795121" y="2170362"/>
              <a:ext cx="778647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RE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Text 9">
              <a:extLst>
                <a:ext uri="{FF2B5EF4-FFF2-40B4-BE49-F238E27FC236}">
                  <a16:creationId xmlns:a16="http://schemas.microsoft.com/office/drawing/2014/main" id="{4FBB3DC7-AE05-CAA6-012E-AD60A991BE7D}"/>
                </a:ext>
              </a:extLst>
            </p:cNvPr>
            <p:cNvSpPr/>
            <p:nvPr/>
          </p:nvSpPr>
          <p:spPr>
            <a:xfrm>
              <a:off x="8596033" y="2170362"/>
              <a:ext cx="1207008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8A9BA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N-1 : 357 = 39% </a:t>
              </a:r>
              <a:b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8A9BA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392B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▼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2E7D32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392B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-8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2A808E51-D88A-EB4B-6493-61E155322C63}"/>
              </a:ext>
            </a:extLst>
          </p:cNvPr>
          <p:cNvSpPr/>
          <p:nvPr/>
        </p:nvSpPr>
        <p:spPr>
          <a:xfrm>
            <a:off x="6960616" y="3466152"/>
            <a:ext cx="3722637" cy="246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Livraison &gt; 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Archivées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&gt; 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filtre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Aout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&gt; 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filtre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Total HT &lt; 100 &amp; 150€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3B26BC5-C9AA-E7FA-B575-A0253611BDBB}"/>
              </a:ext>
            </a:extLst>
          </p:cNvPr>
          <p:cNvSpPr txBox="1"/>
          <p:nvPr/>
        </p:nvSpPr>
        <p:spPr>
          <a:xfrm>
            <a:off x="6558289" y="1763936"/>
            <a:ext cx="8632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RE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 100€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6387ABD8-42C7-44BC-9930-14A1EA3E1236}"/>
              </a:ext>
            </a:extLst>
          </p:cNvPr>
          <p:cNvSpPr txBox="1"/>
          <p:nvPr/>
        </p:nvSpPr>
        <p:spPr>
          <a:xfrm>
            <a:off x="6477547" y="2658470"/>
            <a:ext cx="8632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RE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 150€</a:t>
            </a:r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CE0C33F7-844D-BB5E-AF5B-C619FACEBDB4}"/>
              </a:ext>
            </a:extLst>
          </p:cNvPr>
          <p:cNvSpPr/>
          <p:nvPr/>
        </p:nvSpPr>
        <p:spPr>
          <a:xfrm>
            <a:off x="6949567" y="2556631"/>
            <a:ext cx="1825752" cy="505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        416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00BA991A-33F6-C145-BC25-FDE91A4B8430}"/>
              </a:ext>
            </a:extLst>
          </p:cNvPr>
          <p:cNvGrpSpPr/>
          <p:nvPr/>
        </p:nvGrpSpPr>
        <p:grpSpPr>
          <a:xfrm>
            <a:off x="7972389" y="2752897"/>
            <a:ext cx="1549619" cy="512064"/>
            <a:chOff x="8596033" y="2170362"/>
            <a:chExt cx="1207008" cy="512064"/>
          </a:xfrm>
        </p:grpSpPr>
        <p:sp>
          <p:nvSpPr>
            <p:cNvPr id="47" name="Shape 8">
              <a:extLst>
                <a:ext uri="{FF2B5EF4-FFF2-40B4-BE49-F238E27FC236}">
                  <a16:creationId xmlns:a16="http://schemas.microsoft.com/office/drawing/2014/main" id="{C65F3B57-1493-AB35-7BDB-5D7885C5A497}"/>
                </a:ext>
              </a:extLst>
            </p:cNvPr>
            <p:cNvSpPr/>
            <p:nvPr/>
          </p:nvSpPr>
          <p:spPr>
            <a:xfrm>
              <a:off x="8795121" y="2170362"/>
              <a:ext cx="778647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RE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Text 9">
              <a:extLst>
                <a:ext uri="{FF2B5EF4-FFF2-40B4-BE49-F238E27FC236}">
                  <a16:creationId xmlns:a16="http://schemas.microsoft.com/office/drawing/2014/main" id="{58E6112E-74F5-EDA9-7C6E-842856BC5DBF}"/>
                </a:ext>
              </a:extLst>
            </p:cNvPr>
            <p:cNvSpPr/>
            <p:nvPr/>
          </p:nvSpPr>
          <p:spPr>
            <a:xfrm>
              <a:off x="8596033" y="2170362"/>
              <a:ext cx="1207008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8A9BA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N-1 : 482 = 53%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392B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▼ -7,5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1" name="Groupe 50">
            <a:extLst>
              <a:ext uri="{FF2B5EF4-FFF2-40B4-BE49-F238E27FC236}">
                <a16:creationId xmlns:a16="http://schemas.microsoft.com/office/drawing/2014/main" id="{FEF5B37B-8D93-5168-3422-9785D0459C33}"/>
              </a:ext>
            </a:extLst>
          </p:cNvPr>
          <p:cNvGrpSpPr/>
          <p:nvPr/>
        </p:nvGrpSpPr>
        <p:grpSpPr>
          <a:xfrm>
            <a:off x="9096347" y="1891363"/>
            <a:ext cx="1621413" cy="512064"/>
            <a:chOff x="8596033" y="2170362"/>
            <a:chExt cx="1207008" cy="512064"/>
          </a:xfrm>
        </p:grpSpPr>
        <p:sp>
          <p:nvSpPr>
            <p:cNvPr id="52" name="Shape 8">
              <a:extLst>
                <a:ext uri="{FF2B5EF4-FFF2-40B4-BE49-F238E27FC236}">
                  <a16:creationId xmlns:a16="http://schemas.microsoft.com/office/drawing/2014/main" id="{7EA1FAB9-B096-09CE-4215-18368C9F79AE}"/>
                </a:ext>
              </a:extLst>
            </p:cNvPr>
            <p:cNvSpPr/>
            <p:nvPr/>
          </p:nvSpPr>
          <p:spPr>
            <a:xfrm>
              <a:off x="8795121" y="2170362"/>
              <a:ext cx="778647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RE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Text 9">
              <a:extLst>
                <a:ext uri="{FF2B5EF4-FFF2-40B4-BE49-F238E27FC236}">
                  <a16:creationId xmlns:a16="http://schemas.microsoft.com/office/drawing/2014/main" id="{C2F1B4E5-2D95-0627-6A4F-A51D37D3253C}"/>
                </a:ext>
              </a:extLst>
            </p:cNvPr>
            <p:cNvSpPr/>
            <p:nvPr/>
          </p:nvSpPr>
          <p:spPr>
            <a:xfrm>
              <a:off x="8596033" y="2170362"/>
              <a:ext cx="1207008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8A9BA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Mois-1 : 214 = 31%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2E7D32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▲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2A6F4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+16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A6F4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6" name="Groupe 55">
            <a:extLst>
              <a:ext uri="{FF2B5EF4-FFF2-40B4-BE49-F238E27FC236}">
                <a16:creationId xmlns:a16="http://schemas.microsoft.com/office/drawing/2014/main" id="{EFD93194-3505-1D11-758D-6F380AFDAD1E}"/>
              </a:ext>
            </a:extLst>
          </p:cNvPr>
          <p:cNvGrpSpPr/>
          <p:nvPr/>
        </p:nvGrpSpPr>
        <p:grpSpPr>
          <a:xfrm>
            <a:off x="9096674" y="2734635"/>
            <a:ext cx="1621201" cy="512064"/>
            <a:chOff x="8596033" y="2170362"/>
            <a:chExt cx="1207008" cy="512064"/>
          </a:xfrm>
        </p:grpSpPr>
        <p:sp>
          <p:nvSpPr>
            <p:cNvPr id="58" name="Shape 8">
              <a:extLst>
                <a:ext uri="{FF2B5EF4-FFF2-40B4-BE49-F238E27FC236}">
                  <a16:creationId xmlns:a16="http://schemas.microsoft.com/office/drawing/2014/main" id="{904245D1-8C36-969D-1A8C-CCF6C45B674B}"/>
                </a:ext>
              </a:extLst>
            </p:cNvPr>
            <p:cNvSpPr/>
            <p:nvPr/>
          </p:nvSpPr>
          <p:spPr>
            <a:xfrm>
              <a:off x="8795121" y="2170362"/>
              <a:ext cx="778647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RE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Text 9">
              <a:extLst>
                <a:ext uri="{FF2B5EF4-FFF2-40B4-BE49-F238E27FC236}">
                  <a16:creationId xmlns:a16="http://schemas.microsoft.com/office/drawing/2014/main" id="{043EC6D2-1FFF-28C3-CF70-FFD673093241}"/>
                </a:ext>
              </a:extLst>
            </p:cNvPr>
            <p:cNvSpPr/>
            <p:nvPr/>
          </p:nvSpPr>
          <p:spPr>
            <a:xfrm>
              <a:off x="8596033" y="2170362"/>
              <a:ext cx="1207008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8A9BA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Mois-1 : 307 = 44%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2E7D32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▲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2A6F4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+11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A6F4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1" name="ZoneTexte 60">
            <a:extLst>
              <a:ext uri="{FF2B5EF4-FFF2-40B4-BE49-F238E27FC236}">
                <a16:creationId xmlns:a16="http://schemas.microsoft.com/office/drawing/2014/main" id="{75517A8D-2636-52C6-1D7B-DC5B93E7DECC}"/>
              </a:ext>
            </a:extLst>
          </p:cNvPr>
          <p:cNvSpPr txBox="1"/>
          <p:nvPr/>
        </p:nvSpPr>
        <p:spPr>
          <a:xfrm>
            <a:off x="6998881" y="2209067"/>
            <a:ext cx="12360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RE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36% </a:t>
            </a:r>
            <a:r>
              <a:rPr kumimoji="0" lang="fr-RE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cdes</a:t>
            </a:r>
            <a:r>
              <a:rPr kumimoji="0" lang="fr-RE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clients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F5EF2FC5-A564-3EC7-038D-BA4BAB1483BB}"/>
              </a:ext>
            </a:extLst>
          </p:cNvPr>
          <p:cNvSpPr txBox="1"/>
          <p:nvPr/>
        </p:nvSpPr>
        <p:spPr>
          <a:xfrm>
            <a:off x="6998880" y="3015666"/>
            <a:ext cx="13066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RE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49% </a:t>
            </a:r>
            <a:r>
              <a:rPr kumimoji="0" lang="fr-RE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cdes</a:t>
            </a:r>
            <a:r>
              <a:rPr kumimoji="0" lang="fr-RE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clients</a:t>
            </a:r>
          </a:p>
        </p:txBody>
      </p:sp>
    </p:spTree>
    <p:extLst>
      <p:ext uri="{BB962C8B-B14F-4D97-AF65-F5344CB8AC3E}">
        <p14:creationId xmlns:p14="http://schemas.microsoft.com/office/powerpoint/2010/main" val="940779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3A1A2-06F3-8244-DB19-267B52B36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52B050-1F03-CBF6-DC53-3DFEFAF5B76C}"/>
              </a:ext>
            </a:extLst>
          </p:cNvPr>
          <p:cNvSpPr/>
          <p:nvPr/>
        </p:nvSpPr>
        <p:spPr>
          <a:xfrm>
            <a:off x="91440" y="251460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R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ED2D705-98C2-C725-16F3-30F762A99EB8}"/>
              </a:ext>
            </a:extLst>
          </p:cNvPr>
          <p:cNvSpPr/>
          <p:nvPr/>
        </p:nvSpPr>
        <p:spPr>
          <a:xfrm>
            <a:off x="91440" y="2514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B49B45B-5517-36AB-F01A-19BFB5270082}"/>
              </a:ext>
            </a:extLst>
          </p:cNvPr>
          <p:cNvSpPr/>
          <p:nvPr/>
        </p:nvSpPr>
        <p:spPr>
          <a:xfrm>
            <a:off x="914400" y="214884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Top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venteproduit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3163EBE-5BF4-F276-8E75-22922B2EC785}"/>
              </a:ext>
            </a:extLst>
          </p:cNvPr>
          <p:cNvSpPr/>
          <p:nvPr/>
        </p:nvSpPr>
        <p:spPr>
          <a:xfrm>
            <a:off x="932688" y="70866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—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Aout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A9B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E6C03F1C-32E0-1352-548C-361E2D3F7A3C}"/>
              </a:ext>
            </a:extLst>
          </p:cNvPr>
          <p:cNvSpPr/>
          <p:nvPr/>
        </p:nvSpPr>
        <p:spPr>
          <a:xfrm>
            <a:off x="6429744" y="1267325"/>
            <a:ext cx="5474709" cy="5368305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R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B578A1C6-0738-1138-4E2C-9447D1560EEB}"/>
              </a:ext>
            </a:extLst>
          </p:cNvPr>
          <p:cNvSpPr/>
          <p:nvPr/>
        </p:nvSpPr>
        <p:spPr>
          <a:xfrm>
            <a:off x="6704016" y="893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280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Valeur (€)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6" name="Tableau 25">
            <a:extLst>
              <a:ext uri="{FF2B5EF4-FFF2-40B4-BE49-F238E27FC236}">
                <a16:creationId xmlns:a16="http://schemas.microsoft.com/office/drawing/2014/main" id="{F9B10946-E0E2-14A6-A52C-84BA6CAB3FB2}"/>
              </a:ext>
            </a:extLst>
          </p:cNvPr>
          <p:cNvGraphicFramePr>
            <a:graphicFrameLocks noGrp="1"/>
          </p:cNvGraphicFramePr>
          <p:nvPr/>
        </p:nvGraphicFramePr>
        <p:xfrm>
          <a:off x="6588183" y="1273304"/>
          <a:ext cx="5186874" cy="5437521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775699">
                  <a:extLst>
                    <a:ext uri="{9D8B030D-6E8A-4147-A177-3AD203B41FA5}">
                      <a16:colId xmlns:a16="http://schemas.microsoft.com/office/drawing/2014/main" val="765723350"/>
                    </a:ext>
                  </a:extLst>
                </a:gridCol>
                <a:gridCol w="2944684">
                  <a:extLst>
                    <a:ext uri="{9D8B030D-6E8A-4147-A177-3AD203B41FA5}">
                      <a16:colId xmlns:a16="http://schemas.microsoft.com/office/drawing/2014/main" val="2263726808"/>
                    </a:ext>
                  </a:extLst>
                </a:gridCol>
                <a:gridCol w="646981">
                  <a:extLst>
                    <a:ext uri="{9D8B030D-6E8A-4147-A177-3AD203B41FA5}">
                      <a16:colId xmlns:a16="http://schemas.microsoft.com/office/drawing/2014/main" val="4228344080"/>
                    </a:ext>
                  </a:extLst>
                </a:gridCol>
                <a:gridCol w="819510">
                  <a:extLst>
                    <a:ext uri="{9D8B030D-6E8A-4147-A177-3AD203B41FA5}">
                      <a16:colId xmlns:a16="http://schemas.microsoft.com/office/drawing/2014/main" val="3506991763"/>
                    </a:ext>
                  </a:extLst>
                </a:gridCol>
              </a:tblGrid>
              <a:tr h="520990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Réf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Désignation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Valeur (k€)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Part du CA </a:t>
                      </a:r>
                      <a:r>
                        <a:rPr lang="fr-FR" sz="1400" dirty="0" err="1">
                          <a:solidFill>
                            <a:schemeClr val="tx2"/>
                          </a:solidFill>
                        </a:rPr>
                        <a:t>fact</a:t>
                      </a:r>
                      <a:endParaRPr lang="fr-FR" sz="14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071080"/>
                  </a:ext>
                </a:extLst>
              </a:tr>
              <a:tr h="3048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18947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PAP BOBINE 450 FTS DC 2P GAUFRE BLANCHE ECOLABEL ONE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27,1 k€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9,6%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01792421"/>
                  </a:ext>
                </a:extLst>
              </a:tr>
              <a:tr h="5633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18159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PAP PAPIER TOILETTE MAXI JUMBO 2P MICROGAUFRE BLANCHE ECO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15,1 k€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5,4%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08228143"/>
                  </a:ext>
                </a:extLst>
              </a:tr>
              <a:tr h="5037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18161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PAP BOBINE INDUSTRIELLE 1000 FTS 2P GAUFRE BLANCHE ECOLABEL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12,4 k€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4,4%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01440257"/>
                  </a:ext>
                </a:extLst>
              </a:tr>
              <a:tr h="4878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771596A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PAP PAPIER TOILETTE MINI JUMBO 2P MICROGAUFRE BLANCHE ECO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12,3 k€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4,4%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91346536"/>
                  </a:ext>
                </a:extLst>
              </a:tr>
              <a:tr h="4878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18715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PAP PAPIER TOILETTE 500FTS COMPACT 2P ECOLABEL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7,0 k€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2,5%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60521332"/>
                  </a:ext>
                </a:extLst>
              </a:tr>
              <a:tr h="4878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18726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PAP ESSUIE MAIN ENCHEVETRE EN V 2P GAUFRE ECOLABEL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5,9 k€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2,1%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38966169"/>
                  </a:ext>
                </a:extLst>
              </a:tr>
              <a:tr h="4878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18958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PDT DEGRAISSANT ALIMENTAIRE SURPUISSANT HYGI'NET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4,6 k€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1,6%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66915892"/>
                  </a:ext>
                </a:extLst>
              </a:tr>
              <a:tr h="4878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18725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PAP DRAPS D'EXAMEN 100% OUATE 2P GAUFRE BLANC ECOLABEL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4,5 k€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1,6%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63592538"/>
                  </a:ext>
                </a:extLst>
              </a:tr>
              <a:tr h="4878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771150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PDT DESINFECTANT ALIMENTAIRE BACTALIM+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3,7 k€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1,3%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87332148"/>
                  </a:ext>
                </a:extLst>
              </a:tr>
              <a:tr h="4878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14557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SAC POUBELLE 200L BD 55µ NOIR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3,4 k€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1,2%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6939488"/>
                  </a:ext>
                </a:extLst>
              </a:tr>
            </a:tbl>
          </a:graphicData>
        </a:graphic>
      </p:graphicFrame>
      <p:sp>
        <p:nvSpPr>
          <p:cNvPr id="8" name="Shape 16">
            <a:extLst>
              <a:ext uri="{FF2B5EF4-FFF2-40B4-BE49-F238E27FC236}">
                <a16:creationId xmlns:a16="http://schemas.microsoft.com/office/drawing/2014/main" id="{4947FC61-64B4-BCCD-6E6D-C51F05C87CD7}"/>
              </a:ext>
            </a:extLst>
          </p:cNvPr>
          <p:cNvSpPr/>
          <p:nvPr/>
        </p:nvSpPr>
        <p:spPr>
          <a:xfrm>
            <a:off x="353684" y="1361439"/>
            <a:ext cx="5887528" cy="5368305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R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88FEA249-F360-6DAE-7155-347E5CBF86F1}"/>
              </a:ext>
            </a:extLst>
          </p:cNvPr>
          <p:cNvGraphicFramePr>
            <a:graphicFrameLocks noGrp="1"/>
          </p:cNvGraphicFramePr>
          <p:nvPr/>
        </p:nvGraphicFramePr>
        <p:xfrm>
          <a:off x="508958" y="1483974"/>
          <a:ext cx="5587042" cy="5335744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931075">
                  <a:extLst>
                    <a:ext uri="{9D8B030D-6E8A-4147-A177-3AD203B41FA5}">
                      <a16:colId xmlns:a16="http://schemas.microsoft.com/office/drawing/2014/main" val="765723350"/>
                    </a:ext>
                  </a:extLst>
                </a:gridCol>
                <a:gridCol w="2635433">
                  <a:extLst>
                    <a:ext uri="{9D8B030D-6E8A-4147-A177-3AD203B41FA5}">
                      <a16:colId xmlns:a16="http://schemas.microsoft.com/office/drawing/2014/main" val="2263726808"/>
                    </a:ext>
                  </a:extLst>
                </a:gridCol>
                <a:gridCol w="898637">
                  <a:extLst>
                    <a:ext uri="{9D8B030D-6E8A-4147-A177-3AD203B41FA5}">
                      <a16:colId xmlns:a16="http://schemas.microsoft.com/office/drawing/2014/main" val="4228344080"/>
                    </a:ext>
                  </a:extLst>
                </a:gridCol>
                <a:gridCol w="1121897">
                  <a:extLst>
                    <a:ext uri="{9D8B030D-6E8A-4147-A177-3AD203B41FA5}">
                      <a16:colId xmlns:a16="http://schemas.microsoft.com/office/drawing/2014/main" val="3023126954"/>
                    </a:ext>
                  </a:extLst>
                </a:gridCol>
              </a:tblGrid>
              <a:tr h="493613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Réf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Désignation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Quantité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Part du CA </a:t>
                      </a:r>
                      <a:r>
                        <a:rPr lang="fr-FR" sz="1400" dirty="0" err="1">
                          <a:solidFill>
                            <a:schemeClr val="tx2"/>
                          </a:solidFill>
                        </a:rPr>
                        <a:t>fact</a:t>
                      </a:r>
                      <a:endParaRPr lang="fr-FR" sz="14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071080"/>
                  </a:ext>
                </a:extLst>
              </a:tr>
              <a:tr h="2857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18947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PAP BOBINE 450 FTS DC 2P GAUFRE BLANCHE ECOLABEL ONE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2350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9,6%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01792421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771517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KEO GEL WC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1672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0,7%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04439203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771523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KEO CREME A RECURER CITRON VERT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1299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0,6%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08228143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771583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PDT ECO VITRES KEO 750ML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1011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0,7%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54233667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18161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PAP BOBINE INDUSTRIELLE 1000 FTS 2P GAUFRE BLANCHE ECOLABEL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947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4,4%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8770495"/>
                  </a:ext>
                </a:extLst>
              </a:tr>
              <a:tr h="2857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18159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PAP PAPIER TOILETTE MAXI JUMBO 2P MICROGAUFRE BLANCHE ECO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934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5,4%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73873574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771596A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PAP PAPIER TOILETTE MINI JUMBO 2P MICROGAUFRE BLANCHE ECO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659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4,4%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95550619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771513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PDT PLONGE MANUELLE KEO DETERGENT VAISSELLE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619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1,0%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04538594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'000431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PDT JAVEL 2.6%  1L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613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0,2%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91346536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16504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PROT CHARLOTTE CLIP BLANCHE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519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0,4%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58096016"/>
                  </a:ext>
                </a:extLst>
              </a:tr>
            </a:tbl>
          </a:graphicData>
        </a:graphic>
      </p:graphicFrame>
      <p:sp>
        <p:nvSpPr>
          <p:cNvPr id="12" name="Text 12">
            <a:extLst>
              <a:ext uri="{FF2B5EF4-FFF2-40B4-BE49-F238E27FC236}">
                <a16:creationId xmlns:a16="http://schemas.microsoft.com/office/drawing/2014/main" id="{48035631-FE55-9FDC-48E1-99143E761FC7}"/>
              </a:ext>
            </a:extLst>
          </p:cNvPr>
          <p:cNvSpPr/>
          <p:nvPr/>
        </p:nvSpPr>
        <p:spPr>
          <a:xfrm>
            <a:off x="1111589" y="10311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A89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Volume (u)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957F36E-61A7-4D91-FFA2-B060A9B21FF5}"/>
              </a:ext>
            </a:extLst>
          </p:cNvPr>
          <p:cNvSpPr txBox="1"/>
          <p:nvPr/>
        </p:nvSpPr>
        <p:spPr>
          <a:xfrm>
            <a:off x="5273296" y="252680"/>
            <a:ext cx="6631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RE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Belle remontée Keo Gel WC liée à la rentrée 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RE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Sac poubelle 160 L ? </a:t>
            </a:r>
            <a:r>
              <a:rPr kumimoji="0" lang="fr-RE" sz="1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Ruptutre</a:t>
            </a:r>
            <a:r>
              <a:rPr kumimoji="0" lang="fr-RE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553879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19">
            <a:extLst>
              <a:ext uri="{FF2B5EF4-FFF2-40B4-BE49-F238E27FC236}">
                <a16:creationId xmlns:a16="http://schemas.microsoft.com/office/drawing/2014/main" id="{B97E254F-B13C-4D65-5BBD-75BAC1BA88AB}"/>
              </a:ext>
            </a:extLst>
          </p:cNvPr>
          <p:cNvSpPr/>
          <p:nvPr/>
        </p:nvSpPr>
        <p:spPr>
          <a:xfrm>
            <a:off x="8183880" y="4262706"/>
            <a:ext cx="3276600" cy="1927782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50" name="Shape 19">
            <a:extLst>
              <a:ext uri="{FF2B5EF4-FFF2-40B4-BE49-F238E27FC236}">
                <a16:creationId xmlns:a16="http://schemas.microsoft.com/office/drawing/2014/main" id="{4419EFA8-C609-0AB2-90F9-6B1597677902}"/>
              </a:ext>
            </a:extLst>
          </p:cNvPr>
          <p:cNvSpPr/>
          <p:nvPr/>
        </p:nvSpPr>
        <p:spPr>
          <a:xfrm>
            <a:off x="502920" y="4262706"/>
            <a:ext cx="3276600" cy="1927782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25880" y="420624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Préparation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44168" y="9144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— </a:t>
            </a:r>
            <a:r>
              <a:rPr lang="en-US" sz="1300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Aout</a:t>
            </a:r>
            <a:r>
              <a:rPr lang="en-US" sz="13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9532" y="1543254"/>
            <a:ext cx="5119428" cy="2433738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7" name="Shape 5"/>
          <p:cNvSpPr/>
          <p:nvPr/>
        </p:nvSpPr>
        <p:spPr>
          <a:xfrm>
            <a:off x="758132" y="180843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8" name="Text 6"/>
          <p:cNvSpPr/>
          <p:nvPr/>
        </p:nvSpPr>
        <p:spPr>
          <a:xfrm>
            <a:off x="986732" y="1745438"/>
            <a:ext cx="3081528" cy="280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préparées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par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</a:t>
            </a:r>
            <a:endParaRPr lang="fr-FR" sz="1400" dirty="0"/>
          </a:p>
        </p:txBody>
      </p:sp>
      <p:sp>
        <p:nvSpPr>
          <p:cNvPr id="9" name="Text 7"/>
          <p:cNvSpPr/>
          <p:nvPr/>
        </p:nvSpPr>
        <p:spPr>
          <a:xfrm>
            <a:off x="758132" y="2146758"/>
            <a:ext cx="3456432" cy="69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943 cdes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298192" y="2197557"/>
            <a:ext cx="1481328" cy="602361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11" name="Text 9"/>
          <p:cNvSpPr/>
          <p:nvPr/>
        </p:nvSpPr>
        <p:spPr>
          <a:xfrm>
            <a:off x="2298192" y="2197557"/>
            <a:ext cx="1481328" cy="602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995 cdes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sz="1600" b="1" dirty="0">
                <a:solidFill>
                  <a:srgbClr val="C0392B"/>
                </a:solidFill>
              </a:rPr>
              <a:t>▼ −5,2 %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58132" y="2949144"/>
            <a:ext cx="3456432" cy="69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288 k€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298192" y="2999943"/>
            <a:ext cx="1481328" cy="602361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14" name="Text 12"/>
          <p:cNvSpPr/>
          <p:nvPr/>
        </p:nvSpPr>
        <p:spPr>
          <a:xfrm>
            <a:off x="2298192" y="2999943"/>
            <a:ext cx="1481328" cy="602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492 k€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C0392B"/>
                </a:solidFill>
              </a:rPr>
              <a:t>▼ −41 %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738868" y="4953096"/>
            <a:ext cx="1481328" cy="602361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20" name="Text 18"/>
          <p:cNvSpPr/>
          <p:nvPr/>
        </p:nvSpPr>
        <p:spPr>
          <a:xfrm>
            <a:off x="9738868" y="4953096"/>
            <a:ext cx="1481328" cy="602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60 cdes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sz="1600" b="1" dirty="0">
                <a:solidFill>
                  <a:srgbClr val="2E7D32"/>
                </a:solidFill>
              </a:rPr>
              <a:t>▲ +5 %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80916" y="4262706"/>
            <a:ext cx="3276600" cy="1927782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22" name="Shape 20"/>
          <p:cNvSpPr/>
          <p:nvPr/>
        </p:nvSpPr>
        <p:spPr>
          <a:xfrm>
            <a:off x="4509516" y="449732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23" name="Text 21"/>
          <p:cNvSpPr/>
          <p:nvPr/>
        </p:nvSpPr>
        <p:spPr>
          <a:xfrm>
            <a:off x="4738116" y="4396740"/>
            <a:ext cx="2534920" cy="357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Réassort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09516" y="4970730"/>
            <a:ext cx="1248156" cy="557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</a:t>
            </a:r>
            <a:r>
              <a:rPr lang="en-US" sz="2400" b="1" dirty="0" err="1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cdes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5903976" y="4953078"/>
            <a:ext cx="1481328" cy="602361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26" name="Text 24"/>
          <p:cNvSpPr/>
          <p:nvPr/>
        </p:nvSpPr>
        <p:spPr>
          <a:xfrm>
            <a:off x="5903976" y="4953078"/>
            <a:ext cx="1481328" cy="602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31 cdes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sz="1600" b="1" dirty="0">
                <a:solidFill>
                  <a:srgbClr val="C0392B"/>
                </a:solidFill>
              </a:rPr>
              <a:t>▼ −19 %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08276" y="4970730"/>
            <a:ext cx="1481328" cy="602361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32" name="Text 30"/>
          <p:cNvSpPr/>
          <p:nvPr/>
        </p:nvSpPr>
        <p:spPr>
          <a:xfrm>
            <a:off x="2208276" y="4970730"/>
            <a:ext cx="1481328" cy="602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904 cdes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sz="1600" b="1" dirty="0">
                <a:solidFill>
                  <a:srgbClr val="C0392B"/>
                </a:solidFill>
              </a:rPr>
              <a:t>▼ −3,5 %</a:t>
            </a:r>
            <a:endParaRPr lang="en-US" sz="1050" dirty="0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EAEB7512-7F39-FE4C-441B-13DA8681EF0C}"/>
              </a:ext>
            </a:extLst>
          </p:cNvPr>
          <p:cNvSpPr txBox="1"/>
          <p:nvPr/>
        </p:nvSpPr>
        <p:spPr>
          <a:xfrm>
            <a:off x="8347456" y="5841172"/>
            <a:ext cx="2990088" cy="226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50" i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fr-FR" dirty="0"/>
              <a:t>Livraisons / Archivées / </a:t>
            </a:r>
            <a:r>
              <a:rPr lang="fr-FR" b="1" dirty="0"/>
              <a:t>filtre</a:t>
            </a:r>
            <a:r>
              <a:rPr lang="fr-FR" dirty="0"/>
              <a:t> </a:t>
            </a:r>
            <a:r>
              <a:rPr lang="fr-FR" b="1" dirty="0"/>
              <a:t>dates de livraisons </a:t>
            </a:r>
            <a:r>
              <a:rPr lang="fr-FR" dirty="0"/>
              <a:t>/ filtre client dépôt « Nom Tech »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37280083-8CDE-15D3-2E11-0FD905465450}"/>
              </a:ext>
            </a:extLst>
          </p:cNvPr>
          <p:cNvSpPr txBox="1"/>
          <p:nvPr/>
        </p:nvSpPr>
        <p:spPr>
          <a:xfrm>
            <a:off x="4357116" y="5838395"/>
            <a:ext cx="3108960" cy="25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50" i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fr-FR" dirty="0"/>
              <a:t>Livraisons / Archivées / </a:t>
            </a:r>
            <a:r>
              <a:rPr lang="fr-FR" b="1" dirty="0"/>
              <a:t>filtre</a:t>
            </a:r>
            <a:r>
              <a:rPr lang="fr-FR" dirty="0"/>
              <a:t> </a:t>
            </a:r>
            <a:r>
              <a:rPr lang="fr-FR" b="1" dirty="0"/>
              <a:t>dates de livraisons </a:t>
            </a:r>
            <a:r>
              <a:rPr lang="fr-FR" dirty="0"/>
              <a:t>/ filtre client = dépôt showroom 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7B429995-384D-1AA0-AEBA-23F79F021DB5}"/>
              </a:ext>
            </a:extLst>
          </p:cNvPr>
          <p:cNvSpPr txBox="1"/>
          <p:nvPr/>
        </p:nvSpPr>
        <p:spPr>
          <a:xfrm>
            <a:off x="578358" y="5813769"/>
            <a:ext cx="2960878" cy="266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50" i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fr-FR" dirty="0"/>
              <a:t>Livraisons / Archivées / </a:t>
            </a:r>
            <a:r>
              <a:rPr lang="fr-FR" b="1" dirty="0"/>
              <a:t>filtre</a:t>
            </a:r>
            <a:r>
              <a:rPr lang="fr-FR" dirty="0"/>
              <a:t> </a:t>
            </a:r>
            <a:r>
              <a:rPr lang="fr-FR" b="1" dirty="0"/>
              <a:t>dates de livraisons </a:t>
            </a:r>
            <a:r>
              <a:rPr lang="fr-FR" dirty="0"/>
              <a:t>/  filtre tournée exclus 0 et 524</a:t>
            </a:r>
          </a:p>
        </p:txBody>
      </p:sp>
      <p:sp>
        <p:nvSpPr>
          <p:cNvPr id="52" name="Shape 20">
            <a:extLst>
              <a:ext uri="{FF2B5EF4-FFF2-40B4-BE49-F238E27FC236}">
                <a16:creationId xmlns:a16="http://schemas.microsoft.com/office/drawing/2014/main" id="{4D43C231-7531-39E0-6704-95FAD28113B4}"/>
              </a:ext>
            </a:extLst>
          </p:cNvPr>
          <p:cNvSpPr/>
          <p:nvPr/>
        </p:nvSpPr>
        <p:spPr>
          <a:xfrm>
            <a:off x="731520" y="449732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9825B368-5FB2-A8E8-22AB-29A813DA6606}"/>
              </a:ext>
            </a:extLst>
          </p:cNvPr>
          <p:cNvSpPr/>
          <p:nvPr/>
        </p:nvSpPr>
        <p:spPr>
          <a:xfrm>
            <a:off x="731520" y="4970730"/>
            <a:ext cx="1248156" cy="557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855 cdes</a:t>
            </a:r>
            <a:endParaRPr lang="en-US" sz="2400" dirty="0"/>
          </a:p>
        </p:txBody>
      </p:sp>
      <p:sp>
        <p:nvSpPr>
          <p:cNvPr id="62" name="Text 21">
            <a:extLst>
              <a:ext uri="{FF2B5EF4-FFF2-40B4-BE49-F238E27FC236}">
                <a16:creationId xmlns:a16="http://schemas.microsoft.com/office/drawing/2014/main" id="{384BD27D-E814-9D20-D6BF-2FCEC25AE2CD}"/>
              </a:ext>
            </a:extLst>
          </p:cNvPr>
          <p:cNvSpPr/>
          <p:nvPr/>
        </p:nvSpPr>
        <p:spPr>
          <a:xfrm>
            <a:off x="1004316" y="4372088"/>
            <a:ext cx="2534920" cy="357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cdes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clients</a:t>
            </a:r>
            <a:endParaRPr lang="en-US" sz="1300" dirty="0"/>
          </a:p>
        </p:txBody>
      </p:sp>
      <p:sp>
        <p:nvSpPr>
          <p:cNvPr id="72" name="Shape 20">
            <a:extLst>
              <a:ext uri="{FF2B5EF4-FFF2-40B4-BE49-F238E27FC236}">
                <a16:creationId xmlns:a16="http://schemas.microsoft.com/office/drawing/2014/main" id="{D3983B45-850A-56A2-B9EA-EF3F2D031131}"/>
              </a:ext>
            </a:extLst>
          </p:cNvPr>
          <p:cNvSpPr/>
          <p:nvPr/>
        </p:nvSpPr>
        <p:spPr>
          <a:xfrm>
            <a:off x="8412480" y="449732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74" name="Text 22">
            <a:extLst>
              <a:ext uri="{FF2B5EF4-FFF2-40B4-BE49-F238E27FC236}">
                <a16:creationId xmlns:a16="http://schemas.microsoft.com/office/drawing/2014/main" id="{BF923203-7A5B-BFAD-F3F4-C96AD3F20766}"/>
              </a:ext>
            </a:extLst>
          </p:cNvPr>
          <p:cNvSpPr/>
          <p:nvPr/>
        </p:nvSpPr>
        <p:spPr>
          <a:xfrm>
            <a:off x="8412480" y="4970730"/>
            <a:ext cx="1248156" cy="557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 cdes</a:t>
            </a:r>
            <a:endParaRPr lang="en-US" sz="2400" dirty="0"/>
          </a:p>
        </p:txBody>
      </p:sp>
      <p:sp>
        <p:nvSpPr>
          <p:cNvPr id="76" name="Text 21">
            <a:extLst>
              <a:ext uri="{FF2B5EF4-FFF2-40B4-BE49-F238E27FC236}">
                <a16:creationId xmlns:a16="http://schemas.microsoft.com/office/drawing/2014/main" id="{00A14660-2C53-ED17-9175-4F3DB93C68CA}"/>
              </a:ext>
            </a:extLst>
          </p:cNvPr>
          <p:cNvSpPr/>
          <p:nvPr/>
        </p:nvSpPr>
        <p:spPr>
          <a:xfrm>
            <a:off x="8685276" y="4372088"/>
            <a:ext cx="2534920" cy="357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SAV = virement de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4785BDAE-DCAF-312B-9507-FEE354167FA9}"/>
              </a:ext>
            </a:extLst>
          </p:cNvPr>
          <p:cNvSpPr txBox="1"/>
          <p:nvPr/>
        </p:nvSpPr>
        <p:spPr>
          <a:xfrm>
            <a:off x="7673340" y="252014"/>
            <a:ext cx="43383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RE" sz="1200" i="1" dirty="0">
                <a:solidFill>
                  <a:srgbClr val="7030A0"/>
                </a:solidFill>
                <a:highlight>
                  <a:srgbClr val="FFFF00"/>
                </a:highlight>
              </a:rPr>
              <a:t>!!!</a:t>
            </a:r>
            <a:r>
              <a:rPr lang="fr-RE" sz="1200" i="1" dirty="0">
                <a:solidFill>
                  <a:srgbClr val="7030A0"/>
                </a:solidFill>
              </a:rPr>
              <a:t> Les dates de préparation ne figurent pas dans Neo. </a:t>
            </a:r>
          </a:p>
          <a:p>
            <a:endParaRPr lang="fr-RE" sz="1200" i="1" dirty="0"/>
          </a:p>
          <a:p>
            <a:r>
              <a:rPr lang="fr-RE" sz="1200" i="1" dirty="0"/>
              <a:t>On utilisera donc les dates de livraison pour estimer les volumes de préparation</a:t>
            </a: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1329CA37-8A59-8BDB-A4E4-0D503C6CA51A}"/>
              </a:ext>
            </a:extLst>
          </p:cNvPr>
          <p:cNvSpPr txBox="1"/>
          <p:nvPr/>
        </p:nvSpPr>
        <p:spPr>
          <a:xfrm>
            <a:off x="660781" y="3559060"/>
            <a:ext cx="2960878" cy="266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50" i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fr-FR" dirty="0"/>
              <a:t>Somme des données ci dessous</a:t>
            </a:r>
          </a:p>
        </p:txBody>
      </p:sp>
      <p:sp>
        <p:nvSpPr>
          <p:cNvPr id="16" name="Shape 19">
            <a:extLst>
              <a:ext uri="{FF2B5EF4-FFF2-40B4-BE49-F238E27FC236}">
                <a16:creationId xmlns:a16="http://schemas.microsoft.com/office/drawing/2014/main" id="{0DDC70DD-8F76-A616-E94C-99B225DB60AC}"/>
              </a:ext>
            </a:extLst>
          </p:cNvPr>
          <p:cNvSpPr/>
          <p:nvPr/>
        </p:nvSpPr>
        <p:spPr>
          <a:xfrm>
            <a:off x="8183880" y="2066406"/>
            <a:ext cx="3276600" cy="1927782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BBF50CCB-6EDB-545D-82B1-E3FB62227BA0}"/>
              </a:ext>
            </a:extLst>
          </p:cNvPr>
          <p:cNvSpPr/>
          <p:nvPr/>
        </p:nvSpPr>
        <p:spPr>
          <a:xfrm>
            <a:off x="10157772" y="2447328"/>
            <a:ext cx="1179772" cy="470947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568202DE-80CE-6C65-D81A-334D0355C4EB}"/>
              </a:ext>
            </a:extLst>
          </p:cNvPr>
          <p:cNvSpPr/>
          <p:nvPr/>
        </p:nvSpPr>
        <p:spPr>
          <a:xfrm>
            <a:off x="10157772" y="2533277"/>
            <a:ext cx="1179772" cy="384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5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sz="1600" b="1" dirty="0">
                <a:solidFill>
                  <a:srgbClr val="2E7D32"/>
                </a:solidFill>
              </a:rPr>
              <a:t>▲</a:t>
            </a:r>
            <a:r>
              <a:rPr lang="en-US" sz="1600" b="1" dirty="0">
                <a:solidFill>
                  <a:srgbClr val="C0392B"/>
                </a:solidFill>
              </a:rPr>
              <a:t> </a:t>
            </a:r>
            <a:r>
              <a:rPr lang="en-US" sz="1600" b="1" dirty="0">
                <a:solidFill>
                  <a:srgbClr val="2E7D32"/>
                </a:solidFill>
              </a:rPr>
              <a:t>+40 %</a:t>
            </a:r>
            <a:endParaRPr lang="en-US" sz="1050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078438A9-6D9D-A463-21D8-C101B92F43C1}"/>
              </a:ext>
            </a:extLst>
          </p:cNvPr>
          <p:cNvSpPr txBox="1"/>
          <p:nvPr/>
        </p:nvSpPr>
        <p:spPr>
          <a:xfrm>
            <a:off x="8329480" y="3644871"/>
            <a:ext cx="3131000" cy="377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50" i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fr-FR" dirty="0"/>
              <a:t>Achats / réceptions / </a:t>
            </a:r>
            <a:r>
              <a:rPr lang="fr-FR" dirty="0" err="1"/>
              <a:t>Contenaires</a:t>
            </a:r>
            <a:r>
              <a:rPr lang="fr-FR" dirty="0"/>
              <a:t> sauf vide/ filtre date Réception /  FFR non coché / fournisseur pas autoliquidation / total </a:t>
            </a:r>
            <a:r>
              <a:rPr lang="fr-FR" dirty="0" err="1"/>
              <a:t>contrenaire</a:t>
            </a:r>
            <a:r>
              <a:rPr lang="fr-FR" dirty="0"/>
              <a:t> </a:t>
            </a:r>
            <a:r>
              <a:rPr lang="fr-FR" dirty="0" err="1"/>
              <a:t>disctinct</a:t>
            </a:r>
            <a:r>
              <a:rPr lang="fr-FR" dirty="0"/>
              <a:t> </a:t>
            </a:r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FCB307B6-3618-3223-D4CE-597364ACBC7B}"/>
              </a:ext>
            </a:extLst>
          </p:cNvPr>
          <p:cNvSpPr/>
          <p:nvPr/>
        </p:nvSpPr>
        <p:spPr>
          <a:xfrm>
            <a:off x="8404664" y="230102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F619207A-4866-4379-7DC1-590D4CC3545A}"/>
              </a:ext>
            </a:extLst>
          </p:cNvPr>
          <p:cNvSpPr/>
          <p:nvPr/>
        </p:nvSpPr>
        <p:spPr>
          <a:xfrm>
            <a:off x="8379772" y="2582016"/>
            <a:ext cx="1778000" cy="35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</a:t>
            </a:r>
            <a:r>
              <a:rPr lang="en-US" sz="2400" b="1" dirty="0" err="1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ctainer</a:t>
            </a:r>
            <a:endParaRPr lang="en-US" sz="2400" dirty="0"/>
          </a:p>
        </p:txBody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C90B57C4-66FF-9A34-680A-E10FC1C3FF0F}"/>
              </a:ext>
            </a:extLst>
          </p:cNvPr>
          <p:cNvSpPr/>
          <p:nvPr/>
        </p:nvSpPr>
        <p:spPr>
          <a:xfrm>
            <a:off x="8667300" y="2175788"/>
            <a:ext cx="2534920" cy="357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dépotage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container </a:t>
            </a:r>
            <a:endParaRPr lang="en-US" sz="130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EC3638C0-76B0-2EF2-6C5B-04A57B78CC7C}"/>
              </a:ext>
            </a:extLst>
          </p:cNvPr>
          <p:cNvSpPr/>
          <p:nvPr/>
        </p:nvSpPr>
        <p:spPr>
          <a:xfrm>
            <a:off x="8385868" y="3080341"/>
            <a:ext cx="1778000" cy="35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225 k€</a:t>
            </a:r>
            <a:endParaRPr lang="en-US" sz="2400" dirty="0">
              <a:solidFill>
                <a:srgbClr val="065A82"/>
              </a:solidFill>
            </a:endParaRP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9CF71784-5EE2-0A4F-4E7C-E294180B00FB}"/>
              </a:ext>
            </a:extLst>
          </p:cNvPr>
          <p:cNvSpPr/>
          <p:nvPr/>
        </p:nvSpPr>
        <p:spPr>
          <a:xfrm>
            <a:off x="10163868" y="3026792"/>
            <a:ext cx="1179772" cy="470947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7FBF832B-7F5F-5E66-A249-EA369E43D6A6}"/>
              </a:ext>
            </a:extLst>
          </p:cNvPr>
          <p:cNvSpPr/>
          <p:nvPr/>
        </p:nvSpPr>
        <p:spPr>
          <a:xfrm>
            <a:off x="10163868" y="3112741"/>
            <a:ext cx="1179772" cy="384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262 k€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sz="1600" b="1" dirty="0">
                <a:solidFill>
                  <a:srgbClr val="C0392B"/>
                </a:solidFill>
              </a:rPr>
              <a:t>▼ −14 %</a:t>
            </a:r>
            <a:endParaRPr lang="en-US" sz="1050" dirty="0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0C5CE020-E1E9-4D8A-2989-033B6681CC64}"/>
              </a:ext>
            </a:extLst>
          </p:cNvPr>
          <p:cNvSpPr txBox="1"/>
          <p:nvPr/>
        </p:nvSpPr>
        <p:spPr>
          <a:xfrm>
            <a:off x="6859975" y="1587750"/>
            <a:ext cx="4338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RE" sz="1200" i="1" dirty="0"/>
              <a:t>Ça fait 3 mois que notre dépotage est largement en dessous de l’année dernière (x1/2)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11">
            <a:extLst>
              <a:ext uri="{FF2B5EF4-FFF2-40B4-BE49-F238E27FC236}">
                <a16:creationId xmlns:a16="http://schemas.microsoft.com/office/drawing/2014/main" id="{E7A4D68B-6926-5368-5B82-45744622C478}"/>
              </a:ext>
            </a:extLst>
          </p:cNvPr>
          <p:cNvSpPr/>
          <p:nvPr/>
        </p:nvSpPr>
        <p:spPr>
          <a:xfrm>
            <a:off x="7116821" y="5515629"/>
            <a:ext cx="1977136" cy="1100005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25880" y="420624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Livraison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44168" y="9144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— </a:t>
            </a:r>
            <a:r>
              <a:rPr lang="en-US" sz="1300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Aout</a:t>
            </a:r>
            <a:r>
              <a:rPr lang="en-US" sz="13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3489960" cy="2263140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 dirty="0"/>
          </a:p>
        </p:txBody>
      </p:sp>
      <p:sp>
        <p:nvSpPr>
          <p:cNvPr id="7" name="Shape 5"/>
          <p:cNvSpPr/>
          <p:nvPr/>
        </p:nvSpPr>
        <p:spPr>
          <a:xfrm>
            <a:off x="731520" y="1773936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8" name="Text 6"/>
          <p:cNvSpPr/>
          <p:nvPr/>
        </p:nvSpPr>
        <p:spPr>
          <a:xfrm>
            <a:off x="960120" y="1673352"/>
            <a:ext cx="284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livré par camion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212132"/>
            <a:ext cx="1825752" cy="505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235 k€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557272" y="2168906"/>
            <a:ext cx="1207008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11" name="Text 9"/>
          <p:cNvSpPr/>
          <p:nvPr/>
        </p:nvSpPr>
        <p:spPr>
          <a:xfrm>
            <a:off x="2557272" y="2168906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429 k€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sz="1600" b="1" dirty="0">
                <a:solidFill>
                  <a:srgbClr val="C0392B"/>
                </a:solidFill>
              </a:rPr>
              <a:t>▼ −45 %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5112" y="4100224"/>
            <a:ext cx="3489960" cy="2521505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20" name="Shape 18"/>
          <p:cNvSpPr/>
          <p:nvPr/>
        </p:nvSpPr>
        <p:spPr>
          <a:xfrm>
            <a:off x="743712" y="4365401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21" name="Text 19"/>
          <p:cNvSpPr/>
          <p:nvPr/>
        </p:nvSpPr>
        <p:spPr>
          <a:xfrm>
            <a:off x="972312" y="4264817"/>
            <a:ext cx="284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Moyennes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tournée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(par camion)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3712" y="4703729"/>
            <a:ext cx="1825752" cy="69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10,6 BLA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2569464" y="4794026"/>
            <a:ext cx="1207008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24" name="Text 22"/>
          <p:cNvSpPr/>
          <p:nvPr/>
        </p:nvSpPr>
        <p:spPr>
          <a:xfrm>
            <a:off x="2569464" y="4794026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12,8 BLA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C0392B"/>
                </a:solidFill>
              </a:rPr>
              <a:t>▼ −16,9 %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43712" y="5363875"/>
            <a:ext cx="1825752" cy="69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7,8 Fact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2569464" y="5454172"/>
            <a:ext cx="1207008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27" name="Text 25"/>
          <p:cNvSpPr/>
          <p:nvPr/>
        </p:nvSpPr>
        <p:spPr>
          <a:xfrm>
            <a:off x="2569464" y="5454172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8,6 Fact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C0392B"/>
                </a:solidFill>
              </a:rPr>
              <a:t>▼ −9 %</a:t>
            </a:r>
            <a:endParaRPr lang="en-US" sz="1050" dirty="0"/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CE75B54A-C20F-2F84-3884-C116615FF04A}"/>
              </a:ext>
            </a:extLst>
          </p:cNvPr>
          <p:cNvSpPr/>
          <p:nvPr/>
        </p:nvSpPr>
        <p:spPr>
          <a:xfrm>
            <a:off x="4330700" y="4143156"/>
            <a:ext cx="2434336" cy="1103416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47" name="Shape 12">
            <a:extLst>
              <a:ext uri="{FF2B5EF4-FFF2-40B4-BE49-F238E27FC236}">
                <a16:creationId xmlns:a16="http://schemas.microsoft.com/office/drawing/2014/main" id="{79560960-D1CF-289E-013F-DB360098A462}"/>
              </a:ext>
            </a:extLst>
          </p:cNvPr>
          <p:cNvSpPr/>
          <p:nvPr/>
        </p:nvSpPr>
        <p:spPr>
          <a:xfrm>
            <a:off x="4559300" y="4278706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CDF77B83-6C75-0949-C747-943E7B43977F}"/>
              </a:ext>
            </a:extLst>
          </p:cNvPr>
          <p:cNvSpPr/>
          <p:nvPr/>
        </p:nvSpPr>
        <p:spPr>
          <a:xfrm>
            <a:off x="4787900" y="4143156"/>
            <a:ext cx="1755140" cy="419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Enlèvements clients (327+0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51" name="Text 14">
            <a:extLst>
              <a:ext uri="{FF2B5EF4-FFF2-40B4-BE49-F238E27FC236}">
                <a16:creationId xmlns:a16="http://schemas.microsoft.com/office/drawing/2014/main" id="{A5A3CCB0-FAF5-C555-6549-3EE7C7041EBD}"/>
              </a:ext>
            </a:extLst>
          </p:cNvPr>
          <p:cNvSpPr/>
          <p:nvPr/>
        </p:nvSpPr>
        <p:spPr>
          <a:xfrm>
            <a:off x="4559300" y="4617034"/>
            <a:ext cx="1277112" cy="4190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</a:rPr>
              <a:t>51</a:t>
            </a:r>
            <a:endParaRPr lang="en-US" sz="2200" dirty="0"/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C55D7C2A-680A-8BA3-6A42-AFB8A058D068}"/>
              </a:ext>
            </a:extLst>
          </p:cNvPr>
          <p:cNvSpPr txBox="1"/>
          <p:nvPr/>
        </p:nvSpPr>
        <p:spPr>
          <a:xfrm>
            <a:off x="633984" y="6050436"/>
            <a:ext cx="33710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RE" sz="1050" i="1" dirty="0"/>
              <a:t> </a:t>
            </a: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E4443690-DE40-30F5-1CF1-B2EDF310F7F6}"/>
              </a:ext>
            </a:extLst>
          </p:cNvPr>
          <p:cNvSpPr/>
          <p:nvPr/>
        </p:nvSpPr>
        <p:spPr>
          <a:xfrm>
            <a:off x="693256" y="3120342"/>
            <a:ext cx="3071024" cy="28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Tournées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Archivées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Total HT</a:t>
            </a:r>
          </a:p>
        </p:txBody>
      </p:sp>
      <p:sp>
        <p:nvSpPr>
          <p:cNvPr id="50" name="Text 10">
            <a:extLst>
              <a:ext uri="{FF2B5EF4-FFF2-40B4-BE49-F238E27FC236}">
                <a16:creationId xmlns:a16="http://schemas.microsoft.com/office/drawing/2014/main" id="{E59B3366-0FF0-7562-5FE9-2C269293DFC3}"/>
              </a:ext>
            </a:extLst>
          </p:cNvPr>
          <p:cNvSpPr/>
          <p:nvPr/>
        </p:nvSpPr>
        <p:spPr>
          <a:xfrm>
            <a:off x="743712" y="6045965"/>
            <a:ext cx="3071024" cy="28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Tournées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Archivées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camion interne </a:t>
            </a:r>
          </a:p>
        </p:txBody>
      </p:sp>
      <p:sp>
        <p:nvSpPr>
          <p:cNvPr id="62" name="Shape 11">
            <a:extLst>
              <a:ext uri="{FF2B5EF4-FFF2-40B4-BE49-F238E27FC236}">
                <a16:creationId xmlns:a16="http://schemas.microsoft.com/office/drawing/2014/main" id="{3023A68B-300B-AE6E-F01B-E51DB82A8A26}"/>
              </a:ext>
            </a:extLst>
          </p:cNvPr>
          <p:cNvSpPr/>
          <p:nvPr/>
        </p:nvSpPr>
        <p:spPr>
          <a:xfrm>
            <a:off x="4318000" y="5515629"/>
            <a:ext cx="2434336" cy="1103416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66" name="Shape 12">
            <a:extLst>
              <a:ext uri="{FF2B5EF4-FFF2-40B4-BE49-F238E27FC236}">
                <a16:creationId xmlns:a16="http://schemas.microsoft.com/office/drawing/2014/main" id="{F4D1A5EE-1DE3-4C36-BADA-568B9FA8E9DE}"/>
              </a:ext>
            </a:extLst>
          </p:cNvPr>
          <p:cNvSpPr/>
          <p:nvPr/>
        </p:nvSpPr>
        <p:spPr>
          <a:xfrm>
            <a:off x="4546600" y="5651179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70" name="Text 13">
            <a:extLst>
              <a:ext uri="{FF2B5EF4-FFF2-40B4-BE49-F238E27FC236}">
                <a16:creationId xmlns:a16="http://schemas.microsoft.com/office/drawing/2014/main" id="{392CFCDC-D67B-B7B6-17B2-B41EF1CC1DF6}"/>
              </a:ext>
            </a:extLst>
          </p:cNvPr>
          <p:cNvSpPr/>
          <p:nvPr/>
        </p:nvSpPr>
        <p:spPr>
          <a:xfrm>
            <a:off x="4775200" y="5581841"/>
            <a:ext cx="1977136" cy="35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commerciaux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(100+0transp) </a:t>
            </a:r>
            <a:endParaRPr lang="en-US" sz="1300" dirty="0"/>
          </a:p>
        </p:txBody>
      </p:sp>
      <p:sp>
        <p:nvSpPr>
          <p:cNvPr id="75" name="Text 14">
            <a:extLst>
              <a:ext uri="{FF2B5EF4-FFF2-40B4-BE49-F238E27FC236}">
                <a16:creationId xmlns:a16="http://schemas.microsoft.com/office/drawing/2014/main" id="{110815D2-E8B4-4006-02CF-4BFDECE21F6B}"/>
              </a:ext>
            </a:extLst>
          </p:cNvPr>
          <p:cNvSpPr/>
          <p:nvPr/>
        </p:nvSpPr>
        <p:spPr>
          <a:xfrm>
            <a:off x="4546600" y="5989507"/>
            <a:ext cx="1078992" cy="4190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</a:rPr>
              <a:t>142</a:t>
            </a:r>
            <a:endParaRPr lang="en-US" sz="2200" dirty="0"/>
          </a:p>
        </p:txBody>
      </p:sp>
      <p:sp>
        <p:nvSpPr>
          <p:cNvPr id="77" name="Shape 15">
            <a:extLst>
              <a:ext uri="{FF2B5EF4-FFF2-40B4-BE49-F238E27FC236}">
                <a16:creationId xmlns:a16="http://schemas.microsoft.com/office/drawing/2014/main" id="{CAA9B024-B84A-41DD-3B4D-758FA25CD5B9}"/>
              </a:ext>
            </a:extLst>
          </p:cNvPr>
          <p:cNvSpPr/>
          <p:nvPr/>
        </p:nvSpPr>
        <p:spPr>
          <a:xfrm>
            <a:off x="5625592" y="5941564"/>
            <a:ext cx="77724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81" name="Shape 11">
            <a:extLst>
              <a:ext uri="{FF2B5EF4-FFF2-40B4-BE49-F238E27FC236}">
                <a16:creationId xmlns:a16="http://schemas.microsoft.com/office/drawing/2014/main" id="{57319441-17B1-0D02-E555-F7C7378C80E6}"/>
              </a:ext>
            </a:extLst>
          </p:cNvPr>
          <p:cNvSpPr/>
          <p:nvPr/>
        </p:nvSpPr>
        <p:spPr>
          <a:xfrm>
            <a:off x="7130795" y="4130210"/>
            <a:ext cx="1977137" cy="1100005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83" name="Shape 12">
            <a:extLst>
              <a:ext uri="{FF2B5EF4-FFF2-40B4-BE49-F238E27FC236}">
                <a16:creationId xmlns:a16="http://schemas.microsoft.com/office/drawing/2014/main" id="{997B7382-67AF-76D9-962A-179AAEEA384B}"/>
              </a:ext>
            </a:extLst>
          </p:cNvPr>
          <p:cNvSpPr/>
          <p:nvPr/>
        </p:nvSpPr>
        <p:spPr>
          <a:xfrm>
            <a:off x="7319643" y="5842991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85" name="Text 13">
            <a:extLst>
              <a:ext uri="{FF2B5EF4-FFF2-40B4-BE49-F238E27FC236}">
                <a16:creationId xmlns:a16="http://schemas.microsoft.com/office/drawing/2014/main" id="{DA16F094-70E3-208B-6CD7-9416AEA3F262}"/>
              </a:ext>
            </a:extLst>
          </p:cNvPr>
          <p:cNvSpPr/>
          <p:nvPr/>
        </p:nvSpPr>
        <p:spPr>
          <a:xfrm>
            <a:off x="7548243" y="5742407"/>
            <a:ext cx="1277620" cy="34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traitances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externes</a:t>
            </a:r>
            <a:endParaRPr lang="en-US" sz="1300" dirty="0"/>
          </a:p>
        </p:txBody>
      </p:sp>
      <p:sp>
        <p:nvSpPr>
          <p:cNvPr id="87" name="Text 14">
            <a:extLst>
              <a:ext uri="{FF2B5EF4-FFF2-40B4-BE49-F238E27FC236}">
                <a16:creationId xmlns:a16="http://schemas.microsoft.com/office/drawing/2014/main" id="{7D82297C-5C14-4DB9-D193-E848DB6D22FF}"/>
              </a:ext>
            </a:extLst>
          </p:cNvPr>
          <p:cNvSpPr/>
          <p:nvPr/>
        </p:nvSpPr>
        <p:spPr>
          <a:xfrm>
            <a:off x="6958838" y="6140822"/>
            <a:ext cx="1452880" cy="4190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</a:rPr>
              <a:t>2</a:t>
            </a:r>
            <a:endParaRPr lang="en-US" sz="2200" dirty="0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7222B43D-8893-1D38-3403-624A1B2C3371}"/>
              </a:ext>
            </a:extLst>
          </p:cNvPr>
          <p:cNvSpPr/>
          <p:nvPr/>
        </p:nvSpPr>
        <p:spPr>
          <a:xfrm>
            <a:off x="3881120" y="165150"/>
            <a:ext cx="8124272" cy="541249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r>
              <a:rPr lang="en-US" sz="1050" dirty="0" err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L’objectif</a:t>
            </a:r>
            <a:r>
              <a:rPr lang="en-US" sz="10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</a:t>
            </a:r>
            <a:r>
              <a:rPr lang="en-US" sz="10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 </a:t>
            </a:r>
            <a:r>
              <a:rPr lang="en-US" sz="1050" dirty="0" err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d’avoir</a:t>
            </a:r>
            <a:r>
              <a:rPr lang="en-US" sz="10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050" dirty="0" err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nbre</a:t>
            </a:r>
            <a:r>
              <a:rPr lang="en-US" sz="10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d’arret</a:t>
            </a:r>
            <a:r>
              <a:rPr lang="en-US" sz="10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camion / </a:t>
            </a:r>
            <a:r>
              <a:rPr lang="en-US" sz="1050" dirty="0" err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livreur</a:t>
            </a:r>
            <a:r>
              <a:rPr lang="en-US" sz="10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r>
              <a:rPr lang="en-US" sz="10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qui </a:t>
            </a:r>
            <a:r>
              <a:rPr lang="en-US" sz="1050" dirty="0" err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équivaut</a:t>
            </a:r>
            <a:r>
              <a:rPr lang="en-US" sz="10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aux </a:t>
            </a:r>
            <a:r>
              <a:rPr lang="en-US" sz="1050" dirty="0" err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nbre</a:t>
            </a:r>
            <a:r>
              <a:rPr lang="en-US" sz="10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code client =&gt; info non exploitable </a:t>
            </a:r>
            <a:r>
              <a:rPr lang="en-US" sz="1050" dirty="0" err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l’état</a:t>
            </a:r>
            <a:r>
              <a:rPr lang="en-US" sz="10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73967C1D-7806-2E64-6168-B1B72C925E8D}"/>
              </a:ext>
            </a:extLst>
          </p:cNvPr>
          <p:cNvSpPr/>
          <p:nvPr/>
        </p:nvSpPr>
        <p:spPr>
          <a:xfrm>
            <a:off x="7326377" y="4433078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4702765E-C508-F111-1056-EFA01BDC1498}"/>
              </a:ext>
            </a:extLst>
          </p:cNvPr>
          <p:cNvSpPr/>
          <p:nvPr/>
        </p:nvSpPr>
        <p:spPr>
          <a:xfrm>
            <a:off x="7554977" y="4332494"/>
            <a:ext cx="1277620" cy="34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Camion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microstor</a:t>
            </a:r>
            <a:endParaRPr lang="en-US" sz="1300" dirty="0"/>
          </a:p>
        </p:txBody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239A2AE8-50BE-D0B0-E5AA-8B1FDE21D1EF}"/>
              </a:ext>
            </a:extLst>
          </p:cNvPr>
          <p:cNvSpPr/>
          <p:nvPr/>
        </p:nvSpPr>
        <p:spPr>
          <a:xfrm>
            <a:off x="6938061" y="4745467"/>
            <a:ext cx="1452880" cy="4190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</a:rPr>
              <a:t>3</a:t>
            </a:r>
            <a:endParaRPr lang="en-US" sz="220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1D1E73B7-BFF5-15A5-3EBD-843E7319D3E1}"/>
              </a:ext>
            </a:extLst>
          </p:cNvPr>
          <p:cNvSpPr/>
          <p:nvPr/>
        </p:nvSpPr>
        <p:spPr>
          <a:xfrm>
            <a:off x="4318000" y="1524737"/>
            <a:ext cx="3489960" cy="1081174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 dirty="0"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60947AB6-C390-3B61-7497-81CADF520EA0}"/>
              </a:ext>
            </a:extLst>
          </p:cNvPr>
          <p:cNvSpPr/>
          <p:nvPr/>
        </p:nvSpPr>
        <p:spPr>
          <a:xfrm>
            <a:off x="4546600" y="1789913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52" name="Text 6">
            <a:extLst>
              <a:ext uri="{FF2B5EF4-FFF2-40B4-BE49-F238E27FC236}">
                <a16:creationId xmlns:a16="http://schemas.microsoft.com/office/drawing/2014/main" id="{5AF3DA60-9FB2-A4C4-DBEE-95714BBFD6E0}"/>
              </a:ext>
            </a:extLst>
          </p:cNvPr>
          <p:cNvSpPr/>
          <p:nvPr/>
        </p:nvSpPr>
        <p:spPr>
          <a:xfrm>
            <a:off x="4775200" y="1689329"/>
            <a:ext cx="284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d’arrêts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moyen  (par jour par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tournée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CA78E6FC-B219-5181-CD06-F10BEF293733}"/>
              </a:ext>
            </a:extLst>
          </p:cNvPr>
          <p:cNvSpPr/>
          <p:nvPr/>
        </p:nvSpPr>
        <p:spPr>
          <a:xfrm>
            <a:off x="4985004" y="2021522"/>
            <a:ext cx="1825752" cy="505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68" name="Shape 4">
            <a:extLst>
              <a:ext uri="{FF2B5EF4-FFF2-40B4-BE49-F238E27FC236}">
                <a16:creationId xmlns:a16="http://schemas.microsoft.com/office/drawing/2014/main" id="{AEAD3453-EC61-79AA-4D8D-4030B37EDA05}"/>
              </a:ext>
            </a:extLst>
          </p:cNvPr>
          <p:cNvSpPr/>
          <p:nvPr/>
        </p:nvSpPr>
        <p:spPr>
          <a:xfrm>
            <a:off x="4318000" y="2695729"/>
            <a:ext cx="3489960" cy="1007661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 dirty="0"/>
          </a:p>
        </p:txBody>
      </p:sp>
      <p:sp>
        <p:nvSpPr>
          <p:cNvPr id="76" name="Text 6">
            <a:extLst>
              <a:ext uri="{FF2B5EF4-FFF2-40B4-BE49-F238E27FC236}">
                <a16:creationId xmlns:a16="http://schemas.microsoft.com/office/drawing/2014/main" id="{EA3B6B7F-C746-EF76-0A90-1DA94A191F58}"/>
              </a:ext>
            </a:extLst>
          </p:cNvPr>
          <p:cNvSpPr/>
          <p:nvPr/>
        </p:nvSpPr>
        <p:spPr>
          <a:xfrm>
            <a:off x="4775200" y="2860321"/>
            <a:ext cx="284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Moyenne (par jour par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tournée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80" name="Text 7">
            <a:extLst>
              <a:ext uri="{FF2B5EF4-FFF2-40B4-BE49-F238E27FC236}">
                <a16:creationId xmlns:a16="http://schemas.microsoft.com/office/drawing/2014/main" id="{C7F04FCE-8D51-1278-1FED-76351CAB8878}"/>
              </a:ext>
            </a:extLst>
          </p:cNvPr>
          <p:cNvSpPr/>
          <p:nvPr/>
        </p:nvSpPr>
        <p:spPr>
          <a:xfrm>
            <a:off x="4806020" y="2019487"/>
            <a:ext cx="1825752" cy="505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</a:rPr>
              <a:t>11,6</a:t>
            </a:r>
            <a:endParaRPr lang="en-US" sz="2200" dirty="0"/>
          </a:p>
        </p:txBody>
      </p:sp>
      <p:sp>
        <p:nvSpPr>
          <p:cNvPr id="84" name="Shape 5">
            <a:extLst>
              <a:ext uri="{FF2B5EF4-FFF2-40B4-BE49-F238E27FC236}">
                <a16:creationId xmlns:a16="http://schemas.microsoft.com/office/drawing/2014/main" id="{4CDEB923-E5AF-E064-D296-F8043F592DE0}"/>
              </a:ext>
            </a:extLst>
          </p:cNvPr>
          <p:cNvSpPr/>
          <p:nvPr/>
        </p:nvSpPr>
        <p:spPr>
          <a:xfrm>
            <a:off x="4457949" y="2960905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RE"/>
          </a:p>
        </p:txBody>
      </p:sp>
      <p:graphicFrame>
        <p:nvGraphicFramePr>
          <p:cNvPr id="88" name="Tableau 87">
            <a:extLst>
              <a:ext uri="{FF2B5EF4-FFF2-40B4-BE49-F238E27FC236}">
                <a16:creationId xmlns:a16="http://schemas.microsoft.com/office/drawing/2014/main" id="{3B19B61B-1850-9101-23AB-03679BFCDFA6}"/>
              </a:ext>
            </a:extLst>
          </p:cNvPr>
          <p:cNvGraphicFramePr>
            <a:graphicFrameLocks noGrp="1"/>
          </p:cNvGraphicFramePr>
          <p:nvPr/>
        </p:nvGraphicFramePr>
        <p:xfrm>
          <a:off x="8127868" y="1536191"/>
          <a:ext cx="3877524" cy="2362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86929">
                  <a:extLst>
                    <a:ext uri="{9D8B030D-6E8A-4147-A177-3AD203B41FA5}">
                      <a16:colId xmlns:a16="http://schemas.microsoft.com/office/drawing/2014/main" val="1133638466"/>
                    </a:ext>
                  </a:extLst>
                </a:gridCol>
                <a:gridCol w="851833">
                  <a:extLst>
                    <a:ext uri="{9D8B030D-6E8A-4147-A177-3AD203B41FA5}">
                      <a16:colId xmlns:a16="http://schemas.microsoft.com/office/drawing/2014/main" val="3432311620"/>
                    </a:ext>
                  </a:extLst>
                </a:gridCol>
                <a:gridCol w="1021054">
                  <a:extLst>
                    <a:ext uri="{9D8B030D-6E8A-4147-A177-3AD203B41FA5}">
                      <a16:colId xmlns:a16="http://schemas.microsoft.com/office/drawing/2014/main" val="2815364155"/>
                    </a:ext>
                  </a:extLst>
                </a:gridCol>
                <a:gridCol w="917708">
                  <a:extLst>
                    <a:ext uri="{9D8B030D-6E8A-4147-A177-3AD203B41FA5}">
                      <a16:colId xmlns:a16="http://schemas.microsoft.com/office/drawing/2014/main" val="19522805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Nb Arrêts </a:t>
                      </a:r>
                      <a:r>
                        <a:rPr lang="fr-FR" sz="1400" dirty="0" err="1"/>
                        <a:t>Moy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Distance </a:t>
                      </a:r>
                      <a:r>
                        <a:rPr lang="fr-FR" sz="1400" dirty="0" err="1"/>
                        <a:t>Moy</a:t>
                      </a:r>
                      <a:r>
                        <a:rPr lang="fr-FR" sz="1400" dirty="0"/>
                        <a:t> (kms)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Nb de jours travail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852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dirty="0"/>
                        <a:t>Nathan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255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dirty="0"/>
                        <a:t>Patrick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12,6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954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dirty="0"/>
                        <a:t>Alain (cellule)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918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dirty="0" err="1"/>
                        <a:t>Moy</a:t>
                      </a:r>
                      <a:r>
                        <a:rPr lang="fr-FR" sz="1400" dirty="0"/>
                        <a:t> pond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11,6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465360"/>
                  </a:ext>
                </a:extLst>
              </a:tr>
            </a:tbl>
          </a:graphicData>
        </a:graphic>
      </p:graphicFrame>
      <p:sp>
        <p:nvSpPr>
          <p:cNvPr id="16" name="Text 22">
            <a:extLst>
              <a:ext uri="{FF2B5EF4-FFF2-40B4-BE49-F238E27FC236}">
                <a16:creationId xmlns:a16="http://schemas.microsoft.com/office/drawing/2014/main" id="{1F51F74B-A06C-C23A-C933-2CBD09C2EE8C}"/>
              </a:ext>
            </a:extLst>
          </p:cNvPr>
          <p:cNvSpPr/>
          <p:nvPr/>
        </p:nvSpPr>
        <p:spPr>
          <a:xfrm>
            <a:off x="5434390" y="5948486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lang="en-US" sz="1050" dirty="0">
                <a:solidFill>
                  <a:srgbClr val="8A9BA3"/>
                </a:solidFill>
              </a:rPr>
              <a:t>N-1 : 99 </a:t>
            </a:r>
            <a:br>
              <a:rPr lang="en-US" sz="1050" dirty="0">
                <a:solidFill>
                  <a:srgbClr val="8A9BA3"/>
                </a:solidFill>
              </a:rPr>
            </a:br>
            <a:r>
              <a:rPr lang="en-US" sz="1600" b="1" dirty="0">
                <a:solidFill>
                  <a:srgbClr val="2E7D32"/>
                </a:solidFill>
              </a:rPr>
              <a:t>▲ +43 %</a:t>
            </a:r>
            <a:endParaRPr lang="en-US" sz="1050" dirty="0"/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1CA91C66-1DF4-ED39-12CC-A0D22A7C4DF4}"/>
              </a:ext>
            </a:extLst>
          </p:cNvPr>
          <p:cNvGrpSpPr/>
          <p:nvPr/>
        </p:nvGrpSpPr>
        <p:grpSpPr>
          <a:xfrm>
            <a:off x="5629910" y="4547286"/>
            <a:ext cx="1207008" cy="521670"/>
            <a:chOff x="5629910" y="4547286"/>
            <a:chExt cx="1207008" cy="521670"/>
          </a:xfrm>
        </p:grpSpPr>
        <p:sp>
          <p:nvSpPr>
            <p:cNvPr id="53" name="Shape 15">
              <a:extLst>
                <a:ext uri="{FF2B5EF4-FFF2-40B4-BE49-F238E27FC236}">
                  <a16:creationId xmlns:a16="http://schemas.microsoft.com/office/drawing/2014/main" id="{725C3B4A-0F09-0D7F-463E-7B4C522F72A5}"/>
                </a:ext>
              </a:extLst>
            </p:cNvPr>
            <p:cNvSpPr/>
            <p:nvPr/>
          </p:nvSpPr>
          <p:spPr>
            <a:xfrm>
              <a:off x="5836412" y="4556892"/>
              <a:ext cx="77724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 sz="2800"/>
            </a:p>
          </p:txBody>
        </p:sp>
        <p:sp>
          <p:nvSpPr>
            <p:cNvPr id="18" name="Text 22">
              <a:extLst>
                <a:ext uri="{FF2B5EF4-FFF2-40B4-BE49-F238E27FC236}">
                  <a16:creationId xmlns:a16="http://schemas.microsoft.com/office/drawing/2014/main" id="{240E84B7-F41E-6260-4703-A386272568B9}"/>
                </a:ext>
              </a:extLst>
            </p:cNvPr>
            <p:cNvSpPr/>
            <p:nvPr/>
          </p:nvSpPr>
          <p:spPr>
            <a:xfrm>
              <a:off x="5629910" y="4547286"/>
              <a:ext cx="1207008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050" dirty="0">
                  <a:solidFill>
                    <a:srgbClr val="8A9BA3"/>
                  </a:solidFill>
                </a:rPr>
                <a:t>N-1 : 29 </a:t>
              </a:r>
              <a:br>
                <a:rPr lang="en-US" sz="1050" dirty="0">
                  <a:solidFill>
                    <a:srgbClr val="8A9BA3"/>
                  </a:solidFill>
                </a:rPr>
              </a:br>
              <a:r>
                <a:rPr lang="en-US" sz="1600" b="1" dirty="0">
                  <a:solidFill>
                    <a:srgbClr val="2E7D32"/>
                  </a:solidFill>
                </a:rPr>
                <a:t>▲ +76 %</a:t>
              </a:r>
              <a:endParaRPr lang="en-US" sz="1050" dirty="0"/>
            </a:p>
          </p:txBody>
        </p:sp>
      </p:grpSp>
      <p:sp>
        <p:nvSpPr>
          <p:cNvPr id="17" name="ZoneTexte 16">
            <a:extLst>
              <a:ext uri="{FF2B5EF4-FFF2-40B4-BE49-F238E27FC236}">
                <a16:creationId xmlns:a16="http://schemas.microsoft.com/office/drawing/2014/main" id="{5B551D12-0DCB-B8EE-CA4B-5FD3DB3F7A99}"/>
              </a:ext>
            </a:extLst>
          </p:cNvPr>
          <p:cNvSpPr txBox="1"/>
          <p:nvPr/>
        </p:nvSpPr>
        <p:spPr>
          <a:xfrm>
            <a:off x="1083617" y="6330140"/>
            <a:ext cx="33743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RE" sz="1200" i="1" dirty="0">
                <a:solidFill>
                  <a:srgbClr val="7030A0"/>
                </a:solidFill>
                <a:highlight>
                  <a:srgbClr val="FFFF00"/>
                </a:highlight>
              </a:rPr>
              <a:t>Nb adresse diff /!\ P adresse principale mais attention à client </a:t>
            </a:r>
            <a:r>
              <a:rPr lang="fr-RE" sz="1200" i="1" dirty="0" err="1">
                <a:solidFill>
                  <a:srgbClr val="7030A0"/>
                </a:solidFill>
                <a:highlight>
                  <a:srgbClr val="FFFF00"/>
                </a:highlight>
              </a:rPr>
              <a:t>same</a:t>
            </a:r>
            <a:r>
              <a:rPr lang="fr-RE" sz="1200" i="1" dirty="0">
                <a:solidFill>
                  <a:srgbClr val="7030A0"/>
                </a:solidFill>
                <a:highlight>
                  <a:srgbClr val="FFFF00"/>
                </a:highlight>
              </a:rPr>
              <a:t> ou pas </a:t>
            </a:r>
            <a:endParaRPr lang="fr-RE" sz="1200" i="1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DA4F19C9-86FC-8C00-0792-686B3744F829}"/>
              </a:ext>
            </a:extLst>
          </p:cNvPr>
          <p:cNvSpPr txBox="1"/>
          <p:nvPr/>
        </p:nvSpPr>
        <p:spPr>
          <a:xfrm>
            <a:off x="4155422" y="5087070"/>
            <a:ext cx="33743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RE" sz="1200" i="1" dirty="0">
                <a:solidFill>
                  <a:srgbClr val="7030A0"/>
                </a:solidFill>
                <a:highlight>
                  <a:srgbClr val="FFFF00"/>
                </a:highlight>
              </a:rPr>
              <a:t>Voir cas particuliers pour plus de 0 mal qualifiées</a:t>
            </a:r>
            <a:endParaRPr lang="fr-RE" sz="1200" i="1" dirty="0"/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4F57391C-E81A-D17B-E231-97DC4D45F73A}"/>
              </a:ext>
            </a:extLst>
          </p:cNvPr>
          <p:cNvSpPr/>
          <p:nvPr/>
        </p:nvSpPr>
        <p:spPr>
          <a:xfrm>
            <a:off x="104909" y="2588438"/>
            <a:ext cx="22146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0E7C86"/>
                </a:solidFill>
              </a:rPr>
              <a:t>66% du CA</a:t>
            </a:r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4216AC64-BB4A-7E05-3F09-F4DDCB78FB20}"/>
              </a:ext>
            </a:extLst>
          </p:cNvPr>
          <p:cNvSpPr/>
          <p:nvPr/>
        </p:nvSpPr>
        <p:spPr>
          <a:xfrm>
            <a:off x="4618833" y="3152123"/>
            <a:ext cx="1825752" cy="505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</a:rPr>
              <a:t>133 kms</a:t>
            </a:r>
            <a:endParaRPr lang="en-US" sz="2200" dirty="0"/>
          </a:p>
        </p:txBody>
      </p: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9285A306-F436-249A-4C4A-84A06C601B1E}"/>
              </a:ext>
            </a:extLst>
          </p:cNvPr>
          <p:cNvGrpSpPr/>
          <p:nvPr/>
        </p:nvGrpSpPr>
        <p:grpSpPr>
          <a:xfrm>
            <a:off x="6470571" y="1962937"/>
            <a:ext cx="1207008" cy="521670"/>
            <a:chOff x="5629910" y="4547286"/>
            <a:chExt cx="1207008" cy="521670"/>
          </a:xfrm>
        </p:grpSpPr>
        <p:sp>
          <p:nvSpPr>
            <p:cNvPr id="35" name="Shape 15">
              <a:extLst>
                <a:ext uri="{FF2B5EF4-FFF2-40B4-BE49-F238E27FC236}">
                  <a16:creationId xmlns:a16="http://schemas.microsoft.com/office/drawing/2014/main" id="{30DF36FF-552C-EA95-BFCD-F31B7F99D6EE}"/>
                </a:ext>
              </a:extLst>
            </p:cNvPr>
            <p:cNvSpPr/>
            <p:nvPr/>
          </p:nvSpPr>
          <p:spPr>
            <a:xfrm>
              <a:off x="5836412" y="4556892"/>
              <a:ext cx="877904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 sz="2800"/>
            </a:p>
          </p:txBody>
        </p:sp>
        <p:sp>
          <p:nvSpPr>
            <p:cNvPr id="36" name="Text 22">
              <a:extLst>
                <a:ext uri="{FF2B5EF4-FFF2-40B4-BE49-F238E27FC236}">
                  <a16:creationId xmlns:a16="http://schemas.microsoft.com/office/drawing/2014/main" id="{3059B6D6-6ECD-55F4-5CDE-1D8F8AF50183}"/>
                </a:ext>
              </a:extLst>
            </p:cNvPr>
            <p:cNvSpPr/>
            <p:nvPr/>
          </p:nvSpPr>
          <p:spPr>
            <a:xfrm>
              <a:off x="5629910" y="4547286"/>
              <a:ext cx="1207008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050" dirty="0">
                  <a:solidFill>
                    <a:srgbClr val="8A9BA3"/>
                  </a:solidFill>
                </a:rPr>
                <a:t>Mois-1 : 9,5  </a:t>
              </a:r>
              <a:br>
                <a:rPr lang="en-US" sz="1050" dirty="0">
                  <a:solidFill>
                    <a:srgbClr val="8A9BA3"/>
                  </a:solidFill>
                </a:rPr>
              </a:br>
              <a:r>
                <a:rPr lang="en-US" sz="1600" b="1" dirty="0">
                  <a:solidFill>
                    <a:srgbClr val="2E7D32"/>
                  </a:solidFill>
                </a:rPr>
                <a:t>▲ +22%</a:t>
              </a:r>
              <a:endParaRPr lang="en-US" sz="1050" dirty="0"/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A694AF44-E039-370B-CC72-3828AA84E1C1}"/>
              </a:ext>
            </a:extLst>
          </p:cNvPr>
          <p:cNvGrpSpPr/>
          <p:nvPr/>
        </p:nvGrpSpPr>
        <p:grpSpPr>
          <a:xfrm>
            <a:off x="6463623" y="3143056"/>
            <a:ext cx="1207008" cy="521670"/>
            <a:chOff x="5629910" y="4547286"/>
            <a:chExt cx="1207008" cy="521670"/>
          </a:xfrm>
        </p:grpSpPr>
        <p:sp>
          <p:nvSpPr>
            <p:cNvPr id="42" name="Shape 15">
              <a:extLst>
                <a:ext uri="{FF2B5EF4-FFF2-40B4-BE49-F238E27FC236}">
                  <a16:creationId xmlns:a16="http://schemas.microsoft.com/office/drawing/2014/main" id="{915AFC41-448D-7484-CABF-7EE149D64419}"/>
                </a:ext>
              </a:extLst>
            </p:cNvPr>
            <p:cNvSpPr/>
            <p:nvPr/>
          </p:nvSpPr>
          <p:spPr>
            <a:xfrm>
              <a:off x="5636858" y="4556892"/>
              <a:ext cx="120006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 sz="2800"/>
            </a:p>
          </p:txBody>
        </p:sp>
        <p:sp>
          <p:nvSpPr>
            <p:cNvPr id="44" name="Text 22">
              <a:extLst>
                <a:ext uri="{FF2B5EF4-FFF2-40B4-BE49-F238E27FC236}">
                  <a16:creationId xmlns:a16="http://schemas.microsoft.com/office/drawing/2014/main" id="{4A282478-4089-C2CF-70FC-F1FED98C9C6A}"/>
                </a:ext>
              </a:extLst>
            </p:cNvPr>
            <p:cNvSpPr/>
            <p:nvPr/>
          </p:nvSpPr>
          <p:spPr>
            <a:xfrm>
              <a:off x="5629910" y="4547286"/>
              <a:ext cx="1207008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050" dirty="0">
                  <a:solidFill>
                    <a:srgbClr val="8A9BA3"/>
                  </a:solidFill>
                </a:rPr>
                <a:t>Mois-1 : 128 kms  </a:t>
              </a:r>
              <a:br>
                <a:rPr lang="en-US" sz="1050" dirty="0">
                  <a:solidFill>
                    <a:srgbClr val="8A9BA3"/>
                  </a:solidFill>
                </a:rPr>
              </a:br>
              <a:r>
                <a:rPr lang="en-US" sz="1600" b="1" dirty="0">
                  <a:solidFill>
                    <a:srgbClr val="2E7D32"/>
                  </a:solidFill>
                </a:rPr>
                <a:t>▲ +4%</a:t>
              </a:r>
              <a:endParaRPr lang="en-US" sz="1050" dirty="0"/>
            </a:p>
          </p:txBody>
        </p:sp>
      </p:grp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CDAB995D-3969-ED8D-05D2-2DC25D79D252}"/>
              </a:ext>
            </a:extLst>
          </p:cNvPr>
          <p:cNvGrpSpPr/>
          <p:nvPr/>
        </p:nvGrpSpPr>
        <p:grpSpPr>
          <a:xfrm>
            <a:off x="7939822" y="4664092"/>
            <a:ext cx="1207008" cy="521670"/>
            <a:chOff x="5629910" y="4547286"/>
            <a:chExt cx="1207008" cy="521670"/>
          </a:xfrm>
        </p:grpSpPr>
        <p:sp>
          <p:nvSpPr>
            <p:cNvPr id="46" name="Shape 15">
              <a:extLst>
                <a:ext uri="{FF2B5EF4-FFF2-40B4-BE49-F238E27FC236}">
                  <a16:creationId xmlns:a16="http://schemas.microsoft.com/office/drawing/2014/main" id="{0394606C-1631-F916-6FDE-62F3DA3965CC}"/>
                </a:ext>
              </a:extLst>
            </p:cNvPr>
            <p:cNvSpPr/>
            <p:nvPr/>
          </p:nvSpPr>
          <p:spPr>
            <a:xfrm>
              <a:off x="5836412" y="4556892"/>
              <a:ext cx="877904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 sz="2800"/>
            </a:p>
          </p:txBody>
        </p:sp>
        <p:sp>
          <p:nvSpPr>
            <p:cNvPr id="54" name="Text 22">
              <a:extLst>
                <a:ext uri="{FF2B5EF4-FFF2-40B4-BE49-F238E27FC236}">
                  <a16:creationId xmlns:a16="http://schemas.microsoft.com/office/drawing/2014/main" id="{0B5EAFEB-1BAD-8AD1-BEC1-EA1D695D286A}"/>
                </a:ext>
              </a:extLst>
            </p:cNvPr>
            <p:cNvSpPr/>
            <p:nvPr/>
          </p:nvSpPr>
          <p:spPr>
            <a:xfrm>
              <a:off x="5629910" y="4547286"/>
              <a:ext cx="1207008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050" dirty="0">
                  <a:solidFill>
                    <a:srgbClr val="8A9BA3"/>
                  </a:solidFill>
                </a:rPr>
                <a:t>Mois-1 : 0  </a:t>
              </a:r>
              <a:endParaRPr lang="en-US" sz="1050" dirty="0"/>
            </a:p>
          </p:txBody>
        </p:sp>
      </p:grpSp>
      <p:grpSp>
        <p:nvGrpSpPr>
          <p:cNvPr id="55" name="Groupe 54">
            <a:extLst>
              <a:ext uri="{FF2B5EF4-FFF2-40B4-BE49-F238E27FC236}">
                <a16:creationId xmlns:a16="http://schemas.microsoft.com/office/drawing/2014/main" id="{F30C28D2-4A03-208D-6CD9-E4A83910AA59}"/>
              </a:ext>
            </a:extLst>
          </p:cNvPr>
          <p:cNvGrpSpPr/>
          <p:nvPr/>
        </p:nvGrpSpPr>
        <p:grpSpPr>
          <a:xfrm>
            <a:off x="7969245" y="6036130"/>
            <a:ext cx="1207008" cy="521670"/>
            <a:chOff x="5629910" y="4547286"/>
            <a:chExt cx="1207008" cy="521670"/>
          </a:xfrm>
        </p:grpSpPr>
        <p:sp>
          <p:nvSpPr>
            <p:cNvPr id="56" name="Shape 15">
              <a:extLst>
                <a:ext uri="{FF2B5EF4-FFF2-40B4-BE49-F238E27FC236}">
                  <a16:creationId xmlns:a16="http://schemas.microsoft.com/office/drawing/2014/main" id="{11D3481C-1471-F8B2-0201-40794D4FA0E9}"/>
                </a:ext>
              </a:extLst>
            </p:cNvPr>
            <p:cNvSpPr/>
            <p:nvPr/>
          </p:nvSpPr>
          <p:spPr>
            <a:xfrm>
              <a:off x="5836412" y="4556892"/>
              <a:ext cx="877904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 sz="2800"/>
            </a:p>
          </p:txBody>
        </p:sp>
        <p:sp>
          <p:nvSpPr>
            <p:cNvPr id="57" name="Text 22">
              <a:extLst>
                <a:ext uri="{FF2B5EF4-FFF2-40B4-BE49-F238E27FC236}">
                  <a16:creationId xmlns:a16="http://schemas.microsoft.com/office/drawing/2014/main" id="{B9C09CF8-113D-E655-FE8E-98063ABDE93B}"/>
                </a:ext>
              </a:extLst>
            </p:cNvPr>
            <p:cNvSpPr/>
            <p:nvPr/>
          </p:nvSpPr>
          <p:spPr>
            <a:xfrm>
              <a:off x="5629910" y="4547286"/>
              <a:ext cx="1207008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050" dirty="0">
                  <a:solidFill>
                    <a:srgbClr val="8A9BA3"/>
                  </a:solidFill>
                </a:rPr>
                <a:t>Mois-1 : 0  </a:t>
              </a:r>
              <a:endParaRPr lang="en-US" sz="1050" dirty="0"/>
            </a:p>
          </p:txBody>
        </p:sp>
      </p:grpSp>
      <p:sp>
        <p:nvSpPr>
          <p:cNvPr id="58" name="Text 10">
            <a:extLst>
              <a:ext uri="{FF2B5EF4-FFF2-40B4-BE49-F238E27FC236}">
                <a16:creationId xmlns:a16="http://schemas.microsoft.com/office/drawing/2014/main" id="{679FBFAE-AB56-2B02-B3B3-107C45A9B614}"/>
              </a:ext>
            </a:extLst>
          </p:cNvPr>
          <p:cNvSpPr/>
          <p:nvPr/>
        </p:nvSpPr>
        <p:spPr>
          <a:xfrm>
            <a:off x="4664628" y="2669604"/>
            <a:ext cx="3071024" cy="28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sur Données GPS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D96961A4-4CD6-8732-FA7F-AA6F8A07F7AA}"/>
              </a:ext>
            </a:extLst>
          </p:cNvPr>
          <p:cNvSpPr txBox="1"/>
          <p:nvPr/>
        </p:nvSpPr>
        <p:spPr>
          <a:xfrm>
            <a:off x="4045975" y="781918"/>
            <a:ext cx="7523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RE" sz="1200" i="1" dirty="0"/>
              <a:t>Alerte ou pas sur CA livré mais nous manque volume total à livrer ou livraisons en attente ?</a:t>
            </a:r>
            <a:br>
              <a:rPr lang="fr-RE" sz="1200" i="1" dirty="0"/>
            </a:br>
            <a:r>
              <a:rPr lang="fr-RE" sz="1200" i="1" dirty="0"/>
              <a:t>Boom sur les enlèvements commerciaux (17% des </a:t>
            </a:r>
            <a:r>
              <a:rPr lang="fr-RE" sz="1200" i="1" dirty="0" err="1"/>
              <a:t>cdes</a:t>
            </a:r>
            <a:r>
              <a:rPr lang="fr-RE" sz="1200" i="1" dirty="0"/>
              <a:t> </a:t>
            </a:r>
            <a:r>
              <a:rPr lang="fr-RE" sz="1200" i="1" dirty="0" err="1"/>
              <a:t>tot</a:t>
            </a:r>
            <a:r>
              <a:rPr lang="fr-RE" sz="1200" i="1" dirty="0"/>
              <a:t> </a:t>
            </a:r>
            <a:r>
              <a:rPr lang="fr-RE" sz="1200" i="1" dirty="0" err="1"/>
              <a:t>prép</a:t>
            </a:r>
            <a:r>
              <a:rPr lang="fr-RE" sz="1200" i="1" dirty="0"/>
              <a:t> vs 7% en juillet) et enlèvements clients = </a:t>
            </a:r>
            <a:r>
              <a:rPr lang="fr-RE" sz="1200" i="1" dirty="0" err="1"/>
              <a:t>Aleerte</a:t>
            </a:r>
            <a:r>
              <a:rPr lang="fr-RE" sz="1200" i="1" dirty="0"/>
              <a:t>?</a:t>
            </a: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65EBC50A-CCA6-662D-C037-2484EF88B85F}"/>
              </a:ext>
            </a:extLst>
          </p:cNvPr>
          <p:cNvSpPr/>
          <p:nvPr/>
        </p:nvSpPr>
        <p:spPr>
          <a:xfrm>
            <a:off x="4560488" y="2353800"/>
            <a:ext cx="3071024" cy="28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sur Données GPS</a:t>
            </a: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ACD0F307-F8E7-39A1-925A-9538A74BB954}"/>
              </a:ext>
            </a:extLst>
          </p:cNvPr>
          <p:cNvSpPr/>
          <p:nvPr/>
        </p:nvSpPr>
        <p:spPr>
          <a:xfrm>
            <a:off x="4494671" y="4866473"/>
            <a:ext cx="3071024" cy="28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/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Archivées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</a:p>
        </p:txBody>
      </p:sp>
      <p:sp>
        <p:nvSpPr>
          <p:cNvPr id="63" name="Text 10">
            <a:extLst>
              <a:ext uri="{FF2B5EF4-FFF2-40B4-BE49-F238E27FC236}">
                <a16:creationId xmlns:a16="http://schemas.microsoft.com/office/drawing/2014/main" id="{BC9E5F46-439C-8082-957B-CD5AF95F50F0}"/>
              </a:ext>
            </a:extLst>
          </p:cNvPr>
          <p:cNvSpPr/>
          <p:nvPr/>
        </p:nvSpPr>
        <p:spPr>
          <a:xfrm>
            <a:off x="4457949" y="6322903"/>
            <a:ext cx="3071024" cy="28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/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Archivées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220E2-0557-1CE4-7A00-F2629A89A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C325E1-7159-4AF4-6A6B-F0CCB6B119F1}"/>
              </a:ext>
            </a:extLst>
          </p:cNvPr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3FE331C-4657-1950-E7A5-6929AB4DF834}"/>
              </a:ext>
            </a:extLst>
          </p:cNvPr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4C66A84-1595-E876-1FC9-02A1639B81C8}"/>
              </a:ext>
            </a:extLst>
          </p:cNvPr>
          <p:cNvSpPr/>
          <p:nvPr/>
        </p:nvSpPr>
        <p:spPr>
          <a:xfrm>
            <a:off x="1325880" y="420624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Livraison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C26F281-2085-93D7-2F51-23C1281BC5BE}"/>
              </a:ext>
            </a:extLst>
          </p:cNvPr>
          <p:cNvSpPr/>
          <p:nvPr/>
        </p:nvSpPr>
        <p:spPr>
          <a:xfrm>
            <a:off x="1344168" y="9144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— </a:t>
            </a:r>
            <a:r>
              <a:rPr lang="en-US" sz="1300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Aout</a:t>
            </a:r>
            <a:r>
              <a:rPr lang="en-US" sz="13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DBAB17F-0F1E-651B-B87C-73D063B5DA55}"/>
              </a:ext>
            </a:extLst>
          </p:cNvPr>
          <p:cNvSpPr/>
          <p:nvPr/>
        </p:nvSpPr>
        <p:spPr>
          <a:xfrm>
            <a:off x="502920" y="1508760"/>
            <a:ext cx="3489960" cy="2263140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C4F189A-2C61-B1D2-89AB-A88169192B67}"/>
              </a:ext>
            </a:extLst>
          </p:cNvPr>
          <p:cNvSpPr/>
          <p:nvPr/>
        </p:nvSpPr>
        <p:spPr>
          <a:xfrm>
            <a:off x="731520" y="1773936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F42A314-0D92-6577-5C23-973FF275D70B}"/>
              </a:ext>
            </a:extLst>
          </p:cNvPr>
          <p:cNvSpPr/>
          <p:nvPr/>
        </p:nvSpPr>
        <p:spPr>
          <a:xfrm>
            <a:off x="960120" y="1673352"/>
            <a:ext cx="284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livraison total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4AB461D-00D7-A217-5759-85B99B0BA161}"/>
              </a:ext>
            </a:extLst>
          </p:cNvPr>
          <p:cNvSpPr/>
          <p:nvPr/>
        </p:nvSpPr>
        <p:spPr>
          <a:xfrm>
            <a:off x="731520" y="2212132"/>
            <a:ext cx="1825752" cy="505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3,6 </a:t>
            </a:r>
            <a:r>
              <a:rPr lang="en-US" sz="2200" b="1" dirty="0" err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jours</a:t>
            </a:r>
            <a:endParaRPr lang="en-US" sz="2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DC27F29-4447-87BF-9443-DD63BAC35514}"/>
              </a:ext>
            </a:extLst>
          </p:cNvPr>
          <p:cNvSpPr/>
          <p:nvPr/>
        </p:nvSpPr>
        <p:spPr>
          <a:xfrm>
            <a:off x="2557272" y="2168906"/>
            <a:ext cx="1207008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37E16F1-C9AA-0A6F-3834-914C97B2C132}"/>
              </a:ext>
            </a:extLst>
          </p:cNvPr>
          <p:cNvSpPr/>
          <p:nvPr/>
        </p:nvSpPr>
        <p:spPr>
          <a:xfrm>
            <a:off x="2557272" y="2168906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Mois-1 : 3,0 </a:t>
            </a:r>
            <a:r>
              <a:rPr lang="en-US" sz="1050" dirty="0" err="1">
                <a:solidFill>
                  <a:srgbClr val="8A9BA3"/>
                </a:solidFill>
              </a:rPr>
              <a:t>jours</a:t>
            </a:r>
            <a:endParaRPr lang="en-US" sz="1050" dirty="0">
              <a:solidFill>
                <a:srgbClr val="8A9BA3"/>
              </a:solidFill>
            </a:endParaRPr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C0392B"/>
                </a:solidFill>
              </a:rPr>
              <a:t>▼ +20%</a:t>
            </a:r>
            <a:endParaRPr lang="en-US" sz="105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1004A604-6620-C3FB-D759-73D5E91273D1}"/>
              </a:ext>
            </a:extLst>
          </p:cNvPr>
          <p:cNvSpPr/>
          <p:nvPr/>
        </p:nvSpPr>
        <p:spPr>
          <a:xfrm>
            <a:off x="693256" y="3275615"/>
            <a:ext cx="3071024" cy="28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Livraion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camion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les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maximum 14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8EE9CEC-B88F-970D-9416-40C328B6CC5F}"/>
              </a:ext>
            </a:extLst>
          </p:cNvPr>
          <p:cNvSpPr txBox="1"/>
          <p:nvPr/>
        </p:nvSpPr>
        <p:spPr>
          <a:xfrm>
            <a:off x="8231632" y="309118"/>
            <a:ext cx="5317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RE" sz="1200" i="1" dirty="0" err="1">
                <a:solidFill>
                  <a:srgbClr val="7030A0"/>
                </a:solidFill>
                <a:highlight>
                  <a:srgbClr val="FFFF00"/>
                </a:highlight>
              </a:rPr>
              <a:t>Anti-datage</a:t>
            </a:r>
            <a:r>
              <a:rPr lang="fr-RE" sz="1200" i="1" dirty="0">
                <a:solidFill>
                  <a:srgbClr val="7030A0"/>
                </a:solidFill>
                <a:highlight>
                  <a:srgbClr val="FFFF00"/>
                </a:highlight>
              </a:rPr>
              <a:t> des commandes qui sont passées après 16h30.</a:t>
            </a:r>
          </a:p>
          <a:p>
            <a:r>
              <a:rPr lang="fr-RE" sz="1200" i="1" dirty="0">
                <a:solidFill>
                  <a:srgbClr val="7030A0"/>
                </a:solidFill>
                <a:highlight>
                  <a:srgbClr val="FFFF00"/>
                </a:highlight>
              </a:rPr>
              <a:t> </a:t>
            </a:r>
            <a:endParaRPr lang="fr-RE" sz="1200" i="1" dirty="0"/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89F9C51F-474B-E200-3B3D-2028647605DA}"/>
              </a:ext>
            </a:extLst>
          </p:cNvPr>
          <p:cNvSpPr/>
          <p:nvPr/>
        </p:nvSpPr>
        <p:spPr>
          <a:xfrm>
            <a:off x="4816126" y="1508760"/>
            <a:ext cx="6122168" cy="2907354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 dirty="0"/>
          </a:p>
        </p:txBody>
      </p:sp>
      <p:sp>
        <p:nvSpPr>
          <p:cNvPr id="38" name="Shape 5">
            <a:extLst>
              <a:ext uri="{FF2B5EF4-FFF2-40B4-BE49-F238E27FC236}">
                <a16:creationId xmlns:a16="http://schemas.microsoft.com/office/drawing/2014/main" id="{77CB80FD-22B2-94C2-4519-42BCA2F95603}"/>
              </a:ext>
            </a:extLst>
          </p:cNvPr>
          <p:cNvSpPr/>
          <p:nvPr/>
        </p:nvSpPr>
        <p:spPr>
          <a:xfrm>
            <a:off x="5044727" y="1719592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E328BE16-221B-AD6A-41F7-0414A1A92F21}"/>
              </a:ext>
            </a:extLst>
          </p:cNvPr>
          <p:cNvSpPr/>
          <p:nvPr/>
        </p:nvSpPr>
        <p:spPr>
          <a:xfrm>
            <a:off x="5273327" y="1619008"/>
            <a:ext cx="284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Multiples Livraisons</a:t>
            </a:r>
            <a:endParaRPr lang="en-US" sz="1300" dirty="0"/>
          </a:p>
        </p:txBody>
      </p:sp>
      <p:sp>
        <p:nvSpPr>
          <p:cNvPr id="45" name="Shape 8">
            <a:extLst>
              <a:ext uri="{FF2B5EF4-FFF2-40B4-BE49-F238E27FC236}">
                <a16:creationId xmlns:a16="http://schemas.microsoft.com/office/drawing/2014/main" id="{A4FF6ACE-FC16-63B6-1C03-A43C1D50699C}"/>
              </a:ext>
            </a:extLst>
          </p:cNvPr>
          <p:cNvSpPr/>
          <p:nvPr/>
        </p:nvSpPr>
        <p:spPr>
          <a:xfrm>
            <a:off x="6575611" y="2204808"/>
            <a:ext cx="1207008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A73BF1FB-120B-B18B-0D95-2BFB0A0194CF}"/>
              </a:ext>
            </a:extLst>
          </p:cNvPr>
          <p:cNvSpPr/>
          <p:nvPr/>
        </p:nvSpPr>
        <p:spPr>
          <a:xfrm>
            <a:off x="6641879" y="2153307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Mois-1 : 91%</a:t>
            </a:r>
          </a:p>
          <a:p>
            <a:pPr algn="ctr">
              <a:lnSpc>
                <a:spcPct val="95000"/>
              </a:lnSpc>
            </a:pPr>
            <a:r>
              <a:rPr lang="en-US" sz="1600" b="1" dirty="0">
                <a:solidFill>
                  <a:srgbClr val="C0392B"/>
                </a:solidFill>
              </a:rPr>
              <a:t>▼ -4%</a:t>
            </a:r>
            <a:endParaRPr lang="en-US" sz="1050" dirty="0"/>
          </a:p>
        </p:txBody>
      </p:sp>
      <p:sp>
        <p:nvSpPr>
          <p:cNvPr id="50" name="Text 10">
            <a:extLst>
              <a:ext uri="{FF2B5EF4-FFF2-40B4-BE49-F238E27FC236}">
                <a16:creationId xmlns:a16="http://schemas.microsoft.com/office/drawing/2014/main" id="{18438323-66A9-9C94-E20B-92734813FD64}"/>
              </a:ext>
            </a:extLst>
          </p:cNvPr>
          <p:cNvSpPr/>
          <p:nvPr/>
        </p:nvSpPr>
        <p:spPr>
          <a:xfrm>
            <a:off x="4897293" y="3995469"/>
            <a:ext cx="3071024" cy="28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Archivées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Livraison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souhaitées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Tournées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sauf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 et 524 &gt;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6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commerciaux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Nb Bls</a:t>
            </a:r>
          </a:p>
        </p:txBody>
      </p:sp>
      <p:graphicFrame>
        <p:nvGraphicFramePr>
          <p:cNvPr id="54" name="Tableau 53">
            <a:extLst>
              <a:ext uri="{FF2B5EF4-FFF2-40B4-BE49-F238E27FC236}">
                <a16:creationId xmlns:a16="http://schemas.microsoft.com/office/drawing/2014/main" id="{8D0C521C-972F-6B8A-8566-FB92A9571EBB}"/>
              </a:ext>
            </a:extLst>
          </p:cNvPr>
          <p:cNvGraphicFramePr>
            <a:graphicFrameLocks noGrp="1"/>
          </p:cNvGraphicFramePr>
          <p:nvPr/>
        </p:nvGraphicFramePr>
        <p:xfrm>
          <a:off x="8130650" y="1619348"/>
          <a:ext cx="2432697" cy="2648312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115673">
                  <a:extLst>
                    <a:ext uri="{9D8B030D-6E8A-4147-A177-3AD203B41FA5}">
                      <a16:colId xmlns:a16="http://schemas.microsoft.com/office/drawing/2014/main" val="1003669027"/>
                    </a:ext>
                  </a:extLst>
                </a:gridCol>
                <a:gridCol w="705678">
                  <a:extLst>
                    <a:ext uri="{9D8B030D-6E8A-4147-A177-3AD203B41FA5}">
                      <a16:colId xmlns:a16="http://schemas.microsoft.com/office/drawing/2014/main" val="189703816"/>
                    </a:ext>
                  </a:extLst>
                </a:gridCol>
                <a:gridCol w="611346">
                  <a:extLst>
                    <a:ext uri="{9D8B030D-6E8A-4147-A177-3AD203B41FA5}">
                      <a16:colId xmlns:a16="http://schemas.microsoft.com/office/drawing/2014/main" val="4007200962"/>
                    </a:ext>
                  </a:extLst>
                </a:gridCol>
              </a:tblGrid>
              <a:tr h="2903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Nb </a:t>
                      </a:r>
                      <a:r>
                        <a:rPr lang="fr-FR" sz="1400" b="1" i="0" u="none" strike="noStrike" dirty="0" err="1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BLs</a:t>
                      </a:r>
                      <a:r>
                        <a:rPr lang="fr-FR" sz="1400" b="1" i="0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/ cde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Nb </a:t>
                      </a:r>
                      <a:br>
                        <a:rPr lang="fr-FR" sz="1400" b="1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fr-FR" sz="1400" b="1" u="none" strike="noStrike" dirty="0" err="1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Cdes</a:t>
                      </a:r>
                      <a:endParaRPr lang="fr-FR" sz="1400" b="1" i="0" u="none" strike="noStrike" dirty="0">
                        <a:solidFill>
                          <a:srgbClr val="065A82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Part (%)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0367888"/>
                  </a:ext>
                </a:extLst>
              </a:tr>
              <a:tr h="544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3%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63605778"/>
                  </a:ext>
                </a:extLst>
              </a:tr>
              <a:tr h="544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692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87%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6300375"/>
                  </a:ext>
                </a:extLst>
              </a:tr>
              <a:tr h="544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  <a:endParaRPr lang="fr-FR" sz="1400" b="0" i="0" u="none" strike="noStrike" dirty="0">
                        <a:solidFill>
                          <a:srgbClr val="065A82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75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9%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7391207"/>
                  </a:ext>
                </a:extLst>
              </a:tr>
              <a:tr h="2903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  <a:endParaRPr lang="fr-FR" sz="1400" b="0" i="0" u="none" strike="noStrike" dirty="0">
                        <a:solidFill>
                          <a:srgbClr val="065A82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0,6%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9839779"/>
                  </a:ext>
                </a:extLst>
              </a:tr>
              <a:tr h="2903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0,1%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0713898"/>
                  </a:ext>
                </a:extLst>
              </a:tr>
            </a:tbl>
          </a:graphicData>
        </a:graphic>
      </p:graphicFrame>
      <p:sp>
        <p:nvSpPr>
          <p:cNvPr id="57" name="Text 7">
            <a:extLst>
              <a:ext uri="{FF2B5EF4-FFF2-40B4-BE49-F238E27FC236}">
                <a16:creationId xmlns:a16="http://schemas.microsoft.com/office/drawing/2014/main" id="{D6CB4B8C-FFA7-C8B1-CF0E-423A6EC44945}"/>
              </a:ext>
            </a:extLst>
          </p:cNvPr>
          <p:cNvSpPr/>
          <p:nvPr/>
        </p:nvSpPr>
        <p:spPr>
          <a:xfrm>
            <a:off x="4816127" y="2483415"/>
            <a:ext cx="1825752" cy="505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</a:t>
            </a:r>
            <a:endParaRPr lang="en-US" sz="220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DCFDFB24-A934-DC81-F56B-4972BAEEB17D}"/>
              </a:ext>
            </a:extLst>
          </p:cNvPr>
          <p:cNvSpPr/>
          <p:nvPr/>
        </p:nvSpPr>
        <p:spPr>
          <a:xfrm>
            <a:off x="4816125" y="2266361"/>
            <a:ext cx="1825752" cy="505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87 %</a:t>
            </a:r>
            <a:endParaRPr lang="en-US" sz="2200" dirty="0"/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DCB29D0C-B7F8-18CE-F5D4-0753383656FA}"/>
              </a:ext>
            </a:extLst>
          </p:cNvPr>
          <p:cNvSpPr txBox="1"/>
          <p:nvPr/>
        </p:nvSpPr>
        <p:spPr>
          <a:xfrm>
            <a:off x="4883957" y="2721508"/>
            <a:ext cx="21048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65A82"/>
                </a:solidFill>
              </a:rPr>
              <a:t>Des </a:t>
            </a:r>
            <a:r>
              <a:rPr lang="en-US" sz="1400" dirty="0" err="1">
                <a:solidFill>
                  <a:srgbClr val="065A82"/>
                </a:solidFill>
              </a:rPr>
              <a:t>cdes</a:t>
            </a:r>
            <a:r>
              <a:rPr lang="en-US" sz="1400" dirty="0">
                <a:solidFill>
                  <a:srgbClr val="065A82"/>
                </a:solidFill>
              </a:rPr>
              <a:t> </a:t>
            </a:r>
            <a:r>
              <a:rPr lang="en-US" sz="1400" dirty="0" err="1">
                <a:solidFill>
                  <a:srgbClr val="065A82"/>
                </a:solidFill>
              </a:rPr>
              <a:t>livrées</a:t>
            </a:r>
            <a:r>
              <a:rPr lang="en-US" sz="1400" dirty="0">
                <a:solidFill>
                  <a:srgbClr val="065A82"/>
                </a:solidFill>
              </a:rPr>
              <a:t> </a:t>
            </a:r>
            <a:r>
              <a:rPr lang="en-US" sz="1400" dirty="0" err="1">
                <a:solidFill>
                  <a:srgbClr val="065A82"/>
                </a:solidFill>
              </a:rPr>
              <a:t>en</a:t>
            </a:r>
            <a:r>
              <a:rPr lang="en-US" sz="1400" dirty="0">
                <a:solidFill>
                  <a:srgbClr val="065A82"/>
                </a:solidFill>
              </a:rPr>
              <a:t> 1 </a:t>
            </a:r>
            <a:r>
              <a:rPr lang="en-US" sz="1400" dirty="0" err="1">
                <a:solidFill>
                  <a:srgbClr val="065A82"/>
                </a:solidFill>
              </a:rPr>
              <a:t>fois</a:t>
            </a:r>
            <a:endParaRPr lang="en-US" sz="1400" dirty="0">
              <a:solidFill>
                <a:srgbClr val="065A82"/>
              </a:solidFill>
            </a:endParaRP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D4921C6E-2E2B-0BFD-6985-B785658A2B3C}"/>
              </a:ext>
            </a:extLst>
          </p:cNvPr>
          <p:cNvSpPr txBox="1"/>
          <p:nvPr/>
        </p:nvSpPr>
        <p:spPr>
          <a:xfrm>
            <a:off x="4998761" y="3240833"/>
            <a:ext cx="2736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RE" sz="1200" i="1" dirty="0">
                <a:solidFill>
                  <a:srgbClr val="7030A0"/>
                </a:solidFill>
                <a:highlight>
                  <a:srgbClr val="FFFF00"/>
                </a:highlight>
              </a:rPr>
              <a:t>Que archivées</a:t>
            </a:r>
          </a:p>
          <a:p>
            <a:r>
              <a:rPr lang="fr-RE" sz="1200" i="1" dirty="0">
                <a:solidFill>
                  <a:srgbClr val="7030A0"/>
                </a:solidFill>
                <a:highlight>
                  <a:srgbClr val="FFFF00"/>
                </a:highlight>
              </a:rPr>
              <a:t> </a:t>
            </a:r>
            <a:endParaRPr lang="fr-RE" sz="1200" i="1" dirty="0"/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AA9B269C-1C48-E6E4-FCF2-E1F90F5BA72C}"/>
              </a:ext>
            </a:extLst>
          </p:cNvPr>
          <p:cNvSpPr txBox="1"/>
          <p:nvPr/>
        </p:nvSpPr>
        <p:spPr>
          <a:xfrm>
            <a:off x="2675570" y="6627167"/>
            <a:ext cx="414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RE" sz="1200" i="1" dirty="0">
                <a:solidFill>
                  <a:srgbClr val="7030A0"/>
                </a:solidFill>
                <a:highlight>
                  <a:srgbClr val="FFFF00"/>
                </a:highlight>
              </a:rPr>
              <a:t>Rajouter total </a:t>
            </a:r>
            <a:r>
              <a:rPr lang="fr-RE" sz="1200" i="1" dirty="0" err="1">
                <a:solidFill>
                  <a:srgbClr val="7030A0"/>
                </a:solidFill>
                <a:highlight>
                  <a:srgbClr val="FFFF00"/>
                </a:highlight>
              </a:rPr>
              <a:t>àlivrer</a:t>
            </a:r>
            <a:r>
              <a:rPr lang="fr-RE" sz="1200" i="1" dirty="0">
                <a:solidFill>
                  <a:srgbClr val="7030A0"/>
                </a:solidFill>
                <a:highlight>
                  <a:srgbClr val="FFFF00"/>
                </a:highlight>
              </a:rPr>
              <a:t> + archivées (dont xx partiellement livrés)</a:t>
            </a:r>
          </a:p>
          <a:p>
            <a:r>
              <a:rPr lang="fr-RE" sz="1200" i="1" dirty="0">
                <a:solidFill>
                  <a:srgbClr val="7030A0"/>
                </a:solidFill>
                <a:highlight>
                  <a:srgbClr val="FFFF00"/>
                </a:highlight>
              </a:rPr>
              <a:t> </a:t>
            </a:r>
            <a:endParaRPr lang="fr-RE" sz="1200" i="1" dirty="0"/>
          </a:p>
        </p:txBody>
      </p:sp>
    </p:spTree>
    <p:extLst>
      <p:ext uri="{BB962C8B-B14F-4D97-AF65-F5344CB8AC3E}">
        <p14:creationId xmlns:p14="http://schemas.microsoft.com/office/powerpoint/2010/main" val="906478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44168" y="385601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Compta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44168" y="9144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— </a:t>
            </a:r>
            <a:r>
              <a:rPr lang="en-US" sz="1300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Aout</a:t>
            </a:r>
            <a:r>
              <a:rPr lang="en-US" sz="13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57530"/>
            <a:ext cx="5394960" cy="2263140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 dirty="0"/>
          </a:p>
        </p:txBody>
      </p:sp>
      <p:sp>
        <p:nvSpPr>
          <p:cNvPr id="7" name="Shape 5"/>
          <p:cNvSpPr/>
          <p:nvPr/>
        </p:nvSpPr>
        <p:spPr>
          <a:xfrm>
            <a:off x="731520" y="1773936"/>
            <a:ext cx="146304" cy="146304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8" name="Text 6"/>
          <p:cNvSpPr/>
          <p:nvPr/>
        </p:nvSpPr>
        <p:spPr>
          <a:xfrm>
            <a:off x="960120" y="16733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bloqués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8704" y="2129950"/>
            <a:ext cx="3456432" cy="483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97680" y="2089765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>
              <a:solidFill>
                <a:srgbClr val="0E7C86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2601829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>
              <a:solidFill>
                <a:srgbClr val="0E7C86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47384" y="3989431"/>
            <a:ext cx="5394960" cy="2482968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 dirty="0"/>
          </a:p>
        </p:txBody>
      </p:sp>
      <p:sp>
        <p:nvSpPr>
          <p:cNvPr id="14" name="Shape 12"/>
          <p:cNvSpPr/>
          <p:nvPr/>
        </p:nvSpPr>
        <p:spPr>
          <a:xfrm>
            <a:off x="6475984" y="4254607"/>
            <a:ext cx="146304" cy="146304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15" name="Text 13"/>
          <p:cNvSpPr/>
          <p:nvPr/>
        </p:nvSpPr>
        <p:spPr>
          <a:xfrm>
            <a:off x="6704584" y="4154023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impayées (&gt; 60 jrs)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81036" y="5034641"/>
            <a:ext cx="13575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042144" y="4619097"/>
            <a:ext cx="1371600" cy="512064"/>
          </a:xfrm>
          <a:prstGeom prst="roundRect">
            <a:avLst>
              <a:gd name="adj" fmla="val 8929"/>
            </a:avLst>
          </a:prstGeom>
          <a:noFill/>
          <a:ln/>
        </p:spPr>
        <p:txBody>
          <a:bodyPr wrap="square" lIns="0" tIns="0" rIns="0" bIns="0" rtlCol="0" anchor="ctr"/>
          <a:lstStyle/>
          <a:p>
            <a:endParaRPr lang="fr-RE" sz="2400" b="1">
              <a:solidFill>
                <a:srgbClr val="0E7C86"/>
              </a:solidFill>
              <a:latin typeface="Cambria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4604" y="4538071"/>
            <a:ext cx="1627546" cy="488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400" b="1" dirty="0">
              <a:solidFill>
                <a:srgbClr val="0E7C86"/>
              </a:solidFill>
              <a:latin typeface="Cambria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02609" y="6085340"/>
            <a:ext cx="4619420" cy="264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 / Compta / Factures dues /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restant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dû · échéance &gt; 60 j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47384" y="1508760"/>
            <a:ext cx="5394960" cy="2263140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21" name="Shape 19"/>
          <p:cNvSpPr/>
          <p:nvPr/>
        </p:nvSpPr>
        <p:spPr>
          <a:xfrm>
            <a:off x="6475984" y="1773936"/>
            <a:ext cx="146304" cy="146304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22" name="Text 20"/>
          <p:cNvSpPr/>
          <p:nvPr/>
        </p:nvSpPr>
        <p:spPr>
          <a:xfrm>
            <a:off x="6704584" y="16733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Impayées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Total</a:t>
            </a:r>
          </a:p>
        </p:txBody>
      </p:sp>
      <p:sp>
        <p:nvSpPr>
          <p:cNvPr id="23" name="Text 21"/>
          <p:cNvSpPr/>
          <p:nvPr/>
        </p:nvSpPr>
        <p:spPr>
          <a:xfrm>
            <a:off x="6905752" y="2861082"/>
            <a:ext cx="1474254" cy="449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400" b="1" dirty="0">
              <a:solidFill>
                <a:srgbClr val="0E7C86"/>
              </a:solidFill>
              <a:latin typeface="Cambria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B26F1EA0-6D2A-CAFF-3532-3AE089C673BD}"/>
              </a:ext>
            </a:extLst>
          </p:cNvPr>
          <p:cNvSpPr/>
          <p:nvPr/>
        </p:nvSpPr>
        <p:spPr>
          <a:xfrm>
            <a:off x="8533298" y="5340112"/>
            <a:ext cx="85970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2400" dirty="0">
              <a:solidFill>
                <a:srgbClr val="FFC000"/>
              </a:solidFill>
            </a:endParaRPr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2677DD66-D21F-C441-34F1-76AE3321C496}"/>
              </a:ext>
            </a:extLst>
          </p:cNvPr>
          <p:cNvSpPr/>
          <p:nvPr/>
        </p:nvSpPr>
        <p:spPr>
          <a:xfrm>
            <a:off x="2436920" y="2101195"/>
            <a:ext cx="780734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2400" dirty="0">
              <a:solidFill>
                <a:srgbClr val="FFC000"/>
              </a:solidFill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ED54D255-64B9-87D5-278E-D4CC8554B745}"/>
              </a:ext>
            </a:extLst>
          </p:cNvPr>
          <p:cNvSpPr/>
          <p:nvPr/>
        </p:nvSpPr>
        <p:spPr>
          <a:xfrm>
            <a:off x="708704" y="3205333"/>
            <a:ext cx="510696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&gt; Qualification : Client Public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bloqué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ND Cover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Bloqué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ND cover refuse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bloqué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Sans assurance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bloqué</a:t>
            </a:r>
            <a:endParaRPr lang="en-US" sz="1050" i="1" dirty="0">
              <a:solidFill>
                <a:srgbClr val="8A9BA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62C7D541-2BB6-8BDE-E43F-F19F7208D8E6}"/>
              </a:ext>
            </a:extLst>
          </p:cNvPr>
          <p:cNvSpPr/>
          <p:nvPr/>
        </p:nvSpPr>
        <p:spPr>
          <a:xfrm>
            <a:off x="6905752" y="2208156"/>
            <a:ext cx="1436643" cy="449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400" b="1" dirty="0">
              <a:solidFill>
                <a:srgbClr val="0E7C86"/>
              </a:solidFill>
              <a:latin typeface="Cambria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B4401B96-A65D-D51D-0092-FC6AD5125F25}"/>
              </a:ext>
            </a:extLst>
          </p:cNvPr>
          <p:cNvSpPr/>
          <p:nvPr/>
        </p:nvSpPr>
        <p:spPr>
          <a:xfrm>
            <a:off x="9723933" y="214368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>
              <a:solidFill>
                <a:srgbClr val="0E7C86"/>
              </a:solidFill>
            </a:endParaRPr>
          </a:p>
        </p:txBody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7EC6F57C-0039-4947-7CDE-D69F838F9114}"/>
              </a:ext>
            </a:extLst>
          </p:cNvPr>
          <p:cNvSpPr/>
          <p:nvPr/>
        </p:nvSpPr>
        <p:spPr>
          <a:xfrm>
            <a:off x="9689364" y="2781927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>
              <a:solidFill>
                <a:srgbClr val="0E7C86"/>
              </a:solidFill>
            </a:endParaRPr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6C556623-865C-8654-5987-5825DF6F3455}"/>
              </a:ext>
            </a:extLst>
          </p:cNvPr>
          <p:cNvSpPr/>
          <p:nvPr/>
        </p:nvSpPr>
        <p:spPr>
          <a:xfrm>
            <a:off x="7440719" y="513380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i="1" dirty="0">
              <a:solidFill>
                <a:srgbClr val="0E7C8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E437CFF9-3BC3-AC04-922B-21B3A0420253}"/>
              </a:ext>
            </a:extLst>
          </p:cNvPr>
          <p:cNvSpPr/>
          <p:nvPr/>
        </p:nvSpPr>
        <p:spPr>
          <a:xfrm>
            <a:off x="8096801" y="457860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i="1" dirty="0">
              <a:solidFill>
                <a:srgbClr val="0E7C8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3A169652-F03E-68AD-CC5E-B1A775813AEF}"/>
              </a:ext>
            </a:extLst>
          </p:cNvPr>
          <p:cNvSpPr/>
          <p:nvPr/>
        </p:nvSpPr>
        <p:spPr>
          <a:xfrm>
            <a:off x="9813544" y="4557374"/>
            <a:ext cx="1436643" cy="449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400" b="1" dirty="0">
              <a:solidFill>
                <a:srgbClr val="0E7C86"/>
              </a:solidFill>
              <a:latin typeface="Cambria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E1DBDDFE-84E8-699B-01DD-845B316856A2}"/>
              </a:ext>
            </a:extLst>
          </p:cNvPr>
          <p:cNvSpPr/>
          <p:nvPr/>
        </p:nvSpPr>
        <p:spPr>
          <a:xfrm>
            <a:off x="502921" y="3997594"/>
            <a:ext cx="5385432" cy="2403205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 dirty="0"/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F867D715-520C-2367-1D6B-743CD3CE74ED}"/>
              </a:ext>
            </a:extLst>
          </p:cNvPr>
          <p:cNvSpPr/>
          <p:nvPr/>
        </p:nvSpPr>
        <p:spPr>
          <a:xfrm>
            <a:off x="796460" y="4254607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AD40F08E-9AEB-D614-B74C-564A05532A71}"/>
              </a:ext>
            </a:extLst>
          </p:cNvPr>
          <p:cNvSpPr/>
          <p:nvPr/>
        </p:nvSpPr>
        <p:spPr>
          <a:xfrm>
            <a:off x="1025060" y="4154023"/>
            <a:ext cx="284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Livraison à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(Moyenne)</a:t>
            </a:r>
            <a:endParaRPr lang="en-US" sz="1300" dirty="0"/>
          </a:p>
        </p:txBody>
      </p:sp>
      <p:sp>
        <p:nvSpPr>
          <p:cNvPr id="36" name="Shape 8">
            <a:extLst>
              <a:ext uri="{FF2B5EF4-FFF2-40B4-BE49-F238E27FC236}">
                <a16:creationId xmlns:a16="http://schemas.microsoft.com/office/drawing/2014/main" id="{A0AF14CA-0EF5-9914-EFB0-D3166D3CC5D6}"/>
              </a:ext>
            </a:extLst>
          </p:cNvPr>
          <p:cNvSpPr/>
          <p:nvPr/>
        </p:nvSpPr>
        <p:spPr>
          <a:xfrm>
            <a:off x="3874940" y="5044618"/>
            <a:ext cx="1582481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2A83AE70-6FB6-4021-93CA-C47AED2F9491}"/>
              </a:ext>
            </a:extLst>
          </p:cNvPr>
          <p:cNvSpPr/>
          <p:nvPr/>
        </p:nvSpPr>
        <p:spPr>
          <a:xfrm>
            <a:off x="3874940" y="5044618"/>
            <a:ext cx="158248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Mois-1 : 2,9j</a:t>
            </a:r>
          </a:p>
          <a:p>
            <a:pPr algn="ctr">
              <a:lnSpc>
                <a:spcPct val="95000"/>
              </a:lnSpc>
            </a:pPr>
            <a:r>
              <a:rPr lang="en-US" sz="1600" b="1" dirty="0">
                <a:solidFill>
                  <a:srgbClr val="C00000"/>
                </a:solidFill>
              </a:rPr>
              <a:t>▲</a:t>
            </a:r>
            <a:r>
              <a:rPr lang="en-US" sz="1600" b="1" dirty="0">
                <a:solidFill>
                  <a:srgbClr val="C0392B"/>
                </a:solidFill>
              </a:rPr>
              <a:t> -%</a:t>
            </a:r>
            <a:endParaRPr lang="en-US" sz="105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9736722E-BCD3-48C6-827A-7D0D23D91E95}"/>
              </a:ext>
            </a:extLst>
          </p:cNvPr>
          <p:cNvSpPr/>
          <p:nvPr/>
        </p:nvSpPr>
        <p:spPr>
          <a:xfrm>
            <a:off x="708704" y="5741439"/>
            <a:ext cx="510696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&gt; Exploitation locale + TCD &gt; Date de facture – Date Livraison  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DC67B17-D869-2144-94C0-4B1975AF1CCB}"/>
              </a:ext>
            </a:extLst>
          </p:cNvPr>
          <p:cNvSpPr txBox="1"/>
          <p:nvPr/>
        </p:nvSpPr>
        <p:spPr>
          <a:xfrm>
            <a:off x="2676658" y="4447073"/>
            <a:ext cx="329347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>
                <a:solidFill>
                  <a:srgbClr val="7030A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!!! 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Première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les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cdes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livrer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“au plus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+ à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mieux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code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tournée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endParaRPr lang="en-US" sz="1100" i="1" dirty="0">
              <a:solidFill>
                <a:srgbClr val="7030A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EA0DE997-0130-6CEF-637E-B9AE3EA0739A}"/>
              </a:ext>
            </a:extLst>
          </p:cNvPr>
          <p:cNvSpPr/>
          <p:nvPr/>
        </p:nvSpPr>
        <p:spPr>
          <a:xfrm>
            <a:off x="6785859" y="4945540"/>
            <a:ext cx="1627546" cy="488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libri" pitchFamily="34" charset="-122"/>
                <a:cs typeface="Calibri" pitchFamily="34" charset="-120"/>
              </a:rPr>
              <a:t>27,0 k€</a:t>
            </a:r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39C7A401-62A9-A9FC-725B-4A4E00025F26}"/>
              </a:ext>
            </a:extLst>
          </p:cNvPr>
          <p:cNvSpPr/>
          <p:nvPr/>
        </p:nvSpPr>
        <p:spPr>
          <a:xfrm>
            <a:off x="6763162" y="5398422"/>
            <a:ext cx="2729357" cy="564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libri" pitchFamily="34" charset="-122"/>
                <a:cs typeface="Calibri" pitchFamily="34" charset="-120"/>
              </a:rPr>
              <a:t>50 clients </a:t>
            </a:r>
            <a:r>
              <a:rPr lang="en-US" sz="2400" b="1" dirty="0" err="1">
                <a:solidFill>
                  <a:srgbClr val="0E7C86"/>
                </a:solidFill>
                <a:latin typeface="Cambria" pitchFamily="34" charset="0"/>
                <a:ea typeface="Calibri" pitchFamily="34" charset="-122"/>
                <a:cs typeface="Calibri" pitchFamily="34" charset="-120"/>
              </a:rPr>
              <a:t>distincts</a:t>
            </a:r>
            <a:endParaRPr lang="en-US" sz="2400" b="1" dirty="0">
              <a:solidFill>
                <a:srgbClr val="0E7C86"/>
              </a:solidFill>
              <a:latin typeface="Cambria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505973A1-6819-C134-269D-ECAE70E0256A}"/>
              </a:ext>
            </a:extLst>
          </p:cNvPr>
          <p:cNvSpPr/>
          <p:nvPr/>
        </p:nvSpPr>
        <p:spPr>
          <a:xfrm>
            <a:off x="6757170" y="4497972"/>
            <a:ext cx="1627546" cy="488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libri" pitchFamily="34" charset="-122"/>
                <a:cs typeface="Calibri" pitchFamily="34" charset="-120"/>
              </a:rPr>
              <a:t>77 fact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06D81ACE-BEC3-A162-4C12-CCF2FC8E26A3}"/>
              </a:ext>
            </a:extLst>
          </p:cNvPr>
          <p:cNvSpPr txBox="1"/>
          <p:nvPr/>
        </p:nvSpPr>
        <p:spPr>
          <a:xfrm>
            <a:off x="8684062" y="4045651"/>
            <a:ext cx="32934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>
                <a:solidFill>
                  <a:srgbClr val="7030A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!!! 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retranche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 les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négaatif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!</a:t>
            </a:r>
          </a:p>
        </p:txBody>
      </p: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3A95D18A-04F2-3760-44E8-C9DCBCC50EEA}"/>
              </a:ext>
            </a:extLst>
          </p:cNvPr>
          <p:cNvGrpSpPr/>
          <p:nvPr/>
        </p:nvGrpSpPr>
        <p:grpSpPr>
          <a:xfrm>
            <a:off x="9948800" y="5577212"/>
            <a:ext cx="1582481" cy="528922"/>
            <a:chOff x="10060292" y="5685415"/>
            <a:chExt cx="1582481" cy="528922"/>
          </a:xfrm>
        </p:grpSpPr>
        <p:sp>
          <p:nvSpPr>
            <p:cNvPr id="59" name="Shape 15">
              <a:extLst>
                <a:ext uri="{FF2B5EF4-FFF2-40B4-BE49-F238E27FC236}">
                  <a16:creationId xmlns:a16="http://schemas.microsoft.com/office/drawing/2014/main" id="{23C70ECA-95C7-8975-DC3D-957E63E874B9}"/>
                </a:ext>
              </a:extLst>
            </p:cNvPr>
            <p:cNvSpPr/>
            <p:nvPr/>
          </p:nvSpPr>
          <p:spPr>
            <a:xfrm>
              <a:off x="10204811" y="5685415"/>
              <a:ext cx="137160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>
                <a:solidFill>
                  <a:srgbClr val="0E7C86"/>
                </a:solidFill>
              </a:endParaRPr>
            </a:p>
          </p:txBody>
        </p:sp>
        <p:sp>
          <p:nvSpPr>
            <p:cNvPr id="61" name="Text 9">
              <a:extLst>
                <a:ext uri="{FF2B5EF4-FFF2-40B4-BE49-F238E27FC236}">
                  <a16:creationId xmlns:a16="http://schemas.microsoft.com/office/drawing/2014/main" id="{6D9E3B50-90B4-13A5-62F0-70D953AD399F}"/>
                </a:ext>
              </a:extLst>
            </p:cNvPr>
            <p:cNvSpPr/>
            <p:nvPr/>
          </p:nvSpPr>
          <p:spPr>
            <a:xfrm>
              <a:off x="10060292" y="5702273"/>
              <a:ext cx="1582481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050" dirty="0">
                  <a:solidFill>
                    <a:srgbClr val="8A9BA3"/>
                  </a:solidFill>
                </a:rPr>
                <a:t>Mois-1 : 51 clients</a:t>
              </a:r>
            </a:p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rgbClr val="00B050"/>
                  </a:solidFill>
                </a:rPr>
                <a:t>▼</a:t>
              </a:r>
              <a:r>
                <a:rPr lang="en-US" sz="1600" b="1" dirty="0">
                  <a:solidFill>
                    <a:srgbClr val="C0392B"/>
                  </a:solidFill>
                </a:rPr>
                <a:t> </a:t>
              </a:r>
              <a:r>
                <a:rPr lang="en-US" sz="1600" b="1" dirty="0">
                  <a:solidFill>
                    <a:srgbClr val="00B050"/>
                  </a:solidFill>
                </a:rPr>
                <a:t>-2%</a:t>
              </a:r>
              <a:endParaRPr lang="en-US" sz="105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D7866545-F8E6-B7E8-654D-B0494222B492}"/>
              </a:ext>
            </a:extLst>
          </p:cNvPr>
          <p:cNvGrpSpPr/>
          <p:nvPr/>
        </p:nvGrpSpPr>
        <p:grpSpPr>
          <a:xfrm>
            <a:off x="9944959" y="4393209"/>
            <a:ext cx="1582481" cy="528922"/>
            <a:chOff x="10060292" y="5685415"/>
            <a:chExt cx="1582481" cy="528922"/>
          </a:xfrm>
        </p:grpSpPr>
        <p:sp>
          <p:nvSpPr>
            <p:cNvPr id="64" name="Shape 15">
              <a:extLst>
                <a:ext uri="{FF2B5EF4-FFF2-40B4-BE49-F238E27FC236}">
                  <a16:creationId xmlns:a16="http://schemas.microsoft.com/office/drawing/2014/main" id="{6CE2979D-7148-809E-387A-DBCCE12D8C12}"/>
                </a:ext>
              </a:extLst>
            </p:cNvPr>
            <p:cNvSpPr/>
            <p:nvPr/>
          </p:nvSpPr>
          <p:spPr>
            <a:xfrm>
              <a:off x="10204811" y="5685415"/>
              <a:ext cx="137160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>
                <a:solidFill>
                  <a:srgbClr val="0E7C86"/>
                </a:solidFill>
              </a:endParaRPr>
            </a:p>
          </p:txBody>
        </p:sp>
        <p:sp>
          <p:nvSpPr>
            <p:cNvPr id="65" name="Text 9">
              <a:extLst>
                <a:ext uri="{FF2B5EF4-FFF2-40B4-BE49-F238E27FC236}">
                  <a16:creationId xmlns:a16="http://schemas.microsoft.com/office/drawing/2014/main" id="{4A2F0847-B12A-DC1B-F400-B254D9E47051}"/>
                </a:ext>
              </a:extLst>
            </p:cNvPr>
            <p:cNvSpPr/>
            <p:nvPr/>
          </p:nvSpPr>
          <p:spPr>
            <a:xfrm>
              <a:off x="10060292" y="5702273"/>
              <a:ext cx="1582481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050" dirty="0">
                  <a:solidFill>
                    <a:srgbClr val="8A9BA3"/>
                  </a:solidFill>
                </a:rPr>
                <a:t>Mois-1 : 83 fact</a:t>
              </a:r>
            </a:p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rgbClr val="00B050"/>
                  </a:solidFill>
                </a:rPr>
                <a:t>▼</a:t>
              </a:r>
              <a:r>
                <a:rPr lang="en-US" sz="1600" b="1" dirty="0">
                  <a:solidFill>
                    <a:srgbClr val="C0392B"/>
                  </a:solidFill>
                </a:rPr>
                <a:t> </a:t>
              </a:r>
              <a:r>
                <a:rPr lang="en-US" sz="1600" b="1" dirty="0">
                  <a:solidFill>
                    <a:srgbClr val="00B050"/>
                  </a:solidFill>
                </a:rPr>
                <a:t>-7%</a:t>
              </a:r>
              <a:endParaRPr lang="en-US" sz="105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66" name="Groupe 65">
            <a:extLst>
              <a:ext uri="{FF2B5EF4-FFF2-40B4-BE49-F238E27FC236}">
                <a16:creationId xmlns:a16="http://schemas.microsoft.com/office/drawing/2014/main" id="{96455516-5769-D3B5-CEB6-821049538443}"/>
              </a:ext>
            </a:extLst>
          </p:cNvPr>
          <p:cNvGrpSpPr/>
          <p:nvPr/>
        </p:nvGrpSpPr>
        <p:grpSpPr>
          <a:xfrm>
            <a:off x="9944959" y="4987776"/>
            <a:ext cx="1582481" cy="528922"/>
            <a:chOff x="10060292" y="5685415"/>
            <a:chExt cx="1582481" cy="528922"/>
          </a:xfrm>
        </p:grpSpPr>
        <p:sp>
          <p:nvSpPr>
            <p:cNvPr id="67" name="Shape 15">
              <a:extLst>
                <a:ext uri="{FF2B5EF4-FFF2-40B4-BE49-F238E27FC236}">
                  <a16:creationId xmlns:a16="http://schemas.microsoft.com/office/drawing/2014/main" id="{6FA9CBB8-974B-CDCD-003F-92DF97CC4AA5}"/>
                </a:ext>
              </a:extLst>
            </p:cNvPr>
            <p:cNvSpPr/>
            <p:nvPr/>
          </p:nvSpPr>
          <p:spPr>
            <a:xfrm>
              <a:off x="10204811" y="5685415"/>
              <a:ext cx="137160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>
                <a:solidFill>
                  <a:srgbClr val="0E7C86"/>
                </a:solidFill>
              </a:endParaRPr>
            </a:p>
          </p:txBody>
        </p:sp>
        <p:sp>
          <p:nvSpPr>
            <p:cNvPr id="68" name="Text 9">
              <a:extLst>
                <a:ext uri="{FF2B5EF4-FFF2-40B4-BE49-F238E27FC236}">
                  <a16:creationId xmlns:a16="http://schemas.microsoft.com/office/drawing/2014/main" id="{47CFA950-D2FB-0840-9533-9CE037243FF2}"/>
                </a:ext>
              </a:extLst>
            </p:cNvPr>
            <p:cNvSpPr/>
            <p:nvPr/>
          </p:nvSpPr>
          <p:spPr>
            <a:xfrm>
              <a:off x="10060292" y="5702273"/>
              <a:ext cx="1582481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050" dirty="0">
                  <a:solidFill>
                    <a:srgbClr val="8A9BA3"/>
                  </a:solidFill>
                </a:rPr>
                <a:t>Mois-1 : 39 k€</a:t>
              </a:r>
            </a:p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rgbClr val="00B050"/>
                  </a:solidFill>
                </a:rPr>
                <a:t>▼</a:t>
              </a:r>
              <a:r>
                <a:rPr lang="en-US" sz="1600" b="1" dirty="0">
                  <a:solidFill>
                    <a:srgbClr val="C0392B"/>
                  </a:solidFill>
                </a:rPr>
                <a:t> </a:t>
              </a:r>
              <a:r>
                <a:rPr lang="en-US" sz="1600" b="1" dirty="0">
                  <a:solidFill>
                    <a:srgbClr val="00B050"/>
                  </a:solidFill>
                </a:rPr>
                <a:t>-31%</a:t>
              </a:r>
              <a:endParaRPr lang="en-US" sz="1050" dirty="0">
                <a:solidFill>
                  <a:srgbClr val="00B050"/>
                </a:solidFill>
              </a:endParaRPr>
            </a:p>
          </p:txBody>
        </p:sp>
      </p:grpSp>
      <p:sp>
        <p:nvSpPr>
          <p:cNvPr id="70" name="Text 17">
            <a:extLst>
              <a:ext uri="{FF2B5EF4-FFF2-40B4-BE49-F238E27FC236}">
                <a16:creationId xmlns:a16="http://schemas.microsoft.com/office/drawing/2014/main" id="{F6A59BB5-1346-A0FA-ADA7-97FC489F263E}"/>
              </a:ext>
            </a:extLst>
          </p:cNvPr>
          <p:cNvSpPr/>
          <p:nvPr/>
        </p:nvSpPr>
        <p:spPr>
          <a:xfrm>
            <a:off x="6476113" y="3461819"/>
            <a:ext cx="4619420" cy="264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 / Compta / Factures dues /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NbJEch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0</a:t>
            </a:r>
            <a:endParaRPr lang="en-US" sz="1050" dirty="0"/>
          </a:p>
        </p:txBody>
      </p:sp>
      <p:sp>
        <p:nvSpPr>
          <p:cNvPr id="72" name="Text 16">
            <a:extLst>
              <a:ext uri="{FF2B5EF4-FFF2-40B4-BE49-F238E27FC236}">
                <a16:creationId xmlns:a16="http://schemas.microsoft.com/office/drawing/2014/main" id="{7114798E-57E0-C0D5-FF73-BA959123A79E}"/>
              </a:ext>
            </a:extLst>
          </p:cNvPr>
          <p:cNvSpPr/>
          <p:nvPr/>
        </p:nvSpPr>
        <p:spPr>
          <a:xfrm>
            <a:off x="6631264" y="2131983"/>
            <a:ext cx="2214620" cy="48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libri" pitchFamily="34" charset="-122"/>
                <a:cs typeface="Calibri" pitchFamily="34" charset="-120"/>
              </a:rPr>
              <a:t>403 fact</a:t>
            </a:r>
          </a:p>
        </p:txBody>
      </p:sp>
      <p:sp>
        <p:nvSpPr>
          <p:cNvPr id="74" name="Text 16">
            <a:extLst>
              <a:ext uri="{FF2B5EF4-FFF2-40B4-BE49-F238E27FC236}">
                <a16:creationId xmlns:a16="http://schemas.microsoft.com/office/drawing/2014/main" id="{595EDDB2-F970-C160-435A-266440CB2945}"/>
              </a:ext>
            </a:extLst>
          </p:cNvPr>
          <p:cNvSpPr/>
          <p:nvPr/>
        </p:nvSpPr>
        <p:spPr>
          <a:xfrm>
            <a:off x="6631264" y="2677639"/>
            <a:ext cx="1627546" cy="488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libri" pitchFamily="34" charset="-122"/>
                <a:cs typeface="Calibri" pitchFamily="34" charset="-120"/>
              </a:rPr>
              <a:t>210,7 k€</a:t>
            </a:r>
          </a:p>
        </p:txBody>
      </p:sp>
      <p:sp>
        <p:nvSpPr>
          <p:cNvPr id="76" name="Text 16">
            <a:extLst>
              <a:ext uri="{FF2B5EF4-FFF2-40B4-BE49-F238E27FC236}">
                <a16:creationId xmlns:a16="http://schemas.microsoft.com/office/drawing/2014/main" id="{D673AAC5-BEAB-F786-575A-3C15A37DD2E2}"/>
              </a:ext>
            </a:extLst>
          </p:cNvPr>
          <p:cNvSpPr/>
          <p:nvPr/>
        </p:nvSpPr>
        <p:spPr>
          <a:xfrm>
            <a:off x="8238576" y="178537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 err="1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</a:t>
            </a: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Fact 2026</a:t>
            </a:r>
            <a:endParaRPr lang="en-US" sz="1200" dirty="0">
              <a:solidFill>
                <a:srgbClr val="0E7C86"/>
              </a:solidFill>
            </a:endParaRPr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ACF94C8F-322C-F9CE-C5DE-58F161DF211D}"/>
              </a:ext>
            </a:extLst>
          </p:cNvPr>
          <p:cNvSpPr/>
          <p:nvPr/>
        </p:nvSpPr>
        <p:spPr>
          <a:xfrm>
            <a:off x="8160084" y="216273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95,5%</a:t>
            </a:r>
            <a:endParaRPr lang="en-US" sz="1200" dirty="0">
              <a:solidFill>
                <a:srgbClr val="0E7C86"/>
              </a:solidFill>
            </a:endParaRPr>
          </a:p>
        </p:txBody>
      </p:sp>
      <p:sp>
        <p:nvSpPr>
          <p:cNvPr id="80" name="Text 16">
            <a:extLst>
              <a:ext uri="{FF2B5EF4-FFF2-40B4-BE49-F238E27FC236}">
                <a16:creationId xmlns:a16="http://schemas.microsoft.com/office/drawing/2014/main" id="{CFE11370-AA89-3A4F-22B9-4CB59C7588A7}"/>
              </a:ext>
            </a:extLst>
          </p:cNvPr>
          <p:cNvSpPr/>
          <p:nvPr/>
        </p:nvSpPr>
        <p:spPr>
          <a:xfrm>
            <a:off x="8155327" y="266747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96,8%</a:t>
            </a:r>
            <a:endParaRPr lang="en-US" sz="1200" dirty="0">
              <a:solidFill>
                <a:srgbClr val="0E7C86"/>
              </a:solidFill>
            </a:endParaRPr>
          </a:p>
        </p:txBody>
      </p:sp>
      <p:sp>
        <p:nvSpPr>
          <p:cNvPr id="82" name="Text 16">
            <a:extLst>
              <a:ext uri="{FF2B5EF4-FFF2-40B4-BE49-F238E27FC236}">
                <a16:creationId xmlns:a16="http://schemas.microsoft.com/office/drawing/2014/main" id="{DFE1B21E-4F00-8607-EAF5-07E27157C883}"/>
              </a:ext>
            </a:extLst>
          </p:cNvPr>
          <p:cNvSpPr/>
          <p:nvPr/>
        </p:nvSpPr>
        <p:spPr>
          <a:xfrm>
            <a:off x="8129982" y="4616683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19,1%</a:t>
            </a:r>
            <a:endParaRPr lang="en-US" sz="1200" dirty="0">
              <a:solidFill>
                <a:srgbClr val="0E7C86"/>
              </a:solidFill>
            </a:endParaRPr>
          </a:p>
        </p:txBody>
      </p:sp>
      <p:sp>
        <p:nvSpPr>
          <p:cNvPr id="84" name="Text 16">
            <a:extLst>
              <a:ext uri="{FF2B5EF4-FFF2-40B4-BE49-F238E27FC236}">
                <a16:creationId xmlns:a16="http://schemas.microsoft.com/office/drawing/2014/main" id="{3C91B80C-5BF3-4180-624F-5A7D7B13839D}"/>
              </a:ext>
            </a:extLst>
          </p:cNvPr>
          <p:cNvSpPr/>
          <p:nvPr/>
        </p:nvSpPr>
        <p:spPr>
          <a:xfrm>
            <a:off x="8120919" y="492898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12,8%</a:t>
            </a:r>
            <a:endParaRPr lang="en-US" sz="1200" dirty="0">
              <a:solidFill>
                <a:srgbClr val="0E7C86"/>
              </a:solidFill>
            </a:endParaRPr>
          </a:p>
        </p:txBody>
      </p:sp>
      <p:sp>
        <p:nvSpPr>
          <p:cNvPr id="86" name="Text 16">
            <a:extLst>
              <a:ext uri="{FF2B5EF4-FFF2-40B4-BE49-F238E27FC236}">
                <a16:creationId xmlns:a16="http://schemas.microsoft.com/office/drawing/2014/main" id="{78AF27C5-1DF3-07E1-3667-E0D3FE4E2A94}"/>
              </a:ext>
            </a:extLst>
          </p:cNvPr>
          <p:cNvSpPr/>
          <p:nvPr/>
        </p:nvSpPr>
        <p:spPr>
          <a:xfrm>
            <a:off x="8212959" y="431276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du tot</a:t>
            </a:r>
            <a:endParaRPr lang="en-US" sz="1200" dirty="0">
              <a:solidFill>
                <a:srgbClr val="0E7C86"/>
              </a:solidFill>
            </a:endParaRPr>
          </a:p>
        </p:txBody>
      </p:sp>
      <p:grpSp>
        <p:nvGrpSpPr>
          <p:cNvPr id="87" name="Groupe 86">
            <a:extLst>
              <a:ext uri="{FF2B5EF4-FFF2-40B4-BE49-F238E27FC236}">
                <a16:creationId xmlns:a16="http://schemas.microsoft.com/office/drawing/2014/main" id="{99CAE86F-FC22-DE5E-2349-17B78457F773}"/>
              </a:ext>
            </a:extLst>
          </p:cNvPr>
          <p:cNvGrpSpPr/>
          <p:nvPr/>
        </p:nvGrpSpPr>
        <p:grpSpPr>
          <a:xfrm>
            <a:off x="9791016" y="2173700"/>
            <a:ext cx="1582481" cy="528922"/>
            <a:chOff x="10060292" y="5685415"/>
            <a:chExt cx="1582481" cy="528922"/>
          </a:xfrm>
        </p:grpSpPr>
        <p:sp>
          <p:nvSpPr>
            <p:cNvPr id="88" name="Shape 15">
              <a:extLst>
                <a:ext uri="{FF2B5EF4-FFF2-40B4-BE49-F238E27FC236}">
                  <a16:creationId xmlns:a16="http://schemas.microsoft.com/office/drawing/2014/main" id="{8456FD73-E943-B809-2DE2-177F946707E7}"/>
                </a:ext>
              </a:extLst>
            </p:cNvPr>
            <p:cNvSpPr/>
            <p:nvPr/>
          </p:nvSpPr>
          <p:spPr>
            <a:xfrm>
              <a:off x="10204811" y="5685415"/>
              <a:ext cx="137160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>
                <a:solidFill>
                  <a:srgbClr val="0E7C86"/>
                </a:solidFill>
              </a:endParaRPr>
            </a:p>
          </p:txBody>
        </p:sp>
        <p:sp>
          <p:nvSpPr>
            <p:cNvPr id="89" name="Text 9">
              <a:extLst>
                <a:ext uri="{FF2B5EF4-FFF2-40B4-BE49-F238E27FC236}">
                  <a16:creationId xmlns:a16="http://schemas.microsoft.com/office/drawing/2014/main" id="{08855188-2803-D180-5895-17FA8A9262B6}"/>
                </a:ext>
              </a:extLst>
            </p:cNvPr>
            <p:cNvSpPr/>
            <p:nvPr/>
          </p:nvSpPr>
          <p:spPr>
            <a:xfrm>
              <a:off x="10060292" y="5702273"/>
              <a:ext cx="1582481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050" dirty="0">
                  <a:solidFill>
                    <a:srgbClr val="8A9BA3"/>
                  </a:solidFill>
                </a:rPr>
                <a:t>Mois-1 : 416 fact</a:t>
              </a:r>
            </a:p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rgbClr val="00B050"/>
                  </a:solidFill>
                </a:rPr>
                <a:t>▼</a:t>
              </a:r>
              <a:r>
                <a:rPr lang="en-US" sz="1600" b="1" dirty="0">
                  <a:solidFill>
                    <a:srgbClr val="C0392B"/>
                  </a:solidFill>
                </a:rPr>
                <a:t> </a:t>
              </a:r>
              <a:r>
                <a:rPr lang="en-US" sz="1600" b="1" dirty="0">
                  <a:solidFill>
                    <a:srgbClr val="00B050"/>
                  </a:solidFill>
                </a:rPr>
                <a:t>-3,1%</a:t>
              </a:r>
              <a:endParaRPr lang="en-US" sz="105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90" name="Groupe 89">
            <a:extLst>
              <a:ext uri="{FF2B5EF4-FFF2-40B4-BE49-F238E27FC236}">
                <a16:creationId xmlns:a16="http://schemas.microsoft.com/office/drawing/2014/main" id="{7DB596E9-EBF6-E36A-339E-00D4AB987639}"/>
              </a:ext>
            </a:extLst>
          </p:cNvPr>
          <p:cNvGrpSpPr/>
          <p:nvPr/>
        </p:nvGrpSpPr>
        <p:grpSpPr>
          <a:xfrm>
            <a:off x="9769173" y="2903295"/>
            <a:ext cx="1582481" cy="528922"/>
            <a:chOff x="10060292" y="5685415"/>
            <a:chExt cx="1582481" cy="528922"/>
          </a:xfrm>
        </p:grpSpPr>
        <p:sp>
          <p:nvSpPr>
            <p:cNvPr id="91" name="Shape 15">
              <a:extLst>
                <a:ext uri="{FF2B5EF4-FFF2-40B4-BE49-F238E27FC236}">
                  <a16:creationId xmlns:a16="http://schemas.microsoft.com/office/drawing/2014/main" id="{D16CA62A-25E5-7B51-C3F6-60DC93B1FD04}"/>
                </a:ext>
              </a:extLst>
            </p:cNvPr>
            <p:cNvSpPr/>
            <p:nvPr/>
          </p:nvSpPr>
          <p:spPr>
            <a:xfrm>
              <a:off x="10204811" y="5685415"/>
              <a:ext cx="137160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>
                <a:solidFill>
                  <a:srgbClr val="0E7C86"/>
                </a:solidFill>
              </a:endParaRPr>
            </a:p>
          </p:txBody>
        </p:sp>
        <p:sp>
          <p:nvSpPr>
            <p:cNvPr id="92" name="Text 9">
              <a:extLst>
                <a:ext uri="{FF2B5EF4-FFF2-40B4-BE49-F238E27FC236}">
                  <a16:creationId xmlns:a16="http://schemas.microsoft.com/office/drawing/2014/main" id="{915AD33B-B3BE-BC94-4C86-311F7C158D0D}"/>
                </a:ext>
              </a:extLst>
            </p:cNvPr>
            <p:cNvSpPr/>
            <p:nvPr/>
          </p:nvSpPr>
          <p:spPr>
            <a:xfrm>
              <a:off x="10060292" y="5702273"/>
              <a:ext cx="1582481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050" dirty="0">
                  <a:solidFill>
                    <a:srgbClr val="8A9BA3"/>
                  </a:solidFill>
                </a:rPr>
                <a:t>Mois-1 : 228,0 k€</a:t>
              </a:r>
            </a:p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rgbClr val="00B050"/>
                  </a:solidFill>
                </a:rPr>
                <a:t>▼</a:t>
              </a:r>
              <a:r>
                <a:rPr lang="en-US" sz="1600" b="1" dirty="0">
                  <a:solidFill>
                    <a:srgbClr val="C0392B"/>
                  </a:solidFill>
                </a:rPr>
                <a:t> </a:t>
              </a:r>
              <a:r>
                <a:rPr lang="en-US" sz="1600" b="1" dirty="0">
                  <a:solidFill>
                    <a:srgbClr val="00B050"/>
                  </a:solidFill>
                </a:rPr>
                <a:t>-7,6%</a:t>
              </a:r>
              <a:endParaRPr lang="en-US" sz="1050" dirty="0">
                <a:solidFill>
                  <a:srgbClr val="00B050"/>
                </a:solidFill>
              </a:endParaRPr>
            </a:p>
          </p:txBody>
        </p:sp>
      </p:grpSp>
      <p:sp>
        <p:nvSpPr>
          <p:cNvPr id="94" name="Text 16">
            <a:extLst>
              <a:ext uri="{FF2B5EF4-FFF2-40B4-BE49-F238E27FC236}">
                <a16:creationId xmlns:a16="http://schemas.microsoft.com/office/drawing/2014/main" id="{2D449154-117D-2805-FF3E-72A24CCCD0A5}"/>
              </a:ext>
            </a:extLst>
          </p:cNvPr>
          <p:cNvSpPr/>
          <p:nvPr/>
        </p:nvSpPr>
        <p:spPr>
          <a:xfrm>
            <a:off x="832104" y="2172938"/>
            <a:ext cx="2214620" cy="48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libri" pitchFamily="34" charset="-122"/>
                <a:cs typeface="Calibri" pitchFamily="34" charset="-120"/>
              </a:rPr>
              <a:t>141 clients</a:t>
            </a:r>
          </a:p>
        </p:txBody>
      </p:sp>
      <p:sp>
        <p:nvSpPr>
          <p:cNvPr id="96" name="Text 16">
            <a:extLst>
              <a:ext uri="{FF2B5EF4-FFF2-40B4-BE49-F238E27FC236}">
                <a16:creationId xmlns:a16="http://schemas.microsoft.com/office/drawing/2014/main" id="{C3AC2D68-5F4A-72E7-EE9B-65BEA36764B6}"/>
              </a:ext>
            </a:extLst>
          </p:cNvPr>
          <p:cNvSpPr/>
          <p:nvPr/>
        </p:nvSpPr>
        <p:spPr>
          <a:xfrm>
            <a:off x="640102" y="2592979"/>
            <a:ext cx="22146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 err="1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</a:t>
            </a: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66 </a:t>
            </a:r>
            <a:r>
              <a:rPr lang="en-US" sz="1200" i="1" dirty="0" err="1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</a:t>
            </a: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200" dirty="0">
              <a:solidFill>
                <a:srgbClr val="0E7C86"/>
              </a:solidFill>
            </a:endParaRPr>
          </a:p>
        </p:txBody>
      </p:sp>
      <p:sp>
        <p:nvSpPr>
          <p:cNvPr id="98" name="Text 16">
            <a:extLst>
              <a:ext uri="{FF2B5EF4-FFF2-40B4-BE49-F238E27FC236}">
                <a16:creationId xmlns:a16="http://schemas.microsoft.com/office/drawing/2014/main" id="{0DA3CA18-AF66-C684-9335-D3A212B48D42}"/>
              </a:ext>
            </a:extLst>
          </p:cNvPr>
          <p:cNvSpPr/>
          <p:nvPr/>
        </p:nvSpPr>
        <p:spPr>
          <a:xfrm>
            <a:off x="2538871" y="2153773"/>
            <a:ext cx="22146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 err="1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</a:t>
            </a:r>
            <a:r>
              <a:rPr lang="en-US" sz="1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 2026</a:t>
            </a:r>
            <a:br>
              <a:rPr lang="en-US" sz="1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230,2 k€</a:t>
            </a:r>
            <a:endParaRPr lang="en-US" sz="1200" dirty="0">
              <a:solidFill>
                <a:srgbClr val="0E7C86"/>
              </a:solidFill>
            </a:endParaRPr>
          </a:p>
        </p:txBody>
      </p:sp>
      <p:sp>
        <p:nvSpPr>
          <p:cNvPr id="102" name="Text 16">
            <a:extLst>
              <a:ext uri="{FF2B5EF4-FFF2-40B4-BE49-F238E27FC236}">
                <a16:creationId xmlns:a16="http://schemas.microsoft.com/office/drawing/2014/main" id="{3E2F2D8D-5403-12E2-9EB8-826F5895A200}"/>
              </a:ext>
            </a:extLst>
          </p:cNvPr>
          <p:cNvSpPr/>
          <p:nvPr/>
        </p:nvSpPr>
        <p:spPr>
          <a:xfrm>
            <a:off x="2540275" y="2699838"/>
            <a:ext cx="22146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>
              <a:solidFill>
                <a:srgbClr val="0E7C86"/>
              </a:solidFill>
            </a:endParaRPr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2D592A58-3210-DC43-15B5-CA70FE97DB90}"/>
              </a:ext>
            </a:extLst>
          </p:cNvPr>
          <p:cNvSpPr/>
          <p:nvPr/>
        </p:nvSpPr>
        <p:spPr>
          <a:xfrm>
            <a:off x="2510908" y="2608997"/>
            <a:ext cx="22146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 err="1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</a:t>
            </a:r>
            <a:r>
              <a:rPr lang="en-US" sz="1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</a:t>
            </a:r>
            <a:br>
              <a:rPr lang="en-US" sz="1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62,1 k€</a:t>
            </a:r>
            <a:endParaRPr lang="en-US" sz="1200" dirty="0">
              <a:solidFill>
                <a:srgbClr val="0E7C86"/>
              </a:solidFill>
            </a:endParaRPr>
          </a:p>
        </p:txBody>
      </p:sp>
      <p:grpSp>
        <p:nvGrpSpPr>
          <p:cNvPr id="105" name="Groupe 104">
            <a:extLst>
              <a:ext uri="{FF2B5EF4-FFF2-40B4-BE49-F238E27FC236}">
                <a16:creationId xmlns:a16="http://schemas.microsoft.com/office/drawing/2014/main" id="{D4168EA2-AF1E-CE9B-2BC5-2C7369BFFF58}"/>
              </a:ext>
            </a:extLst>
          </p:cNvPr>
          <p:cNvGrpSpPr/>
          <p:nvPr/>
        </p:nvGrpSpPr>
        <p:grpSpPr>
          <a:xfrm>
            <a:off x="4182194" y="2248381"/>
            <a:ext cx="1582481" cy="528922"/>
            <a:chOff x="10060292" y="5685415"/>
            <a:chExt cx="1582481" cy="528922"/>
          </a:xfrm>
        </p:grpSpPr>
        <p:sp>
          <p:nvSpPr>
            <p:cNvPr id="106" name="Shape 15">
              <a:extLst>
                <a:ext uri="{FF2B5EF4-FFF2-40B4-BE49-F238E27FC236}">
                  <a16:creationId xmlns:a16="http://schemas.microsoft.com/office/drawing/2014/main" id="{8AC279A4-E9D9-DE8C-9510-714FDA17B0CC}"/>
                </a:ext>
              </a:extLst>
            </p:cNvPr>
            <p:cNvSpPr/>
            <p:nvPr/>
          </p:nvSpPr>
          <p:spPr>
            <a:xfrm>
              <a:off x="10204811" y="5685415"/>
              <a:ext cx="137160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>
                <a:solidFill>
                  <a:srgbClr val="0E7C86"/>
                </a:solidFill>
              </a:endParaRPr>
            </a:p>
          </p:txBody>
        </p:sp>
        <p:sp>
          <p:nvSpPr>
            <p:cNvPr id="107" name="Text 9">
              <a:extLst>
                <a:ext uri="{FF2B5EF4-FFF2-40B4-BE49-F238E27FC236}">
                  <a16:creationId xmlns:a16="http://schemas.microsoft.com/office/drawing/2014/main" id="{8F73EF1F-38A4-4F9D-F6E8-6401B2352B78}"/>
                </a:ext>
              </a:extLst>
            </p:cNvPr>
            <p:cNvSpPr/>
            <p:nvPr/>
          </p:nvSpPr>
          <p:spPr>
            <a:xfrm>
              <a:off x="10060292" y="5702273"/>
              <a:ext cx="1582481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050" dirty="0">
                  <a:solidFill>
                    <a:srgbClr val="8A9BA3"/>
                  </a:solidFill>
                </a:rPr>
                <a:t>Mois-1 : 148 clients</a:t>
              </a:r>
            </a:p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rgbClr val="00B050"/>
                  </a:solidFill>
                </a:rPr>
                <a:t>▼</a:t>
              </a:r>
              <a:r>
                <a:rPr lang="en-US" sz="1600" b="1" dirty="0">
                  <a:solidFill>
                    <a:srgbClr val="C0392B"/>
                  </a:solidFill>
                </a:rPr>
                <a:t> </a:t>
              </a:r>
              <a:r>
                <a:rPr lang="en-US" sz="1600" b="1" dirty="0">
                  <a:solidFill>
                    <a:srgbClr val="00B050"/>
                  </a:solidFill>
                </a:rPr>
                <a:t>-4,7%</a:t>
              </a:r>
              <a:endParaRPr lang="en-US" sz="1050" dirty="0">
                <a:solidFill>
                  <a:srgbClr val="00B050"/>
                </a:solidFill>
              </a:endParaRPr>
            </a:p>
          </p:txBody>
        </p:sp>
      </p:grpSp>
      <p:sp>
        <p:nvSpPr>
          <p:cNvPr id="24" name="Text 16">
            <a:extLst>
              <a:ext uri="{FF2B5EF4-FFF2-40B4-BE49-F238E27FC236}">
                <a16:creationId xmlns:a16="http://schemas.microsoft.com/office/drawing/2014/main" id="{856020ED-6D02-DBB2-4B51-9411B9DEB64A}"/>
              </a:ext>
            </a:extLst>
          </p:cNvPr>
          <p:cNvSpPr/>
          <p:nvPr/>
        </p:nvSpPr>
        <p:spPr>
          <a:xfrm>
            <a:off x="1432965" y="4991079"/>
            <a:ext cx="2214620" cy="48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libri" pitchFamily="34" charset="-122"/>
                <a:cs typeface="Calibri" pitchFamily="34" charset="-120"/>
              </a:rPr>
              <a:t>2,5 </a:t>
            </a:r>
            <a:r>
              <a:rPr lang="en-US" sz="2400" b="1" dirty="0" err="1">
                <a:solidFill>
                  <a:srgbClr val="0E7C86"/>
                </a:solidFill>
                <a:latin typeface="Cambria" pitchFamily="34" charset="0"/>
                <a:ea typeface="Calibri" pitchFamily="34" charset="-122"/>
                <a:cs typeface="Calibri" pitchFamily="34" charset="-120"/>
              </a:rPr>
              <a:t>jours</a:t>
            </a:r>
            <a:endParaRPr lang="en-US" sz="2400" b="1" dirty="0">
              <a:solidFill>
                <a:srgbClr val="0E7C86"/>
              </a:solidFill>
              <a:latin typeface="Cambria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C1666B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25880" y="420624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44168" y="9144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— </a:t>
            </a:r>
            <a:r>
              <a:rPr lang="en-US" sz="1300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Août</a:t>
            </a:r>
            <a:r>
              <a:rPr lang="en-US" sz="13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300" dirty="0"/>
          </a:p>
        </p:txBody>
      </p:sp>
      <p:sp>
        <p:nvSpPr>
          <p:cNvPr id="54" name="Shape 20">
            <a:extLst>
              <a:ext uri="{FF2B5EF4-FFF2-40B4-BE49-F238E27FC236}">
                <a16:creationId xmlns:a16="http://schemas.microsoft.com/office/drawing/2014/main" id="{267FC0D3-6C28-FB4F-27AF-42DCF14E7052}"/>
              </a:ext>
            </a:extLst>
          </p:cNvPr>
          <p:cNvSpPr/>
          <p:nvPr/>
        </p:nvSpPr>
        <p:spPr>
          <a:xfrm>
            <a:off x="5602507" y="418536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960007CB-9D10-A600-0A00-C1A4FA606540}"/>
              </a:ext>
            </a:extLst>
          </p:cNvPr>
          <p:cNvSpPr txBox="1"/>
          <p:nvPr/>
        </p:nvSpPr>
        <p:spPr>
          <a:xfrm>
            <a:off x="4035439" y="3057315"/>
            <a:ext cx="2990088" cy="226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50" i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endParaRPr lang="fr-FR" dirty="0"/>
          </a:p>
        </p:txBody>
      </p:sp>
      <p:sp>
        <p:nvSpPr>
          <p:cNvPr id="124" name="Shape 19">
            <a:extLst>
              <a:ext uri="{FF2B5EF4-FFF2-40B4-BE49-F238E27FC236}">
                <a16:creationId xmlns:a16="http://schemas.microsoft.com/office/drawing/2014/main" id="{C0080AF5-0053-46AC-2A57-E87784D809C0}"/>
              </a:ext>
            </a:extLst>
          </p:cNvPr>
          <p:cNvSpPr/>
          <p:nvPr/>
        </p:nvSpPr>
        <p:spPr>
          <a:xfrm>
            <a:off x="3982325" y="2629730"/>
            <a:ext cx="3276600" cy="1927782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126" name="Shape 20">
            <a:extLst>
              <a:ext uri="{FF2B5EF4-FFF2-40B4-BE49-F238E27FC236}">
                <a16:creationId xmlns:a16="http://schemas.microsoft.com/office/drawing/2014/main" id="{7532F9CE-EF33-38C9-4C12-20F26FAD3F3B}"/>
              </a:ext>
            </a:extLst>
          </p:cNvPr>
          <p:cNvSpPr/>
          <p:nvPr/>
        </p:nvSpPr>
        <p:spPr>
          <a:xfrm>
            <a:off x="4210925" y="286434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128" name="Text 21">
            <a:extLst>
              <a:ext uri="{FF2B5EF4-FFF2-40B4-BE49-F238E27FC236}">
                <a16:creationId xmlns:a16="http://schemas.microsoft.com/office/drawing/2014/main" id="{5A3653CA-6583-FEA1-48ED-40D77427641A}"/>
              </a:ext>
            </a:extLst>
          </p:cNvPr>
          <p:cNvSpPr/>
          <p:nvPr/>
        </p:nvSpPr>
        <p:spPr>
          <a:xfrm>
            <a:off x="4439525" y="2763764"/>
            <a:ext cx="2534920" cy="357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Déplacements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facturés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(Neo)</a:t>
            </a:r>
            <a:endParaRPr lang="en-US" sz="1300" dirty="0"/>
          </a:p>
        </p:txBody>
      </p:sp>
      <p:sp>
        <p:nvSpPr>
          <p:cNvPr id="130" name="Text 22">
            <a:extLst>
              <a:ext uri="{FF2B5EF4-FFF2-40B4-BE49-F238E27FC236}">
                <a16:creationId xmlns:a16="http://schemas.microsoft.com/office/drawing/2014/main" id="{45522933-911B-28CA-3841-D4E4D289F3CB}"/>
              </a:ext>
            </a:extLst>
          </p:cNvPr>
          <p:cNvSpPr/>
          <p:nvPr/>
        </p:nvSpPr>
        <p:spPr>
          <a:xfrm>
            <a:off x="4148550" y="3061858"/>
            <a:ext cx="903246" cy="557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</a:rPr>
              <a:t>157 u</a:t>
            </a:r>
            <a:endParaRPr lang="en-US" sz="2400" dirty="0"/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DF1348C7-5283-C7CD-579D-DDDE06B16226}"/>
              </a:ext>
            </a:extLst>
          </p:cNvPr>
          <p:cNvSpPr txBox="1"/>
          <p:nvPr/>
        </p:nvSpPr>
        <p:spPr>
          <a:xfrm>
            <a:off x="4058525" y="4205419"/>
            <a:ext cx="3108960" cy="25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50" i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fr-FR" dirty="0"/>
              <a:t>KPI / SAV / TCD  / filtres article = 13045+13047+13049+13080 (SAV) et 40742 (EBC)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D8D99D53-0FB7-5407-EEFB-5CC4FD3DB705}"/>
              </a:ext>
            </a:extLst>
          </p:cNvPr>
          <p:cNvGrpSpPr/>
          <p:nvPr/>
        </p:nvGrpSpPr>
        <p:grpSpPr>
          <a:xfrm>
            <a:off x="5114172" y="3095534"/>
            <a:ext cx="1972542" cy="1001040"/>
            <a:chOff x="4981950" y="1993366"/>
            <a:chExt cx="1972542" cy="1001040"/>
          </a:xfrm>
        </p:grpSpPr>
        <p:sp>
          <p:nvSpPr>
            <p:cNvPr id="132" name="Shape 23">
              <a:extLst>
                <a:ext uri="{FF2B5EF4-FFF2-40B4-BE49-F238E27FC236}">
                  <a16:creationId xmlns:a16="http://schemas.microsoft.com/office/drawing/2014/main" id="{A7F36B56-2215-28BA-F40D-B6A900CA523F}"/>
                </a:ext>
              </a:extLst>
            </p:cNvPr>
            <p:cNvSpPr/>
            <p:nvPr/>
          </p:nvSpPr>
          <p:spPr>
            <a:xfrm>
              <a:off x="4981950" y="1993366"/>
              <a:ext cx="1972542" cy="889075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 sz="2800"/>
            </a:p>
          </p:txBody>
        </p:sp>
        <p:grpSp>
          <p:nvGrpSpPr>
            <p:cNvPr id="29" name="Groupe 28">
              <a:extLst>
                <a:ext uri="{FF2B5EF4-FFF2-40B4-BE49-F238E27FC236}">
                  <a16:creationId xmlns:a16="http://schemas.microsoft.com/office/drawing/2014/main" id="{7692ED6C-85DA-FA4F-391A-E7387E6F0B43}"/>
                </a:ext>
              </a:extLst>
            </p:cNvPr>
            <p:cNvGrpSpPr/>
            <p:nvPr/>
          </p:nvGrpSpPr>
          <p:grpSpPr>
            <a:xfrm>
              <a:off x="5161821" y="1993366"/>
              <a:ext cx="1702469" cy="1001040"/>
              <a:chOff x="5161821" y="1993366"/>
              <a:chExt cx="1702469" cy="1001040"/>
            </a:xfrm>
          </p:grpSpPr>
          <p:sp>
            <p:nvSpPr>
              <p:cNvPr id="134" name="Text 24">
                <a:extLst>
                  <a:ext uri="{FF2B5EF4-FFF2-40B4-BE49-F238E27FC236}">
                    <a16:creationId xmlns:a16="http://schemas.microsoft.com/office/drawing/2014/main" id="{3494FA12-0C5D-01C9-A4B1-D6076D9C58F7}"/>
                  </a:ext>
                </a:extLst>
              </p:cNvPr>
              <p:cNvSpPr/>
              <p:nvPr/>
            </p:nvSpPr>
            <p:spPr>
              <a:xfrm>
                <a:off x="6010199" y="2392045"/>
                <a:ext cx="854091" cy="6023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95000"/>
                  </a:lnSpc>
                  <a:buNone/>
                </a:pPr>
                <a:r>
                  <a:rPr lang="en-US" sz="1050" dirty="0">
                    <a:solidFill>
                      <a:srgbClr val="8A9BA3"/>
                    </a:solidFill>
                  </a:rPr>
                  <a:t>N-1 : 92</a:t>
                </a:r>
                <a:endParaRPr lang="en-US" sz="1050" dirty="0"/>
              </a:p>
              <a:p>
                <a:pPr algn="ctr">
                  <a:lnSpc>
                    <a:spcPct val="95000"/>
                  </a:lnSpc>
                </a:pPr>
                <a:r>
                  <a:rPr lang="en-US" sz="1050" b="1" dirty="0">
                    <a:solidFill>
                      <a:srgbClr val="C0392B"/>
                    </a:solidFill>
                  </a:rPr>
                  <a:t>▼ −30 %</a:t>
                </a:r>
                <a:endParaRPr lang="en-US" sz="800" dirty="0"/>
              </a:p>
            </p:txBody>
          </p:sp>
          <p:sp>
            <p:nvSpPr>
              <p:cNvPr id="138" name="Text 22">
                <a:extLst>
                  <a:ext uri="{FF2B5EF4-FFF2-40B4-BE49-F238E27FC236}">
                    <a16:creationId xmlns:a16="http://schemas.microsoft.com/office/drawing/2014/main" id="{2CF30576-33F7-5F82-EE8F-4E7FFB90F651}"/>
                  </a:ext>
                </a:extLst>
              </p:cNvPr>
              <p:cNvSpPr/>
              <p:nvPr/>
            </p:nvSpPr>
            <p:spPr>
              <a:xfrm>
                <a:off x="5210550" y="2014106"/>
                <a:ext cx="903246" cy="5573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400" b="1" dirty="0">
                    <a:solidFill>
                      <a:srgbClr val="1C7293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93 EBC</a:t>
                </a:r>
                <a:endParaRPr lang="en-US" sz="1400" dirty="0"/>
              </a:p>
            </p:txBody>
          </p:sp>
          <p:sp>
            <p:nvSpPr>
              <p:cNvPr id="140" name="Text 22">
                <a:extLst>
                  <a:ext uri="{FF2B5EF4-FFF2-40B4-BE49-F238E27FC236}">
                    <a16:creationId xmlns:a16="http://schemas.microsoft.com/office/drawing/2014/main" id="{3D83D43A-16A0-39A4-6AFC-97590A4221C3}"/>
                  </a:ext>
                </a:extLst>
              </p:cNvPr>
              <p:cNvSpPr/>
              <p:nvPr/>
            </p:nvSpPr>
            <p:spPr>
              <a:xfrm>
                <a:off x="5161821" y="2387513"/>
                <a:ext cx="903246" cy="5573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400" b="1" dirty="0">
                    <a:solidFill>
                      <a:srgbClr val="1C7293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64 SAV</a:t>
                </a:r>
                <a:endParaRPr lang="en-US" sz="1400" dirty="0"/>
              </a:p>
            </p:txBody>
          </p:sp>
          <p:sp>
            <p:nvSpPr>
              <p:cNvPr id="142" name="Text 24">
                <a:extLst>
                  <a:ext uri="{FF2B5EF4-FFF2-40B4-BE49-F238E27FC236}">
                    <a16:creationId xmlns:a16="http://schemas.microsoft.com/office/drawing/2014/main" id="{4F1E0741-4CF8-0284-1076-70253B73EA02}"/>
                  </a:ext>
                </a:extLst>
              </p:cNvPr>
              <p:cNvSpPr/>
              <p:nvPr/>
            </p:nvSpPr>
            <p:spPr>
              <a:xfrm>
                <a:off x="5999622" y="1993366"/>
                <a:ext cx="854091" cy="6023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95000"/>
                  </a:lnSpc>
                  <a:buNone/>
                </a:pPr>
                <a:r>
                  <a:rPr lang="en-US" sz="1050" dirty="0">
                    <a:solidFill>
                      <a:srgbClr val="8A9BA3"/>
                    </a:solidFill>
                  </a:rPr>
                  <a:t>N-1 : 48</a:t>
                </a:r>
                <a:endParaRPr lang="en-US" sz="1050" dirty="0"/>
              </a:p>
              <a:p>
                <a:pPr algn="ctr">
                  <a:lnSpc>
                    <a:spcPct val="95000"/>
                  </a:lnSpc>
                </a:pPr>
                <a:r>
                  <a:rPr lang="en-US" sz="1050" b="1" dirty="0">
                    <a:solidFill>
                      <a:srgbClr val="2E7D32"/>
                    </a:solidFill>
                  </a:rPr>
                  <a:t>▲ +94 %</a:t>
                </a:r>
                <a:endParaRPr lang="en-US" sz="800" dirty="0"/>
              </a:p>
            </p:txBody>
          </p:sp>
        </p:grpSp>
      </p:grpSp>
      <p:sp>
        <p:nvSpPr>
          <p:cNvPr id="144" name="Shape 23">
            <a:extLst>
              <a:ext uri="{FF2B5EF4-FFF2-40B4-BE49-F238E27FC236}">
                <a16:creationId xmlns:a16="http://schemas.microsoft.com/office/drawing/2014/main" id="{33EA8B37-571D-D7C8-A755-1E2F8438E369}"/>
              </a:ext>
            </a:extLst>
          </p:cNvPr>
          <p:cNvSpPr/>
          <p:nvPr/>
        </p:nvSpPr>
        <p:spPr>
          <a:xfrm>
            <a:off x="4101950" y="3538224"/>
            <a:ext cx="885996" cy="483039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146" name="Text 24">
            <a:extLst>
              <a:ext uri="{FF2B5EF4-FFF2-40B4-BE49-F238E27FC236}">
                <a16:creationId xmlns:a16="http://schemas.microsoft.com/office/drawing/2014/main" id="{C53EB6A2-915F-0D53-CA60-5F39880627DC}"/>
              </a:ext>
            </a:extLst>
          </p:cNvPr>
          <p:cNvSpPr/>
          <p:nvPr/>
        </p:nvSpPr>
        <p:spPr>
          <a:xfrm>
            <a:off x="4101950" y="3486035"/>
            <a:ext cx="854091" cy="602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140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sz="1050" b="1" dirty="0">
                <a:solidFill>
                  <a:srgbClr val="2E7D32"/>
                </a:solidFill>
              </a:rPr>
              <a:t>▲ +12%</a:t>
            </a:r>
            <a:endParaRPr lang="en-US" sz="80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25523B4E-B6B9-C958-4850-D9C2E8EA4608}"/>
              </a:ext>
            </a:extLst>
          </p:cNvPr>
          <p:cNvSpPr/>
          <p:nvPr/>
        </p:nvSpPr>
        <p:spPr>
          <a:xfrm>
            <a:off x="7359253" y="1478382"/>
            <a:ext cx="4534233" cy="2629891"/>
          </a:xfrm>
          <a:prstGeom prst="roundRect">
            <a:avLst>
              <a:gd name="adj" fmla="val 3200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37031200-F51E-2C82-9DC2-2A065B3D91BB}"/>
              </a:ext>
            </a:extLst>
          </p:cNvPr>
          <p:cNvSpPr/>
          <p:nvPr/>
        </p:nvSpPr>
        <p:spPr>
          <a:xfrm>
            <a:off x="7815438" y="1466739"/>
            <a:ext cx="3956642" cy="395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Productivité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(=Main d’oeuvre /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Fiches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d’inter</a:t>
            </a:r>
            <a:endParaRPr lang="en-US" sz="1300" dirty="0"/>
          </a:p>
        </p:txBody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E4BD9F57-63E9-D092-05D8-B92E991C6820}"/>
              </a:ext>
            </a:extLst>
          </p:cNvPr>
          <p:cNvSpPr/>
          <p:nvPr/>
        </p:nvSpPr>
        <p:spPr>
          <a:xfrm>
            <a:off x="7471408" y="1611833"/>
            <a:ext cx="146304" cy="146304"/>
          </a:xfrm>
          <a:prstGeom prst="ellipse">
            <a:avLst/>
          </a:prstGeom>
          <a:solidFill>
            <a:srgbClr val="C1666B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D4C8FCF6-64EB-082A-934F-3AC88D1F19AE}"/>
              </a:ext>
            </a:extLst>
          </p:cNvPr>
          <p:cNvSpPr txBox="1"/>
          <p:nvPr/>
        </p:nvSpPr>
        <p:spPr>
          <a:xfrm>
            <a:off x="7430939" y="6315386"/>
            <a:ext cx="441356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>
                <a:solidFill>
                  <a:srgbClr val="7030A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!!! 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tarifaire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MO non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compte par Laetitia.. A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regarder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ds le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</a:t>
            </a:r>
            <a:endParaRPr lang="en-US" sz="1100" i="1" dirty="0">
              <a:solidFill>
                <a:srgbClr val="7030A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6B6D2BF3-BB2F-C3E0-E2B8-F4D8A44F184F}"/>
              </a:ext>
            </a:extLst>
          </p:cNvPr>
          <p:cNvGraphicFramePr>
            <a:graphicFrameLocks noGrp="1"/>
          </p:cNvGraphicFramePr>
          <p:nvPr/>
        </p:nvGraphicFramePr>
        <p:xfrm>
          <a:off x="7776365" y="1841467"/>
          <a:ext cx="3763987" cy="1872428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552349">
                  <a:extLst>
                    <a:ext uri="{9D8B030D-6E8A-4147-A177-3AD203B41FA5}">
                      <a16:colId xmlns:a16="http://schemas.microsoft.com/office/drawing/2014/main" val="1003669027"/>
                    </a:ext>
                  </a:extLst>
                </a:gridCol>
                <a:gridCol w="649512">
                  <a:extLst>
                    <a:ext uri="{9D8B030D-6E8A-4147-A177-3AD203B41FA5}">
                      <a16:colId xmlns:a16="http://schemas.microsoft.com/office/drawing/2014/main" val="189703816"/>
                    </a:ext>
                  </a:extLst>
                </a:gridCol>
                <a:gridCol w="813970">
                  <a:extLst>
                    <a:ext uri="{9D8B030D-6E8A-4147-A177-3AD203B41FA5}">
                      <a16:colId xmlns:a16="http://schemas.microsoft.com/office/drawing/2014/main" val="2090279100"/>
                    </a:ext>
                  </a:extLst>
                </a:gridCol>
                <a:gridCol w="748156">
                  <a:extLst>
                    <a:ext uri="{9D8B030D-6E8A-4147-A177-3AD203B41FA5}">
                      <a16:colId xmlns:a16="http://schemas.microsoft.com/office/drawing/2014/main" val="1425829101"/>
                    </a:ext>
                  </a:extLst>
                </a:gridCol>
              </a:tblGrid>
              <a:tr h="3256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EBC</a:t>
                      </a:r>
                      <a:endParaRPr lang="fr-FR" sz="1400" b="1" i="0" u="none" strike="noStrike" dirty="0">
                        <a:solidFill>
                          <a:srgbClr val="065A82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SAV</a:t>
                      </a:r>
                      <a:endParaRPr lang="fr-FR" sz="1400" b="1" i="0" u="none" strike="noStrike" dirty="0">
                        <a:solidFill>
                          <a:srgbClr val="065A82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TOT</a:t>
                      </a:r>
                      <a:endParaRPr lang="fr-FR" sz="1400" b="1" i="0" u="none" strike="noStrike" dirty="0">
                        <a:solidFill>
                          <a:srgbClr val="065A82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0367888"/>
                  </a:ext>
                </a:extLst>
              </a:tr>
              <a:tr h="6105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Nb heures travaillées </a:t>
                      </a:r>
                      <a:r>
                        <a:rPr lang="fr-FR" sz="1400" b="1" u="none" strike="noStrike" dirty="0" err="1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tot</a:t>
                      </a:r>
                      <a:endParaRPr lang="fr-FR" sz="1400" b="1" i="0" u="none" strike="noStrike" dirty="0">
                        <a:solidFill>
                          <a:srgbClr val="065A82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280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287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567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6300375"/>
                  </a:ext>
                </a:extLst>
              </a:tr>
              <a:tr h="6105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Nb heures interventions </a:t>
                      </a:r>
                      <a:r>
                        <a:rPr lang="fr-FR" sz="1400" b="1" u="none" strike="noStrike" dirty="0" err="1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tot</a:t>
                      </a:r>
                      <a:endParaRPr lang="fr-FR" sz="1400" b="1" i="0" u="none" strike="noStrike" dirty="0">
                        <a:solidFill>
                          <a:srgbClr val="065A82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148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81,5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230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7391207"/>
                  </a:ext>
                </a:extLst>
              </a:tr>
              <a:tr h="3256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Productivité</a:t>
                      </a:r>
                      <a:endParaRPr lang="fr-FR" sz="1400" b="1" i="0" u="none" strike="noStrike" dirty="0">
                        <a:solidFill>
                          <a:srgbClr val="065A82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2A6F4E"/>
                          </a:solidFill>
                          <a:effectLst/>
                          <a:latin typeface="Aptos Narrow" panose="020B0004020202020204" pitchFamily="34" charset="0"/>
                        </a:rPr>
                        <a:t>53%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28%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41%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9839779"/>
                  </a:ext>
                </a:extLst>
              </a:tr>
            </a:tbl>
          </a:graphicData>
        </a:graphic>
      </p:graphicFrame>
      <p:sp>
        <p:nvSpPr>
          <p:cNvPr id="14" name="ZoneTexte 13">
            <a:extLst>
              <a:ext uri="{FF2B5EF4-FFF2-40B4-BE49-F238E27FC236}">
                <a16:creationId xmlns:a16="http://schemas.microsoft.com/office/drawing/2014/main" id="{5B76C26F-C214-BA41-294A-237B83758C29}"/>
              </a:ext>
            </a:extLst>
          </p:cNvPr>
          <p:cNvSpPr txBox="1"/>
          <p:nvPr/>
        </p:nvSpPr>
        <p:spPr>
          <a:xfrm>
            <a:off x="7617712" y="3768394"/>
            <a:ext cx="3956643" cy="25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50" i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fr-FR" dirty="0"/>
              <a:t>/ Fiches d’interventions Claude + TCD</a:t>
            </a:r>
          </a:p>
        </p:txBody>
      </p:sp>
      <p:sp>
        <p:nvSpPr>
          <p:cNvPr id="65" name="Shape 20">
            <a:extLst>
              <a:ext uri="{FF2B5EF4-FFF2-40B4-BE49-F238E27FC236}">
                <a16:creationId xmlns:a16="http://schemas.microsoft.com/office/drawing/2014/main" id="{9408C056-B7E3-4FEB-1AF3-301953E71396}"/>
              </a:ext>
            </a:extLst>
          </p:cNvPr>
          <p:cNvSpPr/>
          <p:nvPr/>
        </p:nvSpPr>
        <p:spPr>
          <a:xfrm>
            <a:off x="5585657" y="4815329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1D56E7BB-4C42-24B7-449E-BC7FB701BDBC}"/>
              </a:ext>
            </a:extLst>
          </p:cNvPr>
          <p:cNvSpPr txBox="1"/>
          <p:nvPr/>
        </p:nvSpPr>
        <p:spPr>
          <a:xfrm>
            <a:off x="4083067" y="4582617"/>
            <a:ext cx="2990088" cy="226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50" i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endParaRPr lang="fr-FR" dirty="0"/>
          </a:p>
        </p:txBody>
      </p:sp>
      <p:sp>
        <p:nvSpPr>
          <p:cNvPr id="67" name="Shape 19">
            <a:extLst>
              <a:ext uri="{FF2B5EF4-FFF2-40B4-BE49-F238E27FC236}">
                <a16:creationId xmlns:a16="http://schemas.microsoft.com/office/drawing/2014/main" id="{B0F0C9A9-8EC6-3530-F314-D3AB7D1A667A}"/>
              </a:ext>
            </a:extLst>
          </p:cNvPr>
          <p:cNvSpPr/>
          <p:nvPr/>
        </p:nvSpPr>
        <p:spPr>
          <a:xfrm>
            <a:off x="3987425" y="4709941"/>
            <a:ext cx="3276600" cy="1927782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69" name="Shape 20">
            <a:extLst>
              <a:ext uri="{FF2B5EF4-FFF2-40B4-BE49-F238E27FC236}">
                <a16:creationId xmlns:a16="http://schemas.microsoft.com/office/drawing/2014/main" id="{44952A5B-E2DF-D344-629A-8E2B08F84A4E}"/>
              </a:ext>
            </a:extLst>
          </p:cNvPr>
          <p:cNvSpPr/>
          <p:nvPr/>
        </p:nvSpPr>
        <p:spPr>
          <a:xfrm>
            <a:off x="4194866" y="493683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71" name="Text 21">
            <a:extLst>
              <a:ext uri="{FF2B5EF4-FFF2-40B4-BE49-F238E27FC236}">
                <a16:creationId xmlns:a16="http://schemas.microsoft.com/office/drawing/2014/main" id="{DC291384-EFEA-D8BF-D2B7-5D0B2E27E453}"/>
              </a:ext>
            </a:extLst>
          </p:cNvPr>
          <p:cNvSpPr/>
          <p:nvPr/>
        </p:nvSpPr>
        <p:spPr>
          <a:xfrm>
            <a:off x="4444625" y="4843975"/>
            <a:ext cx="2534920" cy="357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d’oeuvre (Neo)</a:t>
            </a:r>
            <a:endParaRPr lang="en-US" sz="1300" dirty="0"/>
          </a:p>
        </p:txBody>
      </p:sp>
      <p:sp>
        <p:nvSpPr>
          <p:cNvPr id="72" name="Text 22">
            <a:extLst>
              <a:ext uri="{FF2B5EF4-FFF2-40B4-BE49-F238E27FC236}">
                <a16:creationId xmlns:a16="http://schemas.microsoft.com/office/drawing/2014/main" id="{52598924-879B-96BF-5D89-DC5863E31172}"/>
              </a:ext>
            </a:extLst>
          </p:cNvPr>
          <p:cNvSpPr/>
          <p:nvPr/>
        </p:nvSpPr>
        <p:spPr>
          <a:xfrm>
            <a:off x="4153650" y="5142069"/>
            <a:ext cx="903246" cy="557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</a:rPr>
              <a:t>251,5h</a:t>
            </a:r>
            <a:endParaRPr lang="en-US" sz="2400" dirty="0"/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447AB24A-02E4-ACB3-95E2-2A6B877F8F3C}"/>
              </a:ext>
            </a:extLst>
          </p:cNvPr>
          <p:cNvSpPr txBox="1"/>
          <p:nvPr/>
        </p:nvSpPr>
        <p:spPr>
          <a:xfrm>
            <a:off x="4063625" y="6285630"/>
            <a:ext cx="3108960" cy="25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50" i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fr-FR" dirty="0"/>
              <a:t>KPI / SAV / TCD  / filtres article = 13045+13047+13049+13080 (SAV) et 40742 (EBC)</a:t>
            </a:r>
          </a:p>
        </p:txBody>
      </p: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BFE17345-B79B-220F-4B36-7E15FEA87C56}"/>
              </a:ext>
            </a:extLst>
          </p:cNvPr>
          <p:cNvGrpSpPr/>
          <p:nvPr/>
        </p:nvGrpSpPr>
        <p:grpSpPr>
          <a:xfrm>
            <a:off x="5119272" y="5175745"/>
            <a:ext cx="1972542" cy="1001040"/>
            <a:chOff x="4981950" y="1993366"/>
            <a:chExt cx="1972542" cy="1001040"/>
          </a:xfrm>
        </p:grpSpPr>
        <p:sp>
          <p:nvSpPr>
            <p:cNvPr id="75" name="Shape 23">
              <a:extLst>
                <a:ext uri="{FF2B5EF4-FFF2-40B4-BE49-F238E27FC236}">
                  <a16:creationId xmlns:a16="http://schemas.microsoft.com/office/drawing/2014/main" id="{9FF6A94F-A158-6AED-41F1-146FF725DFCF}"/>
                </a:ext>
              </a:extLst>
            </p:cNvPr>
            <p:cNvSpPr/>
            <p:nvPr/>
          </p:nvSpPr>
          <p:spPr>
            <a:xfrm>
              <a:off x="4981950" y="1993366"/>
              <a:ext cx="1972542" cy="889075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 sz="2800"/>
            </a:p>
          </p:txBody>
        </p:sp>
        <p:grpSp>
          <p:nvGrpSpPr>
            <p:cNvPr id="76" name="Groupe 75">
              <a:extLst>
                <a:ext uri="{FF2B5EF4-FFF2-40B4-BE49-F238E27FC236}">
                  <a16:creationId xmlns:a16="http://schemas.microsoft.com/office/drawing/2014/main" id="{447A2EA8-61C2-3EE7-8A9A-6BDCFA2EE58D}"/>
                </a:ext>
              </a:extLst>
            </p:cNvPr>
            <p:cNvGrpSpPr/>
            <p:nvPr/>
          </p:nvGrpSpPr>
          <p:grpSpPr>
            <a:xfrm>
              <a:off x="5161821" y="1993366"/>
              <a:ext cx="1702469" cy="1001040"/>
              <a:chOff x="5161821" y="1993366"/>
              <a:chExt cx="1702469" cy="1001040"/>
            </a:xfrm>
          </p:grpSpPr>
          <p:sp>
            <p:nvSpPr>
              <p:cNvPr id="77" name="Text 24">
                <a:extLst>
                  <a:ext uri="{FF2B5EF4-FFF2-40B4-BE49-F238E27FC236}">
                    <a16:creationId xmlns:a16="http://schemas.microsoft.com/office/drawing/2014/main" id="{9CFCCA8F-226B-7E8B-47A9-D5BC5D1D3707}"/>
                  </a:ext>
                </a:extLst>
              </p:cNvPr>
              <p:cNvSpPr/>
              <p:nvPr/>
            </p:nvSpPr>
            <p:spPr>
              <a:xfrm>
                <a:off x="6010199" y="2392045"/>
                <a:ext cx="854091" cy="6023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95000"/>
                  </a:lnSpc>
                  <a:buNone/>
                </a:pPr>
                <a:r>
                  <a:rPr lang="en-US" sz="1050" dirty="0">
                    <a:solidFill>
                      <a:srgbClr val="8A9BA3"/>
                    </a:solidFill>
                  </a:rPr>
                  <a:t>N-1 : 129,5</a:t>
                </a:r>
                <a:endParaRPr lang="en-US" sz="1050" dirty="0"/>
              </a:p>
              <a:p>
                <a:pPr algn="ctr">
                  <a:lnSpc>
                    <a:spcPct val="95000"/>
                  </a:lnSpc>
                </a:pPr>
                <a:r>
                  <a:rPr lang="en-US" sz="1050" b="1" dirty="0">
                    <a:solidFill>
                      <a:srgbClr val="C0392B"/>
                    </a:solidFill>
                  </a:rPr>
                  <a:t>▼ −12 %</a:t>
                </a:r>
                <a:endParaRPr lang="en-US" sz="800" dirty="0"/>
              </a:p>
            </p:txBody>
          </p:sp>
          <p:sp>
            <p:nvSpPr>
              <p:cNvPr id="78" name="Text 22">
                <a:extLst>
                  <a:ext uri="{FF2B5EF4-FFF2-40B4-BE49-F238E27FC236}">
                    <a16:creationId xmlns:a16="http://schemas.microsoft.com/office/drawing/2014/main" id="{902C385D-30A5-B537-8FD1-5C7B1F7B5FD0}"/>
                  </a:ext>
                </a:extLst>
              </p:cNvPr>
              <p:cNvSpPr/>
              <p:nvPr/>
            </p:nvSpPr>
            <p:spPr>
              <a:xfrm>
                <a:off x="5210550" y="2014106"/>
                <a:ext cx="903246" cy="5573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400" b="1" dirty="0">
                    <a:solidFill>
                      <a:srgbClr val="1C7293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144 EBC</a:t>
                </a:r>
                <a:endParaRPr lang="en-US" sz="1400" dirty="0"/>
              </a:p>
            </p:txBody>
          </p:sp>
          <p:sp>
            <p:nvSpPr>
              <p:cNvPr id="79" name="Text 22">
                <a:extLst>
                  <a:ext uri="{FF2B5EF4-FFF2-40B4-BE49-F238E27FC236}">
                    <a16:creationId xmlns:a16="http://schemas.microsoft.com/office/drawing/2014/main" id="{0ED0AC53-7502-216D-C1F9-48335917D9D3}"/>
                  </a:ext>
                </a:extLst>
              </p:cNvPr>
              <p:cNvSpPr/>
              <p:nvPr/>
            </p:nvSpPr>
            <p:spPr>
              <a:xfrm>
                <a:off x="5161821" y="2387513"/>
                <a:ext cx="903246" cy="5573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400" b="1" dirty="0">
                    <a:solidFill>
                      <a:srgbClr val="1C7293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107,5 SAV</a:t>
                </a:r>
                <a:endParaRPr lang="en-US" sz="1400" dirty="0"/>
              </a:p>
            </p:txBody>
          </p:sp>
          <p:sp>
            <p:nvSpPr>
              <p:cNvPr id="80" name="Text 24">
                <a:extLst>
                  <a:ext uri="{FF2B5EF4-FFF2-40B4-BE49-F238E27FC236}">
                    <a16:creationId xmlns:a16="http://schemas.microsoft.com/office/drawing/2014/main" id="{30DE95ED-5D49-1E3B-C58A-7C0326A39FA5}"/>
                  </a:ext>
                </a:extLst>
              </p:cNvPr>
              <p:cNvSpPr/>
              <p:nvPr/>
            </p:nvSpPr>
            <p:spPr>
              <a:xfrm>
                <a:off x="5999622" y="1993366"/>
                <a:ext cx="854091" cy="6023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95000"/>
                  </a:lnSpc>
                  <a:buNone/>
                </a:pPr>
                <a:r>
                  <a:rPr lang="en-US" sz="1050" dirty="0">
                    <a:solidFill>
                      <a:srgbClr val="8A9BA3"/>
                    </a:solidFill>
                  </a:rPr>
                  <a:t>N-1 : 164</a:t>
                </a:r>
                <a:endParaRPr lang="en-US" sz="1050" dirty="0"/>
              </a:p>
              <a:p>
                <a:pPr algn="ctr">
                  <a:lnSpc>
                    <a:spcPct val="95000"/>
                  </a:lnSpc>
                </a:pPr>
                <a:r>
                  <a:rPr lang="en-US" sz="1050" b="1" dirty="0">
                    <a:solidFill>
                      <a:srgbClr val="C0392B"/>
                    </a:solidFill>
                  </a:rPr>
                  <a:t>▼ −16 %</a:t>
                </a:r>
                <a:endParaRPr lang="en-US" sz="800" dirty="0"/>
              </a:p>
            </p:txBody>
          </p:sp>
        </p:grpSp>
      </p:grpSp>
      <p:sp>
        <p:nvSpPr>
          <p:cNvPr id="81" name="Shape 23">
            <a:extLst>
              <a:ext uri="{FF2B5EF4-FFF2-40B4-BE49-F238E27FC236}">
                <a16:creationId xmlns:a16="http://schemas.microsoft.com/office/drawing/2014/main" id="{0818CA49-BB31-3A8E-C447-587377127C56}"/>
              </a:ext>
            </a:extLst>
          </p:cNvPr>
          <p:cNvSpPr/>
          <p:nvPr/>
        </p:nvSpPr>
        <p:spPr>
          <a:xfrm>
            <a:off x="4134396" y="5625906"/>
            <a:ext cx="885996" cy="483039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82" name="Text 24">
            <a:extLst>
              <a:ext uri="{FF2B5EF4-FFF2-40B4-BE49-F238E27FC236}">
                <a16:creationId xmlns:a16="http://schemas.microsoft.com/office/drawing/2014/main" id="{099D8CCD-07AC-7348-5123-C692853CE29C}"/>
              </a:ext>
            </a:extLst>
          </p:cNvPr>
          <p:cNvSpPr/>
          <p:nvPr/>
        </p:nvSpPr>
        <p:spPr>
          <a:xfrm>
            <a:off x="4107050" y="5566246"/>
            <a:ext cx="854091" cy="602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293,5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sz="1050" b="1" dirty="0">
                <a:solidFill>
                  <a:srgbClr val="C0392B"/>
                </a:solidFill>
              </a:rPr>
              <a:t>▼ −14 %</a:t>
            </a:r>
            <a:endParaRPr lang="en-US" sz="8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5572A70-BC71-6F4F-9DE8-2AE8C71B6BAF}"/>
              </a:ext>
            </a:extLst>
          </p:cNvPr>
          <p:cNvSpPr txBox="1"/>
          <p:nvPr/>
        </p:nvSpPr>
        <p:spPr>
          <a:xfrm>
            <a:off x="4045975" y="781918"/>
            <a:ext cx="7523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RE" sz="1200" i="1" dirty="0"/>
              <a:t>Nb heures intervention Neo pas la même que via fiche inter pour SAV : 107,5 h vs 81,5</a:t>
            </a:r>
          </a:p>
        </p:txBody>
      </p:sp>
      <p:sp>
        <p:nvSpPr>
          <p:cNvPr id="12" name="Shape 4"/>
          <p:cNvSpPr/>
          <p:nvPr/>
        </p:nvSpPr>
        <p:spPr>
          <a:xfrm>
            <a:off x="4008177" y="1100109"/>
            <a:ext cx="3200299" cy="1473898"/>
          </a:xfrm>
          <a:prstGeom prst="roundRect">
            <a:avLst>
              <a:gd name="adj" fmla="val 3200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22" name="Shape 5"/>
          <p:cNvSpPr/>
          <p:nvPr/>
        </p:nvSpPr>
        <p:spPr>
          <a:xfrm>
            <a:off x="4086527" y="1264499"/>
            <a:ext cx="146304" cy="146304"/>
          </a:xfrm>
          <a:prstGeom prst="ellipse">
            <a:avLst/>
          </a:prstGeom>
          <a:solidFill>
            <a:srgbClr val="C1666B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25" name="Text 6"/>
          <p:cNvSpPr/>
          <p:nvPr/>
        </p:nvSpPr>
        <p:spPr>
          <a:xfrm>
            <a:off x="4315127" y="1145627"/>
            <a:ext cx="20908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d'interventions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(fiches inter)</a:t>
            </a:r>
            <a:endParaRPr lang="en-US" sz="1300" dirty="0"/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9F61FEF0-AD87-318C-3B3C-B8A05F9F6E98}"/>
              </a:ext>
            </a:extLst>
          </p:cNvPr>
          <p:cNvGrpSpPr/>
          <p:nvPr/>
        </p:nvGrpSpPr>
        <p:grpSpPr>
          <a:xfrm>
            <a:off x="4203327" y="1863241"/>
            <a:ext cx="920142" cy="544328"/>
            <a:chOff x="2548416" y="5497637"/>
            <a:chExt cx="920142" cy="544328"/>
          </a:xfrm>
        </p:grpSpPr>
        <p:sp>
          <p:nvSpPr>
            <p:cNvPr id="27" name="Shape 8"/>
            <p:cNvSpPr/>
            <p:nvPr/>
          </p:nvSpPr>
          <p:spPr>
            <a:xfrm>
              <a:off x="2555258" y="5529901"/>
              <a:ext cx="91330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 sz="2400"/>
            </a:p>
          </p:txBody>
        </p:sp>
        <p:sp>
          <p:nvSpPr>
            <p:cNvPr id="28" name="Text 9"/>
            <p:cNvSpPr/>
            <p:nvPr/>
          </p:nvSpPr>
          <p:spPr>
            <a:xfrm>
              <a:off x="2548416" y="5497637"/>
              <a:ext cx="887253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50" i="1" dirty="0" err="1">
                  <a:solidFill>
                    <a:srgbClr val="8A9B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Mois</a:t>
              </a:r>
              <a:r>
                <a:rPr lang="en-US" sz="1050" i="1" dirty="0">
                  <a:solidFill>
                    <a:srgbClr val="8A9B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-1 : 134</a:t>
              </a:r>
              <a:br>
                <a:rPr lang="en-US" sz="1050" i="1" dirty="0">
                  <a:solidFill>
                    <a:srgbClr val="8A9B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600" b="1" dirty="0">
                  <a:solidFill>
                    <a:srgbClr val="2E7D32"/>
                  </a:solidFill>
                </a:rPr>
                <a:t>▲ +7,5%</a:t>
              </a:r>
              <a:endParaRPr lang="en-US" sz="1600" dirty="0"/>
            </a:p>
          </p:txBody>
        </p:sp>
      </p:grpSp>
      <p:sp>
        <p:nvSpPr>
          <p:cNvPr id="34" name="Text 17">
            <a:extLst>
              <a:ext uri="{FF2B5EF4-FFF2-40B4-BE49-F238E27FC236}">
                <a16:creationId xmlns:a16="http://schemas.microsoft.com/office/drawing/2014/main" id="{308832F8-124C-A82C-3441-BA5E3F900214}"/>
              </a:ext>
            </a:extLst>
          </p:cNvPr>
          <p:cNvSpPr/>
          <p:nvPr/>
        </p:nvSpPr>
        <p:spPr>
          <a:xfrm>
            <a:off x="4126770" y="1427565"/>
            <a:ext cx="103052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E7C86"/>
                </a:solidFill>
              </a:rPr>
              <a:t>144 inter</a:t>
            </a:r>
          </a:p>
        </p:txBody>
      </p: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D1FE4552-1F2C-6012-1BD5-741EFB619253}"/>
              </a:ext>
            </a:extLst>
          </p:cNvPr>
          <p:cNvGrpSpPr/>
          <p:nvPr/>
        </p:nvGrpSpPr>
        <p:grpSpPr>
          <a:xfrm>
            <a:off x="5364825" y="1486290"/>
            <a:ext cx="1738184" cy="1001040"/>
            <a:chOff x="5216308" y="1993366"/>
            <a:chExt cx="1738184" cy="1001040"/>
          </a:xfrm>
        </p:grpSpPr>
        <p:sp>
          <p:nvSpPr>
            <p:cNvPr id="48" name="Shape 23">
              <a:extLst>
                <a:ext uri="{FF2B5EF4-FFF2-40B4-BE49-F238E27FC236}">
                  <a16:creationId xmlns:a16="http://schemas.microsoft.com/office/drawing/2014/main" id="{FB43277D-9959-594D-55FE-C7D5EDEFAA73}"/>
                </a:ext>
              </a:extLst>
            </p:cNvPr>
            <p:cNvSpPr/>
            <p:nvPr/>
          </p:nvSpPr>
          <p:spPr>
            <a:xfrm>
              <a:off x="5216308" y="1993366"/>
              <a:ext cx="1738184" cy="889075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 sz="2800"/>
            </a:p>
          </p:txBody>
        </p:sp>
        <p:grpSp>
          <p:nvGrpSpPr>
            <p:cNvPr id="49" name="Groupe 48">
              <a:extLst>
                <a:ext uri="{FF2B5EF4-FFF2-40B4-BE49-F238E27FC236}">
                  <a16:creationId xmlns:a16="http://schemas.microsoft.com/office/drawing/2014/main" id="{8513F3DE-8A1D-1D92-5C3A-BC58A2AD8952}"/>
                </a:ext>
              </a:extLst>
            </p:cNvPr>
            <p:cNvGrpSpPr/>
            <p:nvPr/>
          </p:nvGrpSpPr>
          <p:grpSpPr>
            <a:xfrm>
              <a:off x="5394733" y="1993366"/>
              <a:ext cx="1469557" cy="1001040"/>
              <a:chOff x="5394733" y="1993366"/>
              <a:chExt cx="1469557" cy="1001040"/>
            </a:xfrm>
          </p:grpSpPr>
          <p:sp>
            <p:nvSpPr>
              <p:cNvPr id="50" name="Text 24">
                <a:extLst>
                  <a:ext uri="{FF2B5EF4-FFF2-40B4-BE49-F238E27FC236}">
                    <a16:creationId xmlns:a16="http://schemas.microsoft.com/office/drawing/2014/main" id="{D6802774-252F-1ABE-6972-234580A11672}"/>
                  </a:ext>
                </a:extLst>
              </p:cNvPr>
              <p:cNvSpPr/>
              <p:nvPr/>
            </p:nvSpPr>
            <p:spPr>
              <a:xfrm>
                <a:off x="6010199" y="2392045"/>
                <a:ext cx="854091" cy="6023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95000"/>
                  </a:lnSpc>
                  <a:buNone/>
                </a:pPr>
                <a:r>
                  <a:rPr lang="en-US" sz="1050" dirty="0">
                    <a:solidFill>
                      <a:srgbClr val="8A9BA3"/>
                    </a:solidFill>
                  </a:rPr>
                  <a:t>Mois-1 : 72</a:t>
                </a:r>
                <a:endParaRPr lang="en-US" sz="1050" dirty="0"/>
              </a:p>
              <a:p>
                <a:pPr algn="ctr">
                  <a:lnSpc>
                    <a:spcPct val="95000"/>
                  </a:lnSpc>
                </a:pPr>
                <a:r>
                  <a:rPr lang="en-US" sz="1050" b="1" dirty="0">
                    <a:solidFill>
                      <a:srgbClr val="C0392B"/>
                    </a:solidFill>
                  </a:rPr>
                  <a:t>▼ −19 %</a:t>
                </a:r>
                <a:endParaRPr lang="en-US" sz="800" dirty="0"/>
              </a:p>
            </p:txBody>
          </p:sp>
          <p:sp>
            <p:nvSpPr>
              <p:cNvPr id="51" name="Text 22">
                <a:extLst>
                  <a:ext uri="{FF2B5EF4-FFF2-40B4-BE49-F238E27FC236}">
                    <a16:creationId xmlns:a16="http://schemas.microsoft.com/office/drawing/2014/main" id="{4A855615-A234-F271-051D-72A489FEF644}"/>
                  </a:ext>
                </a:extLst>
              </p:cNvPr>
              <p:cNvSpPr/>
              <p:nvPr/>
            </p:nvSpPr>
            <p:spPr>
              <a:xfrm>
                <a:off x="5443462" y="2014106"/>
                <a:ext cx="719063" cy="5573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400" b="1" dirty="0">
                    <a:solidFill>
                      <a:srgbClr val="1C7293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86 EBC</a:t>
                </a:r>
                <a:endParaRPr lang="en-US" sz="1400" dirty="0"/>
              </a:p>
            </p:txBody>
          </p:sp>
          <p:sp>
            <p:nvSpPr>
              <p:cNvPr id="53" name="Text 22">
                <a:extLst>
                  <a:ext uri="{FF2B5EF4-FFF2-40B4-BE49-F238E27FC236}">
                    <a16:creationId xmlns:a16="http://schemas.microsoft.com/office/drawing/2014/main" id="{5AC510C8-EB2B-057C-A461-BAA02CFF8BAD}"/>
                  </a:ext>
                </a:extLst>
              </p:cNvPr>
              <p:cNvSpPr/>
              <p:nvPr/>
            </p:nvSpPr>
            <p:spPr>
              <a:xfrm>
                <a:off x="5394733" y="2387513"/>
                <a:ext cx="719063" cy="5573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400" b="1" dirty="0">
                    <a:solidFill>
                      <a:srgbClr val="1C7293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58 SAV</a:t>
                </a:r>
                <a:endParaRPr lang="en-US" sz="1400" dirty="0"/>
              </a:p>
            </p:txBody>
          </p:sp>
          <p:sp>
            <p:nvSpPr>
              <p:cNvPr id="55" name="Text 24">
                <a:extLst>
                  <a:ext uri="{FF2B5EF4-FFF2-40B4-BE49-F238E27FC236}">
                    <a16:creationId xmlns:a16="http://schemas.microsoft.com/office/drawing/2014/main" id="{D67EECEE-4C4B-0915-F074-0F07E986639C}"/>
                  </a:ext>
                </a:extLst>
              </p:cNvPr>
              <p:cNvSpPr/>
              <p:nvPr/>
            </p:nvSpPr>
            <p:spPr>
              <a:xfrm>
                <a:off x="5999622" y="1993366"/>
                <a:ext cx="854091" cy="6023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95000"/>
                  </a:lnSpc>
                  <a:buNone/>
                </a:pPr>
                <a:r>
                  <a:rPr lang="en-US" sz="1050" dirty="0">
                    <a:solidFill>
                      <a:srgbClr val="8A9BA3"/>
                    </a:solidFill>
                  </a:rPr>
                  <a:t>Mois-1 : 62</a:t>
                </a:r>
                <a:endParaRPr lang="en-US" sz="1050" dirty="0"/>
              </a:p>
              <a:p>
                <a:pPr algn="ctr">
                  <a:lnSpc>
                    <a:spcPct val="95000"/>
                  </a:lnSpc>
                </a:pPr>
                <a:r>
                  <a:rPr lang="en-US" sz="1050" b="1" dirty="0">
                    <a:solidFill>
                      <a:srgbClr val="2E7D32"/>
                    </a:solidFill>
                  </a:rPr>
                  <a:t>▲ +39 %</a:t>
                </a:r>
                <a:endParaRPr lang="en-US" sz="800" dirty="0"/>
              </a:p>
            </p:txBody>
          </p:sp>
        </p:grpSp>
      </p:grpSp>
      <p:sp>
        <p:nvSpPr>
          <p:cNvPr id="57" name="Shape 4">
            <a:extLst>
              <a:ext uri="{FF2B5EF4-FFF2-40B4-BE49-F238E27FC236}">
                <a16:creationId xmlns:a16="http://schemas.microsoft.com/office/drawing/2014/main" id="{F24C5CC7-7AD1-473F-7F25-95EC4E681F96}"/>
              </a:ext>
            </a:extLst>
          </p:cNvPr>
          <p:cNvSpPr/>
          <p:nvPr/>
        </p:nvSpPr>
        <p:spPr>
          <a:xfrm>
            <a:off x="478593" y="4867437"/>
            <a:ext cx="3200299" cy="1473898"/>
          </a:xfrm>
          <a:prstGeom prst="roundRect">
            <a:avLst>
              <a:gd name="adj" fmla="val 3200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59" name="Shape 5">
            <a:extLst>
              <a:ext uri="{FF2B5EF4-FFF2-40B4-BE49-F238E27FC236}">
                <a16:creationId xmlns:a16="http://schemas.microsoft.com/office/drawing/2014/main" id="{BFDFA875-5B3D-FAF7-DA3B-E94350218C0B}"/>
              </a:ext>
            </a:extLst>
          </p:cNvPr>
          <p:cNvSpPr/>
          <p:nvPr/>
        </p:nvSpPr>
        <p:spPr>
          <a:xfrm>
            <a:off x="556943" y="5031827"/>
            <a:ext cx="146304" cy="146304"/>
          </a:xfrm>
          <a:prstGeom prst="ellipse">
            <a:avLst/>
          </a:prstGeom>
          <a:solidFill>
            <a:srgbClr val="C1666B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61" name="Text 6">
            <a:extLst>
              <a:ext uri="{FF2B5EF4-FFF2-40B4-BE49-F238E27FC236}">
                <a16:creationId xmlns:a16="http://schemas.microsoft.com/office/drawing/2014/main" id="{BBD63A90-D548-530B-6BA3-B1471184F1C6}"/>
              </a:ext>
            </a:extLst>
          </p:cNvPr>
          <p:cNvSpPr/>
          <p:nvPr/>
        </p:nvSpPr>
        <p:spPr>
          <a:xfrm>
            <a:off x="785543" y="4912955"/>
            <a:ext cx="20908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émis</a:t>
            </a:r>
            <a:endParaRPr lang="en-US" sz="1300" dirty="0"/>
          </a:p>
        </p:txBody>
      </p: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2F71EE45-AF44-46F4-73EF-55A2A927C83F}"/>
              </a:ext>
            </a:extLst>
          </p:cNvPr>
          <p:cNvGrpSpPr/>
          <p:nvPr/>
        </p:nvGrpSpPr>
        <p:grpSpPr>
          <a:xfrm>
            <a:off x="2417418" y="5719789"/>
            <a:ext cx="920142" cy="544328"/>
            <a:chOff x="2548416" y="5497637"/>
            <a:chExt cx="920142" cy="544328"/>
          </a:xfrm>
        </p:grpSpPr>
        <p:sp>
          <p:nvSpPr>
            <p:cNvPr id="70" name="Shape 8">
              <a:extLst>
                <a:ext uri="{FF2B5EF4-FFF2-40B4-BE49-F238E27FC236}">
                  <a16:creationId xmlns:a16="http://schemas.microsoft.com/office/drawing/2014/main" id="{F0FF6B8D-5909-6AE4-1E14-C2A6B7EF713A}"/>
                </a:ext>
              </a:extLst>
            </p:cNvPr>
            <p:cNvSpPr/>
            <p:nvPr/>
          </p:nvSpPr>
          <p:spPr>
            <a:xfrm>
              <a:off x="2555258" y="5529901"/>
              <a:ext cx="91330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 sz="2400"/>
            </a:p>
          </p:txBody>
        </p:sp>
        <p:sp>
          <p:nvSpPr>
            <p:cNvPr id="83" name="Text 9">
              <a:extLst>
                <a:ext uri="{FF2B5EF4-FFF2-40B4-BE49-F238E27FC236}">
                  <a16:creationId xmlns:a16="http://schemas.microsoft.com/office/drawing/2014/main" id="{8A68F7F3-AA6F-E3DF-7C6A-2021179956CB}"/>
                </a:ext>
              </a:extLst>
            </p:cNvPr>
            <p:cNvSpPr/>
            <p:nvPr/>
          </p:nvSpPr>
          <p:spPr>
            <a:xfrm>
              <a:off x="2548416" y="5497637"/>
              <a:ext cx="887253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50" i="1" dirty="0" err="1">
                  <a:solidFill>
                    <a:srgbClr val="8A9B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Mois</a:t>
              </a:r>
              <a:r>
                <a:rPr lang="en-US" sz="1050" i="1" dirty="0">
                  <a:solidFill>
                    <a:srgbClr val="8A9B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-1 : 1 devis</a:t>
              </a:r>
              <a:br>
                <a:rPr lang="en-US" sz="1050" i="1" dirty="0">
                  <a:solidFill>
                    <a:srgbClr val="8A9B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600" b="1" dirty="0">
                  <a:solidFill>
                    <a:srgbClr val="C0392B"/>
                  </a:solidFill>
                </a:rPr>
                <a:t>▼ −4 %</a:t>
              </a:r>
              <a:endParaRPr lang="en-US" sz="1600" dirty="0"/>
            </a:p>
          </p:txBody>
        </p:sp>
      </p:grpSp>
      <p:sp>
        <p:nvSpPr>
          <p:cNvPr id="84" name="Text 17">
            <a:extLst>
              <a:ext uri="{FF2B5EF4-FFF2-40B4-BE49-F238E27FC236}">
                <a16:creationId xmlns:a16="http://schemas.microsoft.com/office/drawing/2014/main" id="{6509E46C-A134-2994-686C-8DDE537BACA1}"/>
              </a:ext>
            </a:extLst>
          </p:cNvPr>
          <p:cNvSpPr/>
          <p:nvPr/>
        </p:nvSpPr>
        <p:spPr>
          <a:xfrm>
            <a:off x="597186" y="5194893"/>
            <a:ext cx="103052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2400" b="1" dirty="0">
              <a:solidFill>
                <a:srgbClr val="0E7C86"/>
              </a:solidFill>
            </a:endParaRPr>
          </a:p>
        </p:txBody>
      </p:sp>
      <p:grpSp>
        <p:nvGrpSpPr>
          <p:cNvPr id="85" name="Groupe 84">
            <a:extLst>
              <a:ext uri="{FF2B5EF4-FFF2-40B4-BE49-F238E27FC236}">
                <a16:creationId xmlns:a16="http://schemas.microsoft.com/office/drawing/2014/main" id="{FF6D347D-2359-3FDD-2B11-08224D3CA0F3}"/>
              </a:ext>
            </a:extLst>
          </p:cNvPr>
          <p:cNvGrpSpPr/>
          <p:nvPr/>
        </p:nvGrpSpPr>
        <p:grpSpPr>
          <a:xfrm>
            <a:off x="2424260" y="5180378"/>
            <a:ext cx="894291" cy="512064"/>
            <a:chOff x="5122531" y="1993366"/>
            <a:chExt cx="1831961" cy="889075"/>
          </a:xfrm>
        </p:grpSpPr>
        <p:sp>
          <p:nvSpPr>
            <p:cNvPr id="87" name="Shape 23">
              <a:extLst>
                <a:ext uri="{FF2B5EF4-FFF2-40B4-BE49-F238E27FC236}">
                  <a16:creationId xmlns:a16="http://schemas.microsoft.com/office/drawing/2014/main" id="{BDA4BA74-6B3A-DA4A-31E7-A361AA6A373F}"/>
                </a:ext>
              </a:extLst>
            </p:cNvPr>
            <p:cNvSpPr/>
            <p:nvPr/>
          </p:nvSpPr>
          <p:spPr>
            <a:xfrm>
              <a:off x="5216308" y="1993366"/>
              <a:ext cx="1738184" cy="889075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 sz="2800"/>
            </a:p>
          </p:txBody>
        </p:sp>
        <p:grpSp>
          <p:nvGrpSpPr>
            <p:cNvPr id="89" name="Groupe 88">
              <a:extLst>
                <a:ext uri="{FF2B5EF4-FFF2-40B4-BE49-F238E27FC236}">
                  <a16:creationId xmlns:a16="http://schemas.microsoft.com/office/drawing/2014/main" id="{19C230D8-70E3-1B64-C412-B5C31316249E}"/>
                </a:ext>
              </a:extLst>
            </p:cNvPr>
            <p:cNvGrpSpPr/>
            <p:nvPr/>
          </p:nvGrpSpPr>
          <p:grpSpPr>
            <a:xfrm>
              <a:off x="5122531" y="1993366"/>
              <a:ext cx="1731185" cy="745837"/>
              <a:chOff x="5122531" y="1993366"/>
              <a:chExt cx="1731185" cy="745837"/>
            </a:xfrm>
          </p:grpSpPr>
          <p:sp>
            <p:nvSpPr>
              <p:cNvPr id="91" name="Text 22">
                <a:extLst>
                  <a:ext uri="{FF2B5EF4-FFF2-40B4-BE49-F238E27FC236}">
                    <a16:creationId xmlns:a16="http://schemas.microsoft.com/office/drawing/2014/main" id="{2C10248A-C115-2EB1-A1A9-E2C569515956}"/>
                  </a:ext>
                </a:extLst>
              </p:cNvPr>
              <p:cNvSpPr/>
              <p:nvPr/>
            </p:nvSpPr>
            <p:spPr>
              <a:xfrm>
                <a:off x="5443462" y="2014106"/>
                <a:ext cx="719063" cy="5573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endParaRPr lang="en-US" sz="1400" dirty="0"/>
              </a:p>
            </p:txBody>
          </p:sp>
          <p:sp>
            <p:nvSpPr>
              <p:cNvPr id="93" name="Text 24">
                <a:extLst>
                  <a:ext uri="{FF2B5EF4-FFF2-40B4-BE49-F238E27FC236}">
                    <a16:creationId xmlns:a16="http://schemas.microsoft.com/office/drawing/2014/main" id="{D6791C23-55DB-ECB5-F4D6-0935EDA873FF}"/>
                  </a:ext>
                </a:extLst>
              </p:cNvPr>
              <p:cNvSpPr/>
              <p:nvPr/>
            </p:nvSpPr>
            <p:spPr>
              <a:xfrm>
                <a:off x="5122531" y="1993366"/>
                <a:ext cx="1731185" cy="7458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95000"/>
                  </a:lnSpc>
                </a:pPr>
                <a:r>
                  <a:rPr lang="en-US" sz="1050" dirty="0">
                    <a:solidFill>
                      <a:srgbClr val="8A9BA3"/>
                    </a:solidFill>
                  </a:rPr>
                  <a:t>N-1 : 35 devis </a:t>
                </a:r>
                <a:br>
                  <a:rPr lang="en-US" sz="1050" dirty="0">
                    <a:solidFill>
                      <a:srgbClr val="8A9BA3"/>
                    </a:solidFill>
                  </a:rPr>
                </a:br>
                <a:r>
                  <a:rPr lang="en-US" sz="1600" b="1" dirty="0">
                    <a:solidFill>
                      <a:srgbClr val="C0392B"/>
                    </a:solidFill>
                  </a:rPr>
                  <a:t>▼ −71 %</a:t>
                </a:r>
                <a:endParaRPr lang="en-US" sz="1600" dirty="0"/>
              </a:p>
            </p:txBody>
          </p:sp>
        </p:grpSp>
      </p:grpSp>
      <p:sp>
        <p:nvSpPr>
          <p:cNvPr id="100" name="Text 17">
            <a:extLst>
              <a:ext uri="{FF2B5EF4-FFF2-40B4-BE49-F238E27FC236}">
                <a16:creationId xmlns:a16="http://schemas.microsoft.com/office/drawing/2014/main" id="{14DA5336-8C4C-D5EF-5B62-2F5594A96AAD}"/>
              </a:ext>
            </a:extLst>
          </p:cNvPr>
          <p:cNvSpPr/>
          <p:nvPr/>
        </p:nvSpPr>
        <p:spPr>
          <a:xfrm>
            <a:off x="814713" y="5254329"/>
            <a:ext cx="126373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devis</a:t>
            </a:r>
            <a:endParaRPr lang="en-US" sz="2400" dirty="0"/>
          </a:p>
        </p:txBody>
      </p:sp>
      <p:sp>
        <p:nvSpPr>
          <p:cNvPr id="102" name="Text 17">
            <a:extLst>
              <a:ext uri="{FF2B5EF4-FFF2-40B4-BE49-F238E27FC236}">
                <a16:creationId xmlns:a16="http://schemas.microsoft.com/office/drawing/2014/main" id="{FCF46941-0383-C6BB-F1DC-8E64FD06CBCB}"/>
              </a:ext>
            </a:extLst>
          </p:cNvPr>
          <p:cNvSpPr/>
          <p:nvPr/>
        </p:nvSpPr>
        <p:spPr>
          <a:xfrm>
            <a:off x="819191" y="5759311"/>
            <a:ext cx="126373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6,2 k€</a:t>
            </a:r>
            <a:endParaRPr lang="en-US" sz="2400" dirty="0"/>
          </a:p>
        </p:txBody>
      </p:sp>
      <p:sp>
        <p:nvSpPr>
          <p:cNvPr id="108" name="Shape 19">
            <a:extLst>
              <a:ext uri="{FF2B5EF4-FFF2-40B4-BE49-F238E27FC236}">
                <a16:creationId xmlns:a16="http://schemas.microsoft.com/office/drawing/2014/main" id="{C097354E-A910-F3FD-6302-E4E016CC3040}"/>
              </a:ext>
            </a:extLst>
          </p:cNvPr>
          <p:cNvSpPr/>
          <p:nvPr/>
        </p:nvSpPr>
        <p:spPr>
          <a:xfrm>
            <a:off x="149348" y="1288856"/>
            <a:ext cx="3651304" cy="3334868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110" name="Text 21">
            <a:extLst>
              <a:ext uri="{FF2B5EF4-FFF2-40B4-BE49-F238E27FC236}">
                <a16:creationId xmlns:a16="http://schemas.microsoft.com/office/drawing/2014/main" id="{58C4C0ED-A6C1-3D72-526F-9A50BAA360EC}"/>
              </a:ext>
            </a:extLst>
          </p:cNvPr>
          <p:cNvSpPr/>
          <p:nvPr/>
        </p:nvSpPr>
        <p:spPr>
          <a:xfrm>
            <a:off x="727220" y="1422891"/>
            <a:ext cx="2534920" cy="357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Docs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Nuls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(Neo)</a:t>
            </a:r>
            <a:endParaRPr lang="en-US" sz="1300" dirty="0"/>
          </a:p>
        </p:txBody>
      </p:sp>
      <p:sp>
        <p:nvSpPr>
          <p:cNvPr id="112" name="Text 22">
            <a:extLst>
              <a:ext uri="{FF2B5EF4-FFF2-40B4-BE49-F238E27FC236}">
                <a16:creationId xmlns:a16="http://schemas.microsoft.com/office/drawing/2014/main" id="{5A3A2B06-1C0C-03EB-5F82-7676714054E8}"/>
              </a:ext>
            </a:extLst>
          </p:cNvPr>
          <p:cNvSpPr/>
          <p:nvPr/>
        </p:nvSpPr>
        <p:spPr>
          <a:xfrm>
            <a:off x="289941" y="1720985"/>
            <a:ext cx="1177398" cy="557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</a:rPr>
              <a:t>159 Fact</a:t>
            </a:r>
            <a:endParaRPr lang="en-US" sz="2400" dirty="0"/>
          </a:p>
        </p:txBody>
      </p:sp>
      <p:sp>
        <p:nvSpPr>
          <p:cNvPr id="114" name="Shape 23">
            <a:extLst>
              <a:ext uri="{FF2B5EF4-FFF2-40B4-BE49-F238E27FC236}">
                <a16:creationId xmlns:a16="http://schemas.microsoft.com/office/drawing/2014/main" id="{0E60DB97-1FB9-85B9-4436-FBB89A5E259A}"/>
              </a:ext>
            </a:extLst>
          </p:cNvPr>
          <p:cNvSpPr/>
          <p:nvPr/>
        </p:nvSpPr>
        <p:spPr>
          <a:xfrm>
            <a:off x="1523357" y="1890699"/>
            <a:ext cx="2240825" cy="889075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116" name="Text 24">
            <a:extLst>
              <a:ext uri="{FF2B5EF4-FFF2-40B4-BE49-F238E27FC236}">
                <a16:creationId xmlns:a16="http://schemas.microsoft.com/office/drawing/2014/main" id="{66872774-07C9-4A64-B875-752931F7DB3B}"/>
              </a:ext>
            </a:extLst>
          </p:cNvPr>
          <p:cNvSpPr/>
          <p:nvPr/>
        </p:nvSpPr>
        <p:spPr>
          <a:xfrm>
            <a:off x="2726732" y="2235914"/>
            <a:ext cx="854091" cy="602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Mois-1 : 106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sz="1600" b="1" dirty="0">
                <a:solidFill>
                  <a:srgbClr val="C0392B"/>
                </a:solidFill>
              </a:rPr>
              <a:t>▼ −10 %</a:t>
            </a:r>
            <a:endParaRPr lang="en-US" sz="1100" dirty="0"/>
          </a:p>
        </p:txBody>
      </p:sp>
      <p:sp>
        <p:nvSpPr>
          <p:cNvPr id="118" name="Text 22">
            <a:extLst>
              <a:ext uri="{FF2B5EF4-FFF2-40B4-BE49-F238E27FC236}">
                <a16:creationId xmlns:a16="http://schemas.microsoft.com/office/drawing/2014/main" id="{892CF18D-F8CD-C4F5-7415-1B22A9F2B943}"/>
              </a:ext>
            </a:extLst>
          </p:cNvPr>
          <p:cNvSpPr/>
          <p:nvPr/>
        </p:nvSpPr>
        <p:spPr>
          <a:xfrm>
            <a:off x="1738242" y="1838097"/>
            <a:ext cx="903246" cy="557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 DN</a:t>
            </a:r>
            <a:endParaRPr lang="en-US" sz="1400" dirty="0"/>
          </a:p>
        </p:txBody>
      </p:sp>
      <p:sp>
        <p:nvSpPr>
          <p:cNvPr id="120" name="Text 22">
            <a:extLst>
              <a:ext uri="{FF2B5EF4-FFF2-40B4-BE49-F238E27FC236}">
                <a16:creationId xmlns:a16="http://schemas.microsoft.com/office/drawing/2014/main" id="{A39CE323-F4C6-2AEF-073F-625EC44744A9}"/>
              </a:ext>
            </a:extLst>
          </p:cNvPr>
          <p:cNvSpPr/>
          <p:nvPr/>
        </p:nvSpPr>
        <p:spPr>
          <a:xfrm>
            <a:off x="1689513" y="2211504"/>
            <a:ext cx="903246" cy="557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 non DN</a:t>
            </a:r>
            <a:endParaRPr lang="en-US" sz="1400" dirty="0"/>
          </a:p>
        </p:txBody>
      </p:sp>
      <p:sp>
        <p:nvSpPr>
          <p:cNvPr id="122" name="Text 24">
            <a:extLst>
              <a:ext uri="{FF2B5EF4-FFF2-40B4-BE49-F238E27FC236}">
                <a16:creationId xmlns:a16="http://schemas.microsoft.com/office/drawing/2014/main" id="{CC774884-1774-C7B6-FB5F-A424E542788E}"/>
              </a:ext>
            </a:extLst>
          </p:cNvPr>
          <p:cNvSpPr/>
          <p:nvPr/>
        </p:nvSpPr>
        <p:spPr>
          <a:xfrm>
            <a:off x="2716155" y="1837235"/>
            <a:ext cx="854091" cy="602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Mois-1 : 41 DN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sz="1600" b="1" dirty="0">
                <a:solidFill>
                  <a:srgbClr val="2E7D32"/>
                </a:solidFill>
              </a:rPr>
              <a:t>▲ +56%</a:t>
            </a:r>
            <a:endParaRPr lang="en-US" sz="1050" dirty="0"/>
          </a:p>
        </p:txBody>
      </p:sp>
      <p:sp>
        <p:nvSpPr>
          <p:cNvPr id="125" name="Shape 23">
            <a:extLst>
              <a:ext uri="{FF2B5EF4-FFF2-40B4-BE49-F238E27FC236}">
                <a16:creationId xmlns:a16="http://schemas.microsoft.com/office/drawing/2014/main" id="{D04F2806-4A51-6FEC-5CF6-16F74C9D638B}"/>
              </a:ext>
            </a:extLst>
          </p:cNvPr>
          <p:cNvSpPr/>
          <p:nvPr/>
        </p:nvSpPr>
        <p:spPr>
          <a:xfrm>
            <a:off x="412304" y="2197351"/>
            <a:ext cx="885996" cy="483039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129" name="Text 24">
            <a:extLst>
              <a:ext uri="{FF2B5EF4-FFF2-40B4-BE49-F238E27FC236}">
                <a16:creationId xmlns:a16="http://schemas.microsoft.com/office/drawing/2014/main" id="{3BDD5163-17AE-1D28-F01C-ABDA8DC9EBB8}"/>
              </a:ext>
            </a:extLst>
          </p:cNvPr>
          <p:cNvSpPr/>
          <p:nvPr/>
        </p:nvSpPr>
        <p:spPr>
          <a:xfrm>
            <a:off x="402365" y="2145162"/>
            <a:ext cx="854091" cy="602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Mois-1 : 147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sz="1600" b="1" dirty="0">
                <a:solidFill>
                  <a:srgbClr val="2E7D32"/>
                </a:solidFill>
              </a:rPr>
              <a:t>▲ +8%</a:t>
            </a:r>
            <a:endParaRPr lang="en-US" sz="1050" dirty="0"/>
          </a:p>
        </p:txBody>
      </p:sp>
      <p:sp>
        <p:nvSpPr>
          <p:cNvPr id="133" name="Shape 20">
            <a:extLst>
              <a:ext uri="{FF2B5EF4-FFF2-40B4-BE49-F238E27FC236}">
                <a16:creationId xmlns:a16="http://schemas.microsoft.com/office/drawing/2014/main" id="{3C20E3B2-A725-01A6-C591-84054B297AEF}"/>
              </a:ext>
            </a:extLst>
          </p:cNvPr>
          <p:cNvSpPr/>
          <p:nvPr/>
        </p:nvSpPr>
        <p:spPr>
          <a:xfrm>
            <a:off x="508581" y="1548587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FF4E0661-10AC-9C86-1EF6-97C38553FB5B}"/>
              </a:ext>
            </a:extLst>
          </p:cNvPr>
          <p:cNvSpPr txBox="1"/>
          <p:nvPr/>
        </p:nvSpPr>
        <p:spPr>
          <a:xfrm>
            <a:off x="325192" y="3675713"/>
            <a:ext cx="3282972" cy="849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50" i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fr-FR" dirty="0"/>
              <a:t>Factures &gt; TCD x2 DN et non DN &gt; Salarié Laetitia + Aimana &gt; Poste Etat DN et non &gt; Réf externe = BI + Numéros &gt; Type Doc Nul = Vide + Contrat + Full + Garantie + Livraison + Loc + Mise a dispo + </a:t>
            </a:r>
            <a:r>
              <a:rPr lang="fr-FR" dirty="0" err="1"/>
              <a:t>Prep</a:t>
            </a:r>
            <a:r>
              <a:rPr lang="fr-FR" dirty="0"/>
              <a:t> machine + Prêt Machine</a:t>
            </a:r>
          </a:p>
        </p:txBody>
      </p:sp>
      <p:sp>
        <p:nvSpPr>
          <p:cNvPr id="104" name="Text 17">
            <a:extLst>
              <a:ext uri="{FF2B5EF4-FFF2-40B4-BE49-F238E27FC236}">
                <a16:creationId xmlns:a16="http://schemas.microsoft.com/office/drawing/2014/main" id="{AEAA2EDB-DE9D-C1A9-E443-764229451B1F}"/>
              </a:ext>
            </a:extLst>
          </p:cNvPr>
          <p:cNvSpPr/>
          <p:nvPr/>
        </p:nvSpPr>
        <p:spPr>
          <a:xfrm>
            <a:off x="597186" y="2927716"/>
            <a:ext cx="126373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59,2 k€</a:t>
            </a:r>
            <a:endParaRPr lang="en-US" sz="2400" dirty="0"/>
          </a:p>
        </p:txBody>
      </p:sp>
      <p:sp>
        <p:nvSpPr>
          <p:cNvPr id="141" name="Shape 23">
            <a:extLst>
              <a:ext uri="{FF2B5EF4-FFF2-40B4-BE49-F238E27FC236}">
                <a16:creationId xmlns:a16="http://schemas.microsoft.com/office/drawing/2014/main" id="{FF25738D-D0B1-6A2B-7E8D-5079CEEA960C}"/>
              </a:ext>
            </a:extLst>
          </p:cNvPr>
          <p:cNvSpPr/>
          <p:nvPr/>
        </p:nvSpPr>
        <p:spPr>
          <a:xfrm>
            <a:off x="2713687" y="3031554"/>
            <a:ext cx="1003172" cy="69644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106" name="Text 19">
            <a:extLst>
              <a:ext uri="{FF2B5EF4-FFF2-40B4-BE49-F238E27FC236}">
                <a16:creationId xmlns:a16="http://schemas.microsoft.com/office/drawing/2014/main" id="{0E6FEC9F-DBCB-23FB-0FEC-93153080EC43}"/>
              </a:ext>
            </a:extLst>
          </p:cNvPr>
          <p:cNvSpPr/>
          <p:nvPr/>
        </p:nvSpPr>
        <p:spPr>
          <a:xfrm>
            <a:off x="2481686" y="3054255"/>
            <a:ext cx="1508760" cy="608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79,3 k€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C0392B"/>
                </a:solidFill>
              </a:rPr>
              <a:t>▼ −25 %</a:t>
            </a:r>
            <a:endParaRPr lang="en-US" sz="1050" dirty="0"/>
          </a:p>
        </p:txBody>
      </p:sp>
      <p:sp>
        <p:nvSpPr>
          <p:cNvPr id="145" name="Shape 23">
            <a:extLst>
              <a:ext uri="{FF2B5EF4-FFF2-40B4-BE49-F238E27FC236}">
                <a16:creationId xmlns:a16="http://schemas.microsoft.com/office/drawing/2014/main" id="{FB65CCFC-7982-FB8A-2438-0447DE5F6F08}"/>
              </a:ext>
            </a:extLst>
          </p:cNvPr>
          <p:cNvSpPr/>
          <p:nvPr/>
        </p:nvSpPr>
        <p:spPr>
          <a:xfrm>
            <a:off x="1763841" y="3096885"/>
            <a:ext cx="885996" cy="483039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148" name="Text 24">
            <a:extLst>
              <a:ext uri="{FF2B5EF4-FFF2-40B4-BE49-F238E27FC236}">
                <a16:creationId xmlns:a16="http://schemas.microsoft.com/office/drawing/2014/main" id="{F76AC052-B7BD-1CE1-E9D9-D0C8C171BA8C}"/>
              </a:ext>
            </a:extLst>
          </p:cNvPr>
          <p:cNvSpPr/>
          <p:nvPr/>
        </p:nvSpPr>
        <p:spPr>
          <a:xfrm>
            <a:off x="1770108" y="3065320"/>
            <a:ext cx="854091" cy="602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Mois-1 :</a:t>
            </a:r>
            <a:endParaRPr lang="en-US" sz="1050" dirty="0"/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4D40D798-9668-8433-5115-3FDE6E1AC8B3}"/>
              </a:ext>
            </a:extLst>
          </p:cNvPr>
          <p:cNvSpPr/>
          <p:nvPr/>
        </p:nvSpPr>
        <p:spPr>
          <a:xfrm>
            <a:off x="8105224" y="4323760"/>
            <a:ext cx="3200299" cy="1473898"/>
          </a:xfrm>
          <a:prstGeom prst="roundRect">
            <a:avLst>
              <a:gd name="adj" fmla="val 3200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37" name="Shape 5">
            <a:extLst>
              <a:ext uri="{FF2B5EF4-FFF2-40B4-BE49-F238E27FC236}">
                <a16:creationId xmlns:a16="http://schemas.microsoft.com/office/drawing/2014/main" id="{E8CF90BA-6D88-AF7C-0D85-34ED94EB5129}"/>
              </a:ext>
            </a:extLst>
          </p:cNvPr>
          <p:cNvSpPr/>
          <p:nvPr/>
        </p:nvSpPr>
        <p:spPr>
          <a:xfrm>
            <a:off x="8183574" y="4488150"/>
            <a:ext cx="146304" cy="146304"/>
          </a:xfrm>
          <a:prstGeom prst="ellipse">
            <a:avLst/>
          </a:prstGeom>
          <a:solidFill>
            <a:srgbClr val="C1666B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D1B7A1D1-3494-8147-21D7-6D2C08A38413}"/>
              </a:ext>
            </a:extLst>
          </p:cNvPr>
          <p:cNvSpPr/>
          <p:nvPr/>
        </p:nvSpPr>
        <p:spPr>
          <a:xfrm>
            <a:off x="8412174" y="4369278"/>
            <a:ext cx="20908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Productivité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(fiches inter)</a:t>
            </a:r>
            <a:endParaRPr lang="en-US" sz="1300" dirty="0"/>
          </a:p>
        </p:txBody>
      </p: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2372B9B6-726B-1EF3-A941-A65355E52248}"/>
              </a:ext>
            </a:extLst>
          </p:cNvPr>
          <p:cNvGrpSpPr/>
          <p:nvPr/>
        </p:nvGrpSpPr>
        <p:grpSpPr>
          <a:xfrm>
            <a:off x="8300374" y="5086892"/>
            <a:ext cx="920142" cy="544328"/>
            <a:chOff x="2548416" y="5497637"/>
            <a:chExt cx="920142" cy="544328"/>
          </a:xfrm>
        </p:grpSpPr>
        <p:sp>
          <p:nvSpPr>
            <p:cNvPr id="40" name="Shape 8">
              <a:extLst>
                <a:ext uri="{FF2B5EF4-FFF2-40B4-BE49-F238E27FC236}">
                  <a16:creationId xmlns:a16="http://schemas.microsoft.com/office/drawing/2014/main" id="{09BA2BE4-3991-5055-BA94-F0921E9178D7}"/>
                </a:ext>
              </a:extLst>
            </p:cNvPr>
            <p:cNvSpPr/>
            <p:nvPr/>
          </p:nvSpPr>
          <p:spPr>
            <a:xfrm>
              <a:off x="2555258" y="5529901"/>
              <a:ext cx="91330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 sz="2400"/>
            </a:p>
          </p:txBody>
        </p:sp>
        <p:sp>
          <p:nvSpPr>
            <p:cNvPr id="41" name="Text 9">
              <a:extLst>
                <a:ext uri="{FF2B5EF4-FFF2-40B4-BE49-F238E27FC236}">
                  <a16:creationId xmlns:a16="http://schemas.microsoft.com/office/drawing/2014/main" id="{D20D2FD3-A6CE-D7C1-B8B3-D4CD8129EB8D}"/>
                </a:ext>
              </a:extLst>
            </p:cNvPr>
            <p:cNvSpPr/>
            <p:nvPr/>
          </p:nvSpPr>
          <p:spPr>
            <a:xfrm>
              <a:off x="2548416" y="5497637"/>
              <a:ext cx="887253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50" i="1" dirty="0" err="1">
                  <a:solidFill>
                    <a:srgbClr val="8A9B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Mois</a:t>
              </a:r>
              <a:r>
                <a:rPr lang="en-US" sz="1050" i="1" dirty="0">
                  <a:solidFill>
                    <a:srgbClr val="8A9B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-1 :</a:t>
              </a:r>
              <a:br>
                <a:rPr lang="en-US" sz="1050" i="1" dirty="0">
                  <a:solidFill>
                    <a:srgbClr val="8A9B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endParaRPr lang="en-US" sz="1600" dirty="0"/>
            </a:p>
          </p:txBody>
        </p:sp>
      </p:grpSp>
      <p:sp>
        <p:nvSpPr>
          <p:cNvPr id="42" name="Text 17">
            <a:extLst>
              <a:ext uri="{FF2B5EF4-FFF2-40B4-BE49-F238E27FC236}">
                <a16:creationId xmlns:a16="http://schemas.microsoft.com/office/drawing/2014/main" id="{F3400FE5-3AB0-1F92-9D40-E22D53332BFA}"/>
              </a:ext>
            </a:extLst>
          </p:cNvPr>
          <p:cNvSpPr/>
          <p:nvPr/>
        </p:nvSpPr>
        <p:spPr>
          <a:xfrm>
            <a:off x="8470705" y="4651216"/>
            <a:ext cx="103052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E7C86"/>
                </a:solidFill>
              </a:rPr>
              <a:t>41 %</a:t>
            </a:r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EF724247-1C4A-9B80-C0C0-C51E47FF985B}"/>
              </a:ext>
            </a:extLst>
          </p:cNvPr>
          <p:cNvGrpSpPr/>
          <p:nvPr/>
        </p:nvGrpSpPr>
        <p:grpSpPr>
          <a:xfrm>
            <a:off x="9461872" y="4709941"/>
            <a:ext cx="1738184" cy="1001040"/>
            <a:chOff x="5216308" y="1993366"/>
            <a:chExt cx="1738184" cy="1001040"/>
          </a:xfrm>
        </p:grpSpPr>
        <p:sp>
          <p:nvSpPr>
            <p:cNvPr id="44" name="Shape 23">
              <a:extLst>
                <a:ext uri="{FF2B5EF4-FFF2-40B4-BE49-F238E27FC236}">
                  <a16:creationId xmlns:a16="http://schemas.microsoft.com/office/drawing/2014/main" id="{89A1BCF0-72D6-F354-641F-A83A88CA1A2E}"/>
                </a:ext>
              </a:extLst>
            </p:cNvPr>
            <p:cNvSpPr/>
            <p:nvPr/>
          </p:nvSpPr>
          <p:spPr>
            <a:xfrm>
              <a:off x="5216308" y="1993366"/>
              <a:ext cx="1738184" cy="889075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 sz="2800"/>
            </a:p>
          </p:txBody>
        </p:sp>
        <p:grpSp>
          <p:nvGrpSpPr>
            <p:cNvPr id="45" name="Groupe 44">
              <a:extLst>
                <a:ext uri="{FF2B5EF4-FFF2-40B4-BE49-F238E27FC236}">
                  <a16:creationId xmlns:a16="http://schemas.microsoft.com/office/drawing/2014/main" id="{34B827B4-7CF5-FE8A-892F-2AEE3D8D95B4}"/>
                </a:ext>
              </a:extLst>
            </p:cNvPr>
            <p:cNvGrpSpPr/>
            <p:nvPr/>
          </p:nvGrpSpPr>
          <p:grpSpPr>
            <a:xfrm>
              <a:off x="5250138" y="1993366"/>
              <a:ext cx="1614152" cy="1001040"/>
              <a:chOff x="5250138" y="1993366"/>
              <a:chExt cx="1614152" cy="1001040"/>
            </a:xfrm>
          </p:grpSpPr>
          <p:sp>
            <p:nvSpPr>
              <p:cNvPr id="47" name="Text 24">
                <a:extLst>
                  <a:ext uri="{FF2B5EF4-FFF2-40B4-BE49-F238E27FC236}">
                    <a16:creationId xmlns:a16="http://schemas.microsoft.com/office/drawing/2014/main" id="{002DACB8-3760-A058-FBA5-AEF466340D4C}"/>
                  </a:ext>
                </a:extLst>
              </p:cNvPr>
              <p:cNvSpPr/>
              <p:nvPr/>
            </p:nvSpPr>
            <p:spPr>
              <a:xfrm>
                <a:off x="6010199" y="2392045"/>
                <a:ext cx="854091" cy="6023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ct val="95000"/>
                  </a:lnSpc>
                  <a:buNone/>
                </a:pPr>
                <a:r>
                  <a:rPr lang="en-US" sz="1050" dirty="0">
                    <a:solidFill>
                      <a:srgbClr val="8A9BA3"/>
                    </a:solidFill>
                  </a:rPr>
                  <a:t>Mois-1 :</a:t>
                </a:r>
                <a:endParaRPr lang="en-US" sz="1050" dirty="0"/>
              </a:p>
            </p:txBody>
          </p:sp>
          <p:sp>
            <p:nvSpPr>
              <p:cNvPr id="52" name="Text 22">
                <a:extLst>
                  <a:ext uri="{FF2B5EF4-FFF2-40B4-BE49-F238E27FC236}">
                    <a16:creationId xmlns:a16="http://schemas.microsoft.com/office/drawing/2014/main" id="{E0D09A5F-0BB8-6C53-423A-C4AF0C2178C9}"/>
                  </a:ext>
                </a:extLst>
              </p:cNvPr>
              <p:cNvSpPr/>
              <p:nvPr/>
            </p:nvSpPr>
            <p:spPr>
              <a:xfrm>
                <a:off x="5281902" y="2014106"/>
                <a:ext cx="880623" cy="5573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400" b="1" dirty="0">
                    <a:solidFill>
                      <a:srgbClr val="1C7293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53% EBC</a:t>
                </a:r>
                <a:endParaRPr lang="en-US" sz="1400" dirty="0"/>
              </a:p>
            </p:txBody>
          </p:sp>
          <p:sp>
            <p:nvSpPr>
              <p:cNvPr id="56" name="Text 22">
                <a:extLst>
                  <a:ext uri="{FF2B5EF4-FFF2-40B4-BE49-F238E27FC236}">
                    <a16:creationId xmlns:a16="http://schemas.microsoft.com/office/drawing/2014/main" id="{F6CB40C5-5677-3930-2ED0-A3EE8C20E311}"/>
                  </a:ext>
                </a:extLst>
              </p:cNvPr>
              <p:cNvSpPr/>
              <p:nvPr/>
            </p:nvSpPr>
            <p:spPr>
              <a:xfrm>
                <a:off x="5250138" y="2387513"/>
                <a:ext cx="863659" cy="5573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400" b="1" dirty="0">
                    <a:solidFill>
                      <a:srgbClr val="1C7293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28% SAV</a:t>
                </a:r>
                <a:endParaRPr lang="en-US" sz="1400" dirty="0"/>
              </a:p>
            </p:txBody>
          </p:sp>
          <p:sp>
            <p:nvSpPr>
              <p:cNvPr id="58" name="Text 24">
                <a:extLst>
                  <a:ext uri="{FF2B5EF4-FFF2-40B4-BE49-F238E27FC236}">
                    <a16:creationId xmlns:a16="http://schemas.microsoft.com/office/drawing/2014/main" id="{AC252112-0F0D-D648-7247-C6C922B67BBE}"/>
                  </a:ext>
                </a:extLst>
              </p:cNvPr>
              <p:cNvSpPr/>
              <p:nvPr/>
            </p:nvSpPr>
            <p:spPr>
              <a:xfrm>
                <a:off x="5999622" y="1993366"/>
                <a:ext cx="854091" cy="6023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ct val="95000"/>
                  </a:lnSpc>
                  <a:buNone/>
                </a:pPr>
                <a:r>
                  <a:rPr lang="en-US" sz="1050" dirty="0">
                    <a:solidFill>
                      <a:srgbClr val="8A9BA3"/>
                    </a:solidFill>
                  </a:rPr>
                  <a:t>Mois-1 :</a:t>
                </a:r>
                <a:endParaRPr lang="en-US" sz="1050" dirty="0"/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2A6F4E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25880" y="420624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Achat / </a:t>
            </a:r>
            <a:r>
              <a:rPr lang="en-US" sz="3200" b="1" dirty="0" err="1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44168" y="9144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— Juillet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7" name="Shape 5"/>
          <p:cNvSpPr/>
          <p:nvPr/>
        </p:nvSpPr>
        <p:spPr>
          <a:xfrm>
            <a:off x="731520" y="1773936"/>
            <a:ext cx="146304" cy="146304"/>
          </a:xfrm>
          <a:prstGeom prst="ellipse">
            <a:avLst/>
          </a:prstGeom>
          <a:solidFill>
            <a:srgbClr val="2A6F4E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8" name="Text 6"/>
          <p:cNvSpPr/>
          <p:nvPr/>
        </p:nvSpPr>
        <p:spPr>
          <a:xfrm>
            <a:off x="960120" y="16733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Valorisation du stock (Par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112264"/>
            <a:ext cx="34564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028536" y="2356392"/>
            <a:ext cx="1640744" cy="661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/>
          </a:p>
        </p:txBody>
      </p:sp>
      <p:sp>
        <p:nvSpPr>
          <p:cNvPr id="11" name="Text 9"/>
          <p:cNvSpPr/>
          <p:nvPr/>
        </p:nvSpPr>
        <p:spPr>
          <a:xfrm>
            <a:off x="4105656" y="2505456"/>
            <a:ext cx="1563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Mois-1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344728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/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Depot + Showroom /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Accessoires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Manuel +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Local +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Brosserie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Disque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d’entretien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Matériel Manuel + Papier +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59266B79-C43D-98A0-AAC4-CC53BA089B0A}"/>
              </a:ext>
            </a:extLst>
          </p:cNvPr>
          <p:cNvSpPr/>
          <p:nvPr/>
        </p:nvSpPr>
        <p:spPr>
          <a:xfrm>
            <a:off x="960120" y="2356392"/>
            <a:ext cx="126373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749 k€</a:t>
            </a:r>
          </a:p>
        </p:txBody>
      </p:sp>
      <p:graphicFrame>
        <p:nvGraphicFramePr>
          <p:cNvPr id="27" name="Tableau 26">
            <a:extLst>
              <a:ext uri="{FF2B5EF4-FFF2-40B4-BE49-F238E27FC236}">
                <a16:creationId xmlns:a16="http://schemas.microsoft.com/office/drawing/2014/main" id="{917EA9C5-D578-5FEA-F14B-D47468219B9C}"/>
              </a:ext>
            </a:extLst>
          </p:cNvPr>
          <p:cNvGraphicFramePr>
            <a:graphicFrameLocks noGrp="1"/>
          </p:cNvGraphicFramePr>
          <p:nvPr/>
        </p:nvGraphicFramePr>
        <p:xfrm>
          <a:off x="6778979" y="249303"/>
          <a:ext cx="4663213" cy="3934963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923209">
                  <a:extLst>
                    <a:ext uri="{9D8B030D-6E8A-4147-A177-3AD203B41FA5}">
                      <a16:colId xmlns:a16="http://schemas.microsoft.com/office/drawing/2014/main" val="1003669027"/>
                    </a:ext>
                  </a:extLst>
                </a:gridCol>
                <a:gridCol w="804682">
                  <a:extLst>
                    <a:ext uri="{9D8B030D-6E8A-4147-A177-3AD203B41FA5}">
                      <a16:colId xmlns:a16="http://schemas.microsoft.com/office/drawing/2014/main" val="189703816"/>
                    </a:ext>
                  </a:extLst>
                </a:gridCol>
                <a:gridCol w="1413864">
                  <a:extLst>
                    <a:ext uri="{9D8B030D-6E8A-4147-A177-3AD203B41FA5}">
                      <a16:colId xmlns:a16="http://schemas.microsoft.com/office/drawing/2014/main" val="2090279100"/>
                    </a:ext>
                  </a:extLst>
                </a:gridCol>
                <a:gridCol w="521458">
                  <a:extLst>
                    <a:ext uri="{9D8B030D-6E8A-4147-A177-3AD203B41FA5}">
                      <a16:colId xmlns:a16="http://schemas.microsoft.com/office/drawing/2014/main" val="1425829101"/>
                    </a:ext>
                  </a:extLst>
                </a:gridCol>
              </a:tblGrid>
              <a:tr h="3256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Valo / FAMILLES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DEPOT (k€)</a:t>
                      </a:r>
                      <a:endParaRPr lang="fr-FR" sz="1400" b="1" i="0" u="none" strike="noStrike" dirty="0">
                        <a:solidFill>
                          <a:srgbClr val="065A82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SHOWROOM (k€)</a:t>
                      </a:r>
                      <a:endParaRPr lang="fr-FR" sz="1400" b="1" i="0" u="none" strike="noStrike" dirty="0">
                        <a:solidFill>
                          <a:srgbClr val="065A82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TOT (k€)</a:t>
                      </a:r>
                      <a:endParaRPr lang="fr-FR" sz="1400" b="1" i="0" u="none" strike="noStrike" dirty="0">
                        <a:solidFill>
                          <a:srgbClr val="065A82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0367888"/>
                  </a:ext>
                </a:extLst>
              </a:tr>
              <a:tr h="6105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Machine de nettoyage</a:t>
                      </a:r>
                      <a:endParaRPr lang="fr-FR" sz="1400" b="1" i="0" u="none" strike="noStrike" dirty="0">
                        <a:solidFill>
                          <a:srgbClr val="065A82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75,5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0,8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209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6300375"/>
                  </a:ext>
                </a:extLst>
              </a:tr>
              <a:tr h="6105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Produits de Nettoyage</a:t>
                      </a:r>
                      <a:endParaRPr lang="fr-FR" sz="1400" b="1" i="0" u="none" strike="noStrike" dirty="0">
                        <a:solidFill>
                          <a:srgbClr val="065A82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7,0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0,0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220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7391207"/>
                  </a:ext>
                </a:extLst>
              </a:tr>
              <a:tr h="3256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Papier</a:t>
                      </a:r>
                      <a:endParaRPr lang="fr-FR" sz="1400" b="1" i="0" u="none" strike="noStrike" dirty="0">
                        <a:solidFill>
                          <a:srgbClr val="065A82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5A82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6,9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5A82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1,1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137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9839779"/>
                  </a:ext>
                </a:extLst>
              </a:tr>
              <a:tr h="3256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Matériel Manuel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5A82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3,1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5A82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0,1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5A82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409520"/>
                  </a:ext>
                </a:extLst>
              </a:tr>
              <a:tr h="3256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Accessoires Manuel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5A82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163,6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5A82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45,9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5A82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0137925"/>
                  </a:ext>
                </a:extLst>
              </a:tr>
              <a:tr h="3256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Brosserie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5A82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81,9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5A82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5,9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5A82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8,0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4926384"/>
                  </a:ext>
                </a:extLst>
              </a:tr>
              <a:tr h="3256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Achats Local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5A82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135,6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5A82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1,5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5A82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7,0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8493327"/>
                  </a:ext>
                </a:extLst>
              </a:tr>
              <a:tr h="3256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Disque d'Entretien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5A82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210,9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5A82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9,0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5A82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3,2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4641906"/>
                  </a:ext>
                </a:extLst>
              </a:tr>
              <a:tr h="3256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5A82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685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5A82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5A82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749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0060081"/>
                  </a:ext>
                </a:extLst>
              </a:tr>
            </a:tbl>
          </a:graphicData>
        </a:graphic>
      </p:graphicFrame>
      <p:sp>
        <p:nvSpPr>
          <p:cNvPr id="14" name="Shape 4">
            <a:extLst>
              <a:ext uri="{FF2B5EF4-FFF2-40B4-BE49-F238E27FC236}">
                <a16:creationId xmlns:a16="http://schemas.microsoft.com/office/drawing/2014/main" id="{61A6422C-A83B-F091-72DF-F193D91A884D}"/>
              </a:ext>
            </a:extLst>
          </p:cNvPr>
          <p:cNvSpPr/>
          <p:nvPr/>
        </p:nvSpPr>
        <p:spPr>
          <a:xfrm>
            <a:off x="502920" y="4059936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3F5E79D8-C952-0F49-7964-934097FA7421}"/>
              </a:ext>
            </a:extLst>
          </p:cNvPr>
          <p:cNvSpPr/>
          <p:nvPr/>
        </p:nvSpPr>
        <p:spPr>
          <a:xfrm>
            <a:off x="731520" y="4325112"/>
            <a:ext cx="146304" cy="146304"/>
          </a:xfrm>
          <a:prstGeom prst="ellipse">
            <a:avLst/>
          </a:prstGeom>
          <a:solidFill>
            <a:srgbClr val="2A6F4E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02B9A903-A4F1-76B4-76BD-B67125641E3C}"/>
              </a:ext>
            </a:extLst>
          </p:cNvPr>
          <p:cNvSpPr/>
          <p:nvPr/>
        </p:nvSpPr>
        <p:spPr>
          <a:xfrm>
            <a:off x="960120" y="42245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à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épuisement</a:t>
            </a:r>
            <a:endParaRPr lang="en-US" sz="13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E5BDFBDA-E770-FAFC-445B-DED38DD83619}"/>
              </a:ext>
            </a:extLst>
          </p:cNvPr>
          <p:cNvSpPr/>
          <p:nvPr/>
        </p:nvSpPr>
        <p:spPr>
          <a:xfrm>
            <a:off x="731520" y="4663440"/>
            <a:ext cx="34564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5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62A2CCC8-D049-5339-954C-A89622E6C2D7}"/>
              </a:ext>
            </a:extLst>
          </p:cNvPr>
          <p:cNvSpPr/>
          <p:nvPr/>
        </p:nvSpPr>
        <p:spPr>
          <a:xfrm>
            <a:off x="749808" y="5865847"/>
            <a:ext cx="4937760" cy="352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Articles / Dispo = à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épuisement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ventilation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Ventes 2026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</a:t>
            </a:r>
            <a:endParaRPr lang="en-US" sz="1050" dirty="0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9EAC97E0-FF05-C408-7450-FDF865EBC0C4}"/>
              </a:ext>
            </a:extLst>
          </p:cNvPr>
          <p:cNvSpPr/>
          <p:nvPr/>
        </p:nvSpPr>
        <p:spPr>
          <a:xfrm>
            <a:off x="1426464" y="4818888"/>
            <a:ext cx="7973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213 u</a:t>
            </a:r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EE2CB505-9D4F-583F-BD76-EA61FCC54D34}"/>
              </a:ext>
            </a:extLst>
          </p:cNvPr>
          <p:cNvSpPr/>
          <p:nvPr/>
        </p:nvSpPr>
        <p:spPr>
          <a:xfrm>
            <a:off x="2543005" y="4595980"/>
            <a:ext cx="1177398" cy="557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1C7293"/>
                </a:solidFill>
                <a:latin typeface="Cambria" pitchFamily="34" charset="0"/>
                <a:ea typeface="Cambria" pitchFamily="34" charset="-122"/>
              </a:rPr>
              <a:t>Dont</a:t>
            </a:r>
            <a:r>
              <a:rPr lang="en-US" sz="12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</a:rPr>
              <a:t> Ventes 2026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</a:rPr>
              <a:t>31%</a:t>
            </a:r>
            <a:endParaRPr lang="en-US" sz="1200" dirty="0"/>
          </a:p>
        </p:txBody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27916381-A7C4-CF0B-56C7-DFD9A508FB82}"/>
              </a:ext>
            </a:extLst>
          </p:cNvPr>
          <p:cNvSpPr/>
          <p:nvPr/>
        </p:nvSpPr>
        <p:spPr>
          <a:xfrm>
            <a:off x="2543004" y="5180047"/>
            <a:ext cx="1485532" cy="557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1C7293"/>
                </a:solidFill>
                <a:latin typeface="Cambria" pitchFamily="34" charset="0"/>
                <a:ea typeface="Cambria" pitchFamily="34" charset="-122"/>
              </a:rPr>
              <a:t>Dont</a:t>
            </a:r>
            <a:r>
              <a:rPr lang="en-US" sz="12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1200" dirty="0" err="1">
                <a:solidFill>
                  <a:srgbClr val="1C7293"/>
                </a:solidFill>
                <a:latin typeface="Cambria" pitchFamily="34" charset="0"/>
                <a:ea typeface="Cambria" pitchFamily="34" charset="-122"/>
              </a:rPr>
              <a:t>dispo</a:t>
            </a:r>
            <a:r>
              <a:rPr lang="en-US" sz="12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</a:rPr>
              <a:t> = </a:t>
            </a:r>
            <a:r>
              <a:rPr lang="en-US" sz="1200" dirty="0" err="1">
                <a:solidFill>
                  <a:srgbClr val="1C7293"/>
                </a:solidFill>
                <a:latin typeface="Cambria" pitchFamily="34" charset="0"/>
                <a:ea typeface="Cambria" pitchFamily="34" charset="-122"/>
              </a:rPr>
              <a:t>stockés</a:t>
            </a:r>
            <a:br>
              <a:rPr lang="en-US" sz="12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</a:rPr>
            </a:br>
            <a:r>
              <a:rPr lang="en-US" sz="12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</a:rPr>
              <a:t>70%</a:t>
            </a:r>
            <a:endParaRPr lang="en-US" sz="120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78F60EBA-A6AF-6D61-F1F4-94D8A54F9F56}"/>
              </a:ext>
            </a:extLst>
          </p:cNvPr>
          <p:cNvSpPr/>
          <p:nvPr/>
        </p:nvSpPr>
        <p:spPr>
          <a:xfrm>
            <a:off x="4046824" y="4822741"/>
            <a:ext cx="1640744" cy="661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27553DDD-F805-9B22-206E-E7BA35AB6E84}"/>
              </a:ext>
            </a:extLst>
          </p:cNvPr>
          <p:cNvSpPr/>
          <p:nvPr/>
        </p:nvSpPr>
        <p:spPr>
          <a:xfrm>
            <a:off x="4027329" y="4910644"/>
            <a:ext cx="1563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Mois-1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2142</Words>
  <Application>Microsoft Office PowerPoint</Application>
  <PresentationFormat>Grand écran</PresentationFormat>
  <Paragraphs>518</Paragraphs>
  <Slides>11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11</vt:i4>
      </vt:variant>
    </vt:vector>
  </HeadingPairs>
  <TitlesOfParts>
    <vt:vector size="20" baseType="lpstr">
      <vt:lpstr>Aptos</vt:lpstr>
      <vt:lpstr>Aptos Display</vt:lpstr>
      <vt:lpstr>Aptos Narrow</vt:lpstr>
      <vt:lpstr>Arial</vt:lpstr>
      <vt:lpstr>Calibri</vt:lpstr>
      <vt:lpstr>Calibri  </vt:lpstr>
      <vt:lpstr>Cambria</vt:lpstr>
      <vt:lpstr>Thème Office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Antoine Bourricat</dc:creator>
  <cp:lastModifiedBy>Antoine Bourricat</cp:lastModifiedBy>
  <cp:revision>1</cp:revision>
  <dcterms:created xsi:type="dcterms:W3CDTF">2026-09-23T08:39:38Z</dcterms:created>
  <dcterms:modified xsi:type="dcterms:W3CDTF">2026-09-23T08:41:42Z</dcterms:modified>
</cp:coreProperties>
</file>